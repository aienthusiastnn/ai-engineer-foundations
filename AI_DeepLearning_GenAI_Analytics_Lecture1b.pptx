
<file path=[Content_Types].xml><?xml version="1.0" encoding="utf-8"?>
<Types xmlns="http://schemas.openxmlformats.org/package/2006/content-types">
  <Default Extension="bin" ContentType="application/vnd.openxmlformats-officedocument.oleObject"/>
  <Default Extension="jpeg" ContentType="image/jpeg"/>
  <Default Extension="rels" ContentType="application/vnd.openxmlformats-package.relationships+xml"/>
  <Default Extension="xml" ContentType="application/xml"/>
  <Default Extension="png" ContentType="image/png"/>
  <Default Extension="wmf" ContentType="image/x-wmf"/>
  <Default Extension="xlsx" ContentType="application/vnd.openxmlformats-officedocument.spreadsheetml.sheet"/>
  <Override PartName="/ppt/presentation.xml" ContentType="application/vnd.openxmlformats-officedocument.presentationml.presentation.main+xml"/>
  <Override PartName="/ppt/notesSlides/notesSlide10.xml" ContentType="application/vnd.openxmlformats-officedocument.presentationml.notesSlide+xml"/>
  <Override PartName="/ppt/notesSlides/notesSlide9.xml" ContentType="application/vnd.openxmlformats-officedocument.presentationml.notesSlide+xml"/>
  <Override PartName="/ppt/slides/slide10.xml" ContentType="application/vnd.openxmlformats-officedocument.presentationml.slide+xml"/>
  <Override PartName="/ppt/slides/slide9.xml" ContentType="application/vnd.openxmlformats-officedocument.presentationml.slide+xml"/>
  <Override PartName="/ppt/charts/chart1.xml" ContentType="application/vnd.openxmlformats-officedocument.drawingml.chart+xml"/>
  <Override PartName="/ppt/slideLayouts/slideLayout5.xml" ContentType="application/vnd.openxmlformats-officedocument.presentationml.slideLayout+xml"/>
  <Override PartName="/ppt/tableStyles.xml" ContentType="application/vnd.openxmlformats-officedocument.presentationml.tableStyles+xml"/>
  <Override PartName="/ppt/presProps.xml" ContentType="application/vnd.openxmlformats-officedocument.presentationml.presProps+xml"/>
  <Override PartName="/ppt/notesSlides/notesSlide15.xml" ContentType="application/vnd.openxmlformats-officedocument.presentationml.notesSlide+xml"/>
  <Override PartName="/ppt/slides/slide15.xml" ContentType="application/vnd.openxmlformats-officedocument.presentationml.slide+xml"/>
  <Override PartName="/docProps/app.xml" ContentType="application/vnd.openxmlformats-officedocument.extended-properties+xml"/>
  <Override PartName="/ppt/viewProps.xml" ContentType="application/vnd.openxmlformats-officedocument.presentationml.viewProps+xml"/>
  <Override PartName="/docProps/core.xml" ContentType="application/vnd.openxmlformats-package.core-properties+xml"/>
  <Override PartName="/ppt/theme/theme1.xml" ContentType="application/vnd.openxmlformats-officedocument.theme+xml"/>
  <Override PartName="/ppt/notesSlides/notesSlide23.xml" ContentType="application/vnd.openxmlformats-officedocument.presentationml.notes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8.xml" ContentType="application/vnd.openxmlformats-officedocument.presentationml.notesSlide+xml"/>
  <Override PartName="/ppt/notesSlides/notesSlide1.xml" ContentType="application/vnd.openxmlformats-officedocument.presentationml.notesSlide+xml"/>
  <Override PartName="/ppt/slides/slide18.xml" ContentType="application/vnd.openxmlformats-officedocument.presentationml.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11.xml" ContentType="application/vnd.openxmlformats-officedocument.presentationml.notesSlide+xml"/>
  <Override PartName="/ppt/notesSlides/notesSlide8.xml" ContentType="application/vnd.openxmlformats-officedocument.presentationml.notesSlide+xml"/>
  <Override PartName="/ppt/slides/slide11.xml" ContentType="application/vnd.openxmlformats-officedocument.presentationml.slide+xml"/>
  <Override PartName="/ppt/slides/slide8.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Override PartName="/ppt/notesSlides/notesSlide13.xml" ContentType="application/vnd.openxmlformats-officedocument.presentationml.notesSlide+xml"/>
  <Override PartName="/ppt/slides/slide13.xml" ContentType="application/vnd.openxmlformats-officedocument.presentationml.slide+xml"/>
  <Override PartName="/ppt/notesSlides/notesSlide14.xml" ContentType="application/vnd.openxmlformats-officedocument.presentationml.notesSlide+xml"/>
  <Override PartName="/ppt/slides/slide14.xml" ContentType="application/vnd.openxmlformats-officedocument.presentationml.slide+xml"/>
  <Override PartName="/ppt/notesSlides/notesSlide16.xml" ContentType="application/vnd.openxmlformats-officedocument.presentationml.notesSlide+xml"/>
  <Override PartName="/ppt/slides/slide16.xml" ContentType="application/vnd.openxmlformats-officedocument.presentationml.slide+xml"/>
  <Override PartName="/ppt/notesSlides/notesSlide17.xml" ContentType="application/vnd.openxmlformats-officedocument.presentationml.notesSlide+xml"/>
  <Override PartName="/ppt/slides/slide17.xml" ContentType="application/vnd.openxmlformats-officedocument.presentationml.slide+xml"/>
  <Override PartName="/ppt/notesSlides/notesSlide19.xml" ContentType="application/vnd.openxmlformats-officedocument.presentationml.notesSlide+xml"/>
  <Override PartName="/ppt/slides/slide19.xml" ContentType="application/vnd.openxmlformats-officedocument.presentationml.slide+xml"/>
  <Override PartName="/ppt/notesSlides/notesSlide20.xml" ContentType="application/vnd.openxmlformats-officedocument.presentationml.notesSlide+xml"/>
  <Override PartName="/ppt/slides/slide20.xml" ContentType="application/vnd.openxmlformats-officedocument.presentationml.slide+xml"/>
  <Override PartName="/ppt/notesSlides/notesSlide21.xml" ContentType="application/vnd.openxmlformats-officedocument.presentationml.notesSlide+xml"/>
  <Override PartName="/ppt/slides/slide21.xml" ContentType="application/vnd.openxmlformats-officedocument.presentationml.slide+xml"/>
  <Override PartName="/ppt/notesSlides/notesSlide22.xml" ContentType="application/vnd.openxmlformats-officedocument.presentationml.notesSlide+xml"/>
  <Override PartName="/ppt/slides/slide22.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showSpecialPlsOnTitleSld="0">
  <p:sldMasterIdLst>
    <p:sldMasterId id="2147483648" r:id="rId1"/>
  </p:sldMasterIdLst>
  <p:notesMasterIdLst>
    <p:notesMasterId r:id="rId29"/>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Lst>
  <p:sldSz cx="9144000" cy="5143500"/>
  <p:notesSz cx="5143500" cy="9144000"/>
  <p:defaultTextStyle>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snapToObjects="1">
      <p:cViewPr varScale="1">
        <p:scale>
          <a:sx n="136" d="100"/>
          <a:sy n="136" d="100"/>
        </p:scale>
        <p:origin x="216" y="312"/>
      </p:cViewPr>
      <p:guideLst>
        <p:guide pos="2880"/>
        <p:guide pos="1620" orient="horz"/>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notesMaster" Target="notesMasters/notesMaster1.xml"/><Relationship Id="rId30" Type="http://schemas.openxmlformats.org/officeDocument/2006/relationships/presProps" Target="presProps.xml" /><Relationship Id="rId31" Type="http://schemas.openxmlformats.org/officeDocument/2006/relationships/tableStyles" Target="tableStyles.xml" /><Relationship Id="rId32" Type="http://schemas.openxmlformats.org/officeDocument/2006/relationships/viewProps" Target="viewProps.xml" /></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 /></Relationships>
</file>

<file path=ppt/charts/chart1.xml><?xml version="1.0" encoding="utf-8"?>
<c:chartSpace xmlns:c="http://schemas.openxmlformats.org/drawingml/2006/chart" xmlns:a="http://schemas.openxmlformats.org/drawingml/2006/main" xmlns:r="http://schemas.openxmlformats.org/officeDocument/2006/relationships" xmlns:mc="http://schemas.openxmlformats.org/markup-compatibility/2006" xmlns:c15="http://schemas.microsoft.com/office/drawing/2012/chart" xmlns:c14="http://schemas.microsoft.com/office/drawing/2007/8/2/chart" xmlns:c16r2="http://schemas.microsoft.com/office/drawing/2015/06/chart">
  <c:date1904 val="0"/>
  <c:roundedCorners val="1"/>
  <mc:AlternateContent>
    <mc:Choice Requires="c14">
      <c14:style val="102"/>
    </mc:Choice>
    <mc:Fallback>
      <c:style val="2"/>
    </mc:Fallback>
  </mc:AlternateContent>
  <c:chart>
    <c:title>
      <c:tx>
        <c:rich>
          <a:bodyPr/>
          <a:lstStyle/>
          <a:p>
            <a:pPr>
              <a:defRPr sz="1200" b="0" i="0" u="none" strike="noStrike">
                <a:solidFill>
                  <a:srgbClr val="0F172A"/>
                </a:solidFill>
                <a:latin typeface="+mn-lt"/>
              </a:defRPr>
            </a:pPr>
            <a:r>
              <a:rPr sz="1200" b="0" i="0" u="none" strike="noStrike">
                <a:solidFill>
                  <a:srgbClr val="0F172A"/>
                </a:solidFill>
                <a:latin typeface="+mn-lt"/>
              </a:rPr>
              <a:t>Loss falls as training repeats (illustrative)</a:t>
            </a:r>
            <a:endParaRPr/>
          </a:p>
        </c:rich>
      </c:tx>
      <c:layout/>
      <c:overlay val="0"/>
    </c:title>
    <c:autoTitleDeleted val="0"/>
    <c:plotArea>
      <c:layout/>
      <c:lineChart>
        <c:varyColors val="0"/>
        <c:ser>
          <c:idx val="0"/>
          <c:order val="0"/>
          <c:tx>
            <c:strRef>
              <c:f>Sheet1!$B$1</c:f>
              <c:strCache>
                <c:ptCount val="1"/>
                <c:pt idx="0">
                  <c:v>Loss</c:v>
                </c:pt>
              </c:strCache>
            </c:strRef>
          </c:tx>
          <c:spPr bwMode="auto">
            <a:prstGeom prst="rect">
              <a:avLst/>
            </a:prstGeom>
            <a:solidFill>
              <a:srgbClr val="D93C41"/>
            </a:solidFill>
            <a:ln w="38100" cap="flat">
              <a:solidFill>
                <a:srgbClr val="D93C41"/>
              </a:solidFill>
              <a:prstDash val="solid"/>
              <a:round/>
            </a:ln>
            <a:effectLst/>
          </c:spPr>
          <c:marker>
            <c:symbol val="circle"/>
            <c:size val="7"/>
            <c:spPr bwMode="auto">
              <a:prstGeom prst="rect">
                <a:avLst/>
              </a:prstGeom>
              <a:solidFill>
                <a:srgbClr val="D93C41"/>
              </a:solidFill>
              <a:ln w="9525" cap="flat">
                <a:solidFill>
                  <a:srgbClr val="D93C41"/>
                </a:solidFill>
                <a:prstDash val="solid"/>
                <a:round/>
              </a:ln>
              <a:effectLst/>
            </c:spPr>
          </c:marker>
          <c:dLbls>
            <c:numFmt formatCode="#,##0" sourceLinked="0"/>
            <c:showBubbleSize val="0"/>
            <c:showCatName val="0"/>
            <c:showLeaderLines val="0"/>
            <c:showLegendKey val="0"/>
            <c:showPercent val="0"/>
            <c:showSerName val="0"/>
            <c:showVal val="0"/>
            <c:txPr>
              <a:bodyPr/>
              <a:lstStyle/>
              <a:p>
                <a:pPr>
                  <a:defRPr sz="1200" b="0" i="0" u="none" strike="noStrike">
                    <a:solidFill>
                      <a:srgbClr val="000000"/>
                    </a:solidFill>
                    <a:latin typeface="Arial"/>
                  </a:defRPr>
                </a:pPr>
                <a:endParaRPr/>
              </a:p>
            </c:txPr>
          </c:dLbls>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Sheet1!$B$2:$B$11</c:f>
              <c:numCache>
                <c:formatCode>General</c:formatCode>
                <c:ptCount val="10"/>
                <c:pt idx="0">
                  <c:v>2.3</c:v>
                </c:pt>
                <c:pt idx="1">
                  <c:v>1.6</c:v>
                </c:pt>
                <c:pt idx="2">
                  <c:v>1.1</c:v>
                </c:pt>
                <c:pt idx="3">
                  <c:v>0.8</c:v>
                </c:pt>
                <c:pt idx="4">
                  <c:v>0.6</c:v>
                </c:pt>
                <c:pt idx="5">
                  <c:v>0.45</c:v>
                </c:pt>
                <c:pt idx="6">
                  <c:v>0.35</c:v>
                </c:pt>
                <c:pt idx="7">
                  <c:v>0.3</c:v>
                </c:pt>
                <c:pt idx="8">
                  <c:v>0.27</c:v>
                </c:pt>
                <c:pt idx="9">
                  <c:v>0.25</c:v>
                </c:pt>
              </c:numCache>
            </c:numRef>
          </c:val>
          <c:smooth val="0"/>
        </c:ser>
        <c:dLbls>
          <c:numFmt formatCode="#,##0" sourceLinked="0"/>
          <c:showBubbleSize val="0"/>
          <c:showCatName val="0"/>
          <c:showLeaderLines val="0"/>
          <c:showLegendKey val="0"/>
          <c:showPercent val="0"/>
          <c:showSerName val="0"/>
          <c:showVal val="0"/>
          <c:txPr>
            <a:bodyPr/>
            <a:lstStyle/>
            <a:p>
              <a:pPr>
                <a:defRPr sz="1200" b="0" i="0" u="none" strike="noStrike">
                  <a:solidFill>
                    <a:srgbClr val="000000"/>
                  </a:solidFill>
                  <a:latin typeface="Arial"/>
                </a:defRPr>
              </a:pPr>
              <a:endParaRPr/>
            </a:p>
          </c:txPr>
        </c:dLbls>
        <c:marker val="1"/>
        <c:smooth val="0"/>
        <c:axId val="2094734554"/>
        <c:axId val="2094734552"/>
      </c:lineChart>
      <c:catAx>
        <c:axId val="2094734554"/>
        <c:scaling>
          <c:orientation val="minMax"/>
        </c:scaling>
        <c:delete val="0"/>
        <c:axPos val="b"/>
        <c:title>
          <c:tx>
            <c:rich>
              <a:bodyPr/>
              <a:lstStyle/>
              <a:p>
                <a:pPr>
                  <a:defRPr sz="1100" b="0" i="0" u="none" strike="noStrike">
                    <a:solidFill>
                      <a:srgbClr val="64748B"/>
                    </a:solidFill>
                    <a:latin typeface="+mn-lt"/>
                  </a:defRPr>
                </a:pPr>
                <a:r>
                  <a:rPr sz="1100" b="0" i="0" u="none" strike="noStrike">
                    <a:solidFill>
                      <a:srgbClr val="64748B"/>
                    </a:solidFill>
                    <a:latin typeface="+mn-lt"/>
                  </a:rPr>
                  <a:t>Training step</a:t>
                </a:r>
                <a:endParaRPr/>
              </a:p>
            </c:rich>
          </c:tx>
          <c:layout/>
          <c:overlay val="0"/>
        </c:title>
        <c:numFmt formatCode="General" sourceLinked="1"/>
        <c:majorTickMark val="out"/>
        <c:minorTickMark val="none"/>
        <c:tickLblPos val="low"/>
        <c:spPr bwMode="auto">
          <a:prstGeom prst="rect">
            <a:avLst/>
          </a:prstGeom>
          <a:ln w="12700" cap="flat">
            <a:solidFill>
              <a:srgbClr val="888888"/>
            </a:solidFill>
            <a:prstDash val="solid"/>
            <a:round/>
          </a:ln>
        </c:spPr>
        <c:txPr>
          <a:bodyPr/>
          <a:lstStyle/>
          <a:p>
            <a:pPr>
              <a:defRPr sz="1100" b="0" i="0" u="none" strike="noStrike">
                <a:solidFill>
                  <a:srgbClr val="64748B"/>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bwMode="auto">
            <a:prstGeom prst="rect">
              <a:avLst/>
            </a:prstGeom>
            <a:ln w="6350" cap="flat">
              <a:solidFill>
                <a:srgbClr val="E2E8F0"/>
              </a:solidFill>
              <a:prstDash val="solid"/>
              <a:round/>
            </a:ln>
          </c:spPr>
        </c:majorGridlines>
        <c:numFmt formatCode="General" sourceLinked="0"/>
        <c:majorTickMark val="out"/>
        <c:minorTickMark val="none"/>
        <c:tickLblPos val="nextTo"/>
        <c:spPr bwMode="auto">
          <a:prstGeom prst="rect">
            <a:avLst/>
          </a:prstGeom>
          <a:ln w="12700" cap="flat">
            <a:solidFill>
              <a:srgbClr val="888888"/>
            </a:solidFill>
            <a:prstDash val="solid"/>
            <a:round/>
          </a:ln>
        </c:spPr>
        <c:txPr>
          <a:bodyPr/>
          <a:lstStyle/>
          <a:p>
            <a:pPr>
              <a:defRPr sz="1100" b="0" i="0" u="none" strike="noStrike">
                <a:solidFill>
                  <a:srgbClr val="64748B"/>
                </a:solidFill>
                <a:latin typeface="+mn-lt"/>
              </a:defRPr>
            </a:pPr>
            <a:endParaRPr lang="en-US"/>
          </a:p>
        </c:txPr>
        <c:crossAx val="2094734554"/>
        <c:crosses val="autoZero"/>
        <c:crossBetween val="between"/>
      </c:valAx>
      <c:spPr bwMode="auto">
        <a:prstGeom prst="rect">
          <a:avLst/>
        </a:prstGeom>
        <a:noFill/>
        <a:ln>
          <a:noFill/>
        </a:ln>
        <a:effectLst/>
      </c:spPr>
    </c:plotArea>
    <c:plotVisOnly val="1"/>
    <c:dispBlanksAs val="span"/>
    <c:showDLblsOverMax val="0"/>
  </c:chart>
  <c:spPr bwMode="auto">
    <a:xfrm rot="0">
      <a:off x="457200" y="2788920"/>
      <a:ext cx="4754880" cy="1965960"/>
    </a:xfrm>
    <a:prstGeom prst="rect">
      <a:avLst/>
    </a:prstGeom>
    <a:noFill/>
    <a:ln>
      <a:noFill/>
    </a:ln>
    <a:effectLst/>
  </c:spPr>
  <c:externalData r:id="rId1">
    <c:autoUpdate val="1"/>
  </c:externalData>
</c:chartSpace>
</file>

<file path=ppt/embeddings/_rels/Microsoft_Excel_Worksheet1.xlsx.rels><?xml version="1.0" encoding="UTF-8" standalone="yes"?><Relationships xmlns="http://schemas.openxmlformats.org/package/2006/relationships"></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816238201"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388869708"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5282F153-3F37-0F45-9E97-73ACFA13230C}" type="datetimeFigureOut">
              <a:rPr lang="en-US"/>
              <a:t>7/23/19</a:t>
            </a:fld>
            <a:endParaRPr lang="en-US"/>
          </a:p>
        </p:txBody>
      </p:sp>
      <p:sp>
        <p:nvSpPr>
          <p:cNvPr id="1001067729"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227551992"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190092520"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1972567551"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hf dt="0" ftr="0" hdr="0" sldNum="1"/>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11998112" name="Slide Image Placeholder 1"/>
          <p:cNvSpPr>
            <a:spLocks noChangeAspect="1" noGrp="1" noRot="1"/>
          </p:cNvSpPr>
          <p:nvPr>
            <p:ph type="sldImg"/>
          </p:nvPr>
        </p:nvSpPr>
        <p:spPr bwMode="auto"/>
      </p:sp>
      <p:sp>
        <p:nvSpPr>
          <p:cNvPr id="1860402032" name="Notes Placeholder 2"/>
          <p:cNvSpPr>
            <a:spLocks noGrp="1"/>
          </p:cNvSpPr>
          <p:nvPr>
            <p:ph type="body" idx="1"/>
          </p:nvPr>
        </p:nvSpPr>
        <p:spPr bwMode="auto"/>
        <p:txBody>
          <a:bodyPr/>
          <a:lstStyle/>
          <a:p>
            <a:pPr>
              <a:defRPr/>
            </a:pPr>
            <a:r>
              <a:rPr lang="en-US"/>
              <a:t>Welcome. Today has two parts: (1) the AI family - AI, machine learning, deep learning and generative AI - with real-world uses and the project lifecycle; (2) data analytics fundamentals. The circles on the right preview the key idea: each field sits inside the previous one.</a:t>
            </a:r>
            <a:endParaRPr lang="en-US"/>
          </a:p>
        </p:txBody>
      </p:sp>
      <p:sp>
        <p:nvSpPr>
          <p:cNvPr id="988223917" name="Slide Number Placeholder 3"/>
          <p:cNvSpPr>
            <a:spLocks noGrp="1"/>
          </p:cNvSpPr>
          <p:nvPr>
            <p:ph type="sldNum" sz="quarter" idx="10"/>
          </p:nvPr>
        </p:nvSpPr>
        <p:spPr bwMode="auto"/>
        <p:txBody>
          <a:bodyPr/>
          <a:lstStyle/>
          <a:p>
            <a:pPr>
              <a:defRPr/>
            </a:pPr>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34030107" name="Slide Image Placeholder 1"/>
          <p:cNvSpPr>
            <a:spLocks noChangeAspect="1" noGrp="1" noRot="1"/>
          </p:cNvSpPr>
          <p:nvPr>
            <p:ph type="sldImg"/>
          </p:nvPr>
        </p:nvSpPr>
        <p:spPr bwMode="auto"/>
      </p:sp>
      <p:sp>
        <p:nvSpPr>
          <p:cNvPr id="150150623" name="Notes Placeholder 2"/>
          <p:cNvSpPr>
            <a:spLocks noGrp="1"/>
          </p:cNvSpPr>
          <p:nvPr>
            <p:ph type="body" idx="1"/>
          </p:nvPr>
        </p:nvSpPr>
        <p:spPr bwMode="auto"/>
        <p:txBody>
          <a:bodyPr/>
          <a:lstStyle/>
          <a:p>
            <a:pPr>
              <a:defRPr/>
            </a:pPr>
            <a:r>
              <a:rPr lang="en-US"/>
              <a:t>Welcome. Today has two parts: (1) the AI family - AI, machine learning, deep learning and generative AI - with real-world uses and the project lifecycle; (2) data analytics fundamentals. The circles on the right preview the key idea: each field sits inside the previous one.</a:t>
            </a:r>
            <a:endParaRPr lang="en-US"/>
          </a:p>
        </p:txBody>
      </p:sp>
      <p:sp>
        <p:nvSpPr>
          <p:cNvPr id="804243669" name="Slide Number Placeholder 3"/>
          <p:cNvSpPr>
            <a:spLocks noGrp="1"/>
          </p:cNvSpPr>
          <p:nvPr>
            <p:ph type="sldNum" sz="quarter" idx="10"/>
          </p:nvPr>
        </p:nvSpPr>
        <p:spPr bwMode="auto"/>
        <p:txBody>
          <a:bodyPr/>
          <a:lstStyle/>
          <a:p>
            <a:pPr>
              <a:defRPr/>
            </a:pPr>
            <a:fld id="{EB808F2A-10B6-3A6A-EE0F-5E1C83051C7F}" type="slidenum">
              <a:rPr lang="en-US"/>
              <a:t>1</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97687414" name="Slide Image Placeholder 1"/>
          <p:cNvSpPr>
            <a:spLocks noChangeAspect="1" noGrp="1" noRot="1"/>
          </p:cNvSpPr>
          <p:nvPr>
            <p:ph type="sldImg"/>
          </p:nvPr>
        </p:nvSpPr>
        <p:spPr bwMode="auto"/>
      </p:sp>
      <p:sp>
        <p:nvSpPr>
          <p:cNvPr id="1808059265" name="Notes Placeholder 2"/>
          <p:cNvSpPr>
            <a:spLocks noGrp="1"/>
          </p:cNvSpPr>
          <p:nvPr>
            <p:ph type="body" idx="1"/>
          </p:nvPr>
        </p:nvSpPr>
        <p:spPr bwMode="auto"/>
        <p:txBody>
          <a:bodyPr/>
          <a:lstStyle/>
          <a:p>
            <a:pPr>
              <a:defRPr/>
            </a:pPr>
            <a:r>
              <a:rPr lang="en-US"/>
              <a:t>Part 1 builds the concepts from AI down to generative AI, then looks at applications and how an AI project runs. Part 2 gives you the analytics toolkit: the data you work with, the statistics that summarise it, and the tools (KPIs, pivots, charts) that communicate it.</a:t>
            </a:r>
            <a:endParaRPr lang="en-US"/>
          </a:p>
        </p:txBody>
      </p:sp>
      <p:sp>
        <p:nvSpPr>
          <p:cNvPr id="1968333689" name="Slide Number Placeholder 3"/>
          <p:cNvSpPr>
            <a:spLocks noGrp="1"/>
          </p:cNvSpPr>
          <p:nvPr>
            <p:ph type="sldNum" sz="quarter" idx="10"/>
          </p:nvPr>
        </p:nvSpPr>
        <p:spPr bwMode="auto"/>
        <p:txBody>
          <a:bodyPr/>
          <a:lstStyle/>
          <a:p>
            <a:pPr>
              <a:defRPr/>
            </a:pPr>
            <a:fld id="{F7021451-1387-4CA6-816F-3879F97B5CBC}" type="slidenum">
              <a:rPr lang="en-US"/>
              <a:t>2</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78554314" name="Slide Image Placeholder 1"/>
          <p:cNvSpPr>
            <a:spLocks noChangeAspect="1" noGrp="1" noRot="1"/>
          </p:cNvSpPr>
          <p:nvPr>
            <p:ph type="sldImg"/>
          </p:nvPr>
        </p:nvSpPr>
        <p:spPr bwMode="auto"/>
      </p:sp>
      <p:sp>
        <p:nvSpPr>
          <p:cNvPr id="1073089057" name="Notes Placeholder 2"/>
          <p:cNvSpPr>
            <a:spLocks noGrp="1"/>
          </p:cNvSpPr>
          <p:nvPr>
            <p:ph type="body" idx="1"/>
          </p:nvPr>
        </p:nvSpPr>
        <p:spPr bwMode="auto"/>
        <p:txBody>
          <a:bodyPr/>
          <a:lstStyle/>
          <a:p>
            <a:pPr>
              <a:defRPr/>
            </a:pPr>
            <a:r>
              <a:rPr lang="en-US"/>
              <a:t>Start from the big picture. We will define AI, separate narrow from general AI, and see how machine learning became the dominant approach.</a:t>
            </a:r>
            <a:endParaRPr lang="en-US"/>
          </a:p>
        </p:txBody>
      </p:sp>
      <p:sp>
        <p:nvSpPr>
          <p:cNvPr id="1329392969" name="Slide Number Placeholder 3"/>
          <p:cNvSpPr>
            <a:spLocks noGrp="1"/>
          </p:cNvSpPr>
          <p:nvPr>
            <p:ph type="sldNum" sz="quarter" idx="10"/>
          </p:nvPr>
        </p:nvSpPr>
        <p:spPr bwMode="auto"/>
        <p:txBody>
          <a:bodyPr/>
          <a:lstStyle/>
          <a:p>
            <a:pPr>
              <a:defRPr/>
            </a:pPr>
            <a:fld id="{F7021451-1387-4CA6-816F-3879F97B5CBC}" type="slidenum">
              <a:rPr lang="en-US"/>
              <a:t>3</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93483185" name="Slide Image Placeholder 1"/>
          <p:cNvSpPr>
            <a:spLocks noChangeAspect="1" noGrp="1" noRot="1"/>
          </p:cNvSpPr>
          <p:nvPr>
            <p:ph type="sldImg"/>
          </p:nvPr>
        </p:nvSpPr>
        <p:spPr bwMode="auto"/>
      </p:sp>
      <p:sp>
        <p:nvSpPr>
          <p:cNvPr id="739086305" name="Notes Placeholder 2"/>
          <p:cNvSpPr>
            <a:spLocks noGrp="1"/>
          </p:cNvSpPr>
          <p:nvPr>
            <p:ph type="body" idx="1"/>
          </p:nvPr>
        </p:nvSpPr>
        <p:spPr bwMode="auto"/>
        <p:txBody>
          <a:bodyPr/>
          <a:lstStyle/>
          <a:p>
            <a:pPr>
              <a:defRPr/>
            </a:pPr>
            <a:r>
              <a:rPr lang="en-US"/>
              <a:t>Each term is a subset of the one before it. AI is the broad goal. ML is the approach of learning from data. Deep learning is ML with many-layered neural networks. Generative AI is deep learning applied to creating new content. Definitions follow the Wikipedia-style framing used in the source slides.</a:t>
            </a:r>
            <a:endParaRPr lang="en-US"/>
          </a:p>
        </p:txBody>
      </p:sp>
      <p:sp>
        <p:nvSpPr>
          <p:cNvPr id="962843739" name="Slide Number Placeholder 3"/>
          <p:cNvSpPr>
            <a:spLocks noGrp="1"/>
          </p:cNvSpPr>
          <p:nvPr>
            <p:ph type="sldNum" sz="quarter" idx="10"/>
          </p:nvPr>
        </p:nvSpPr>
        <p:spPr bwMode="auto"/>
        <p:txBody>
          <a:bodyPr/>
          <a:lstStyle/>
          <a:p>
            <a:pPr>
              <a:defRPr/>
            </a:pPr>
            <a:fld id="{F7021451-1387-4CA6-816F-3879F97B5CBC}" type="slidenum">
              <a:rPr lang="en-US"/>
              <a:t>4</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37095044" name="Slide Image Placeholder 1"/>
          <p:cNvSpPr>
            <a:spLocks noChangeAspect="1" noGrp="1" noRot="1"/>
          </p:cNvSpPr>
          <p:nvPr>
            <p:ph type="sldImg"/>
          </p:nvPr>
        </p:nvSpPr>
        <p:spPr bwMode="auto"/>
      </p:sp>
      <p:sp>
        <p:nvSpPr>
          <p:cNvPr id="1033497940" name="Notes Placeholder 2"/>
          <p:cNvSpPr>
            <a:spLocks noGrp="1"/>
          </p:cNvSpPr>
          <p:nvPr>
            <p:ph type="body" idx="1"/>
          </p:nvPr>
        </p:nvSpPr>
        <p:spPr bwMode="auto"/>
        <p:txBody>
          <a:bodyPr/>
          <a:lstStyle/>
          <a:p>
            <a:pPr>
              <a:defRPr/>
            </a:pPr>
            <a:r>
              <a:rPr lang="en-US"/>
              <a:t>General AI - human-level ability across any task - remains a research goal and a staple of science fiction. Every AI system you use today is narrow: it does one kind of task very well. The three classic narrow task families are vision, language and planning.</a:t>
            </a:r>
            <a:endParaRPr lang="en-US"/>
          </a:p>
        </p:txBody>
      </p:sp>
      <p:sp>
        <p:nvSpPr>
          <p:cNvPr id="188794385" name="Slide Number Placeholder 3"/>
          <p:cNvSpPr>
            <a:spLocks noGrp="1"/>
          </p:cNvSpPr>
          <p:nvPr>
            <p:ph type="sldNum" sz="quarter" idx="10"/>
          </p:nvPr>
        </p:nvSpPr>
        <p:spPr bwMode="auto"/>
        <p:txBody>
          <a:bodyPr/>
          <a:lstStyle/>
          <a:p>
            <a:pPr>
              <a:defRPr/>
            </a:pPr>
            <a:fld id="{F7021451-1387-4CA6-816F-3879F97B5CBC}" type="slidenum">
              <a:rPr lang="en-US"/>
              <a:t>5</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33383961" name="Slide Image Placeholder 1"/>
          <p:cNvSpPr>
            <a:spLocks noChangeAspect="1" noGrp="1" noRot="1"/>
          </p:cNvSpPr>
          <p:nvPr>
            <p:ph type="sldImg"/>
          </p:nvPr>
        </p:nvSpPr>
        <p:spPr bwMode="auto"/>
      </p:sp>
      <p:sp>
        <p:nvSpPr>
          <p:cNvPr id="870186805" name="Notes Placeholder 2"/>
          <p:cNvSpPr>
            <a:spLocks noGrp="1"/>
          </p:cNvSpPr>
          <p:nvPr>
            <p:ph type="body" idx="1"/>
          </p:nvPr>
        </p:nvSpPr>
        <p:spPr bwMode="auto"/>
        <p:txBody>
          <a:bodyPr/>
          <a:lstStyle/>
          <a:p>
            <a:pPr>
              <a:defRPr/>
            </a:pPr>
            <a:r>
              <a:rPr lang="en-US"/>
              <a:t>Early AI used hand-written rules (expert systems) and search through possible moves (tree search). Machine learning flips the approach: instead of programming the rules, the system infers them from examples. That is why data has become so central.</a:t>
            </a:r>
            <a:endParaRPr lang="en-US"/>
          </a:p>
        </p:txBody>
      </p:sp>
      <p:sp>
        <p:nvSpPr>
          <p:cNvPr id="1593929769" name="Slide Number Placeholder 3"/>
          <p:cNvSpPr>
            <a:spLocks noGrp="1"/>
          </p:cNvSpPr>
          <p:nvPr>
            <p:ph type="sldNum" sz="quarter" idx="10"/>
          </p:nvPr>
        </p:nvSpPr>
        <p:spPr bwMode="auto"/>
        <p:txBody>
          <a:bodyPr/>
          <a:lstStyle/>
          <a:p>
            <a:pPr>
              <a:defRPr/>
            </a:pPr>
            <a:fld id="{F7021451-1387-4CA6-816F-3879F97B5CBC}" type="slidenum">
              <a:rPr lang="en-US"/>
              <a:t>6</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20312790" name="Slide Image Placeholder 1"/>
          <p:cNvSpPr>
            <a:spLocks noChangeAspect="1" noGrp="1" noRot="1"/>
          </p:cNvSpPr>
          <p:nvPr>
            <p:ph type="sldImg"/>
          </p:nvPr>
        </p:nvSpPr>
        <p:spPr bwMode="auto"/>
      </p:sp>
      <p:sp>
        <p:nvSpPr>
          <p:cNvPr id="1341373359" name="Notes Placeholder 2"/>
          <p:cNvSpPr>
            <a:spLocks noGrp="1"/>
          </p:cNvSpPr>
          <p:nvPr>
            <p:ph type="body" idx="1"/>
          </p:nvPr>
        </p:nvSpPr>
        <p:spPr bwMode="auto"/>
        <p:txBody>
          <a:bodyPr/>
          <a:lstStyle/>
          <a:p>
            <a:pPr>
              <a:defRPr/>
            </a:pPr>
            <a:r>
              <a:rPr lang="en-US"/>
              <a:t>Three workhorse tasks. Classification predicts a category, clustering finds natural groups without labels, regression predicts a number. Ask the audience: which one is 'is this email spam?', 'group our customers', 'forecast next month's sales'?</a:t>
            </a:r>
            <a:endParaRPr lang="en-US"/>
          </a:p>
        </p:txBody>
      </p:sp>
      <p:sp>
        <p:nvSpPr>
          <p:cNvPr id="15101220" name="Slide Number Placeholder 3"/>
          <p:cNvSpPr>
            <a:spLocks noGrp="1"/>
          </p:cNvSpPr>
          <p:nvPr>
            <p:ph type="sldNum" sz="quarter" idx="10"/>
          </p:nvPr>
        </p:nvSpPr>
        <p:spPr bwMode="auto"/>
        <p:txBody>
          <a:bodyPr/>
          <a:lstStyle/>
          <a:p>
            <a:pPr>
              <a:defRPr/>
            </a:pPr>
            <a:fld id="{F7021451-1387-4CA6-816F-3879F97B5CBC}" type="slidenum">
              <a:rPr lang="en-US"/>
              <a:t>7</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0528478" name="Slide Image Placeholder 1"/>
          <p:cNvSpPr>
            <a:spLocks noChangeAspect="1" noGrp="1" noRot="1"/>
          </p:cNvSpPr>
          <p:nvPr>
            <p:ph type="sldImg"/>
          </p:nvPr>
        </p:nvSpPr>
        <p:spPr bwMode="auto"/>
      </p:sp>
      <p:sp>
        <p:nvSpPr>
          <p:cNvPr id="1675661697" name="Notes Placeholder 2"/>
          <p:cNvSpPr>
            <a:spLocks noGrp="1"/>
          </p:cNvSpPr>
          <p:nvPr>
            <p:ph type="body" idx="1"/>
          </p:nvPr>
        </p:nvSpPr>
        <p:spPr bwMode="auto"/>
        <p:txBody>
          <a:bodyPr/>
          <a:lstStyle/>
          <a:p>
            <a:pPr>
              <a:defRPr/>
            </a:pPr>
            <a:r>
              <a:rPr lang="en-US"/>
              <a:t>Supervised: learn from labelled examples (the cat-and-dog photos). Unsupervised: find structure with no labels. Reinforcement: learn by trial and error with rewards - think game-playing agents and robotics. Most business ML today is supervised.</a:t>
            </a:r>
            <a:endParaRPr lang="en-US"/>
          </a:p>
        </p:txBody>
      </p:sp>
      <p:sp>
        <p:nvSpPr>
          <p:cNvPr id="316918868" name="Slide Number Placeholder 3"/>
          <p:cNvSpPr>
            <a:spLocks noGrp="1"/>
          </p:cNvSpPr>
          <p:nvPr>
            <p:ph type="sldNum" sz="quarter" idx="10"/>
          </p:nvPr>
        </p:nvSpPr>
        <p:spPr bwMode="auto"/>
        <p:txBody>
          <a:bodyPr/>
          <a:lstStyle/>
          <a:p>
            <a:pPr>
              <a:defRPr/>
            </a:pPr>
            <a:fld id="{F7021451-1387-4CA6-816F-3879F97B5CBC}" type="slidenum">
              <a:rPr lang="en-US"/>
              <a:t>8</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75804611" name="Slide Image Placeholder 1"/>
          <p:cNvSpPr>
            <a:spLocks noChangeAspect="1" noGrp="1" noRot="1"/>
          </p:cNvSpPr>
          <p:nvPr>
            <p:ph type="sldImg"/>
          </p:nvPr>
        </p:nvSpPr>
        <p:spPr bwMode="auto"/>
      </p:sp>
      <p:sp>
        <p:nvSpPr>
          <p:cNvPr id="474950673" name="Notes Placeholder 2"/>
          <p:cNvSpPr>
            <a:spLocks noGrp="1"/>
          </p:cNvSpPr>
          <p:nvPr>
            <p:ph type="body" idx="1"/>
          </p:nvPr>
        </p:nvSpPr>
        <p:spPr bwMode="auto"/>
        <p:txBody>
          <a:bodyPr/>
          <a:lstStyle/>
          <a:p>
            <a:pPr>
              <a:defRPr/>
            </a:pPr>
            <a:r>
              <a:rPr lang="en-US"/>
              <a:t>Now zoom into deep learning - the technique behind modern image recognition, speech, and generative AI.</a:t>
            </a:r>
            <a:endParaRPr lang="en-US"/>
          </a:p>
        </p:txBody>
      </p:sp>
      <p:sp>
        <p:nvSpPr>
          <p:cNvPr id="1256148037" name="Slide Number Placeholder 3"/>
          <p:cNvSpPr>
            <a:spLocks noGrp="1"/>
          </p:cNvSpPr>
          <p:nvPr>
            <p:ph type="sldNum" sz="quarter" idx="10"/>
          </p:nvPr>
        </p:nvSpPr>
        <p:spPr bwMode="auto"/>
        <p:txBody>
          <a:bodyPr/>
          <a:lstStyle/>
          <a:p>
            <a:pPr>
              <a:defRPr/>
            </a:pPr>
            <a:fld id="{F7021451-1387-4CA6-816F-3879F97B5CBC}" type="slidenum">
              <a:rPr lang="en-US"/>
              <a:t>9</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43800823" name="Slide Image Placeholder 1"/>
          <p:cNvSpPr>
            <a:spLocks noChangeAspect="1" noGrp="1" noRot="1"/>
          </p:cNvSpPr>
          <p:nvPr>
            <p:ph type="sldImg"/>
          </p:nvPr>
        </p:nvSpPr>
        <p:spPr bwMode="auto"/>
      </p:sp>
      <p:sp>
        <p:nvSpPr>
          <p:cNvPr id="1345164492" name="Notes Placeholder 2"/>
          <p:cNvSpPr>
            <a:spLocks noGrp="1"/>
          </p:cNvSpPr>
          <p:nvPr>
            <p:ph type="body" idx="1"/>
          </p:nvPr>
        </p:nvSpPr>
        <p:spPr bwMode="auto"/>
        <p:txBody>
          <a:bodyPr/>
          <a:lstStyle/>
          <a:p>
            <a:pPr>
              <a:defRPr/>
            </a:pPr>
            <a:r>
              <a:rPr lang="en-US"/>
              <a:t>Traditional ML needs engineers to design features by hand, which is hard for images, audio and text. Deep learning learns features automatically from raw data. The price is more data and more compute, usually GPUs.</a:t>
            </a:r>
            <a:endParaRPr lang="en-US"/>
          </a:p>
        </p:txBody>
      </p:sp>
      <p:sp>
        <p:nvSpPr>
          <p:cNvPr id="1172786149" name="Slide Number Placeholder 3"/>
          <p:cNvSpPr>
            <a:spLocks noGrp="1"/>
          </p:cNvSpPr>
          <p:nvPr>
            <p:ph type="sldNum" sz="quarter" idx="10"/>
          </p:nvPr>
        </p:nvSpPr>
        <p:spPr bwMode="auto"/>
        <p:txBody>
          <a:bodyPr/>
          <a:lstStyle/>
          <a:p>
            <a:pPr>
              <a:defRPr/>
            </a:pPr>
            <a:fld id="{F7021451-1387-4CA6-816F-3879F97B5CBC}" type="slidenum">
              <a:rPr lang="en-US"/>
              <a:t>10</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83550719" name="Slide Image Placeholder 1"/>
          <p:cNvSpPr>
            <a:spLocks noChangeAspect="1" noGrp="1" noRot="1"/>
          </p:cNvSpPr>
          <p:nvPr>
            <p:ph type="sldImg"/>
          </p:nvPr>
        </p:nvSpPr>
        <p:spPr bwMode="auto"/>
      </p:sp>
      <p:sp>
        <p:nvSpPr>
          <p:cNvPr id="1962850561" name="Notes Placeholder 2"/>
          <p:cNvSpPr>
            <a:spLocks noGrp="1"/>
          </p:cNvSpPr>
          <p:nvPr>
            <p:ph type="body" idx="1"/>
          </p:nvPr>
        </p:nvSpPr>
        <p:spPr bwMode="auto"/>
        <p:txBody>
          <a:bodyPr/>
          <a:lstStyle/>
          <a:p>
            <a:pPr>
              <a:defRPr/>
            </a:pPr>
            <a:r>
              <a:rPr lang="en-US"/>
              <a:t>A network is layers of simple units. Each neuron takes a weighted sum of its inputs, adds a bias, and passes the result through an activation function. Stack many layers and the network can represent very complex patterns. The weights are what training adjusts.</a:t>
            </a:r>
            <a:endParaRPr lang="en-US"/>
          </a:p>
        </p:txBody>
      </p:sp>
      <p:sp>
        <p:nvSpPr>
          <p:cNvPr id="808086867" name="Slide Number Placeholder 3"/>
          <p:cNvSpPr>
            <a:spLocks noGrp="1"/>
          </p:cNvSpPr>
          <p:nvPr>
            <p:ph type="sldNum" sz="quarter" idx="10"/>
          </p:nvPr>
        </p:nvSpPr>
        <p:spPr bwMode="auto"/>
        <p:txBody>
          <a:bodyPr/>
          <a:lstStyle/>
          <a:p>
            <a:pPr>
              <a:defRPr/>
            </a:pPr>
            <a:fld id="{F7021451-1387-4CA6-816F-3879F97B5CBC}" type="slidenum">
              <a:rPr lang="en-US"/>
              <a:t>11</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73356197" name="Slide Image Placeholder 1"/>
          <p:cNvSpPr>
            <a:spLocks noChangeAspect="1" noGrp="1" noRot="1"/>
          </p:cNvSpPr>
          <p:nvPr>
            <p:ph type="sldImg"/>
          </p:nvPr>
        </p:nvSpPr>
        <p:spPr bwMode="auto"/>
      </p:sp>
      <p:sp>
        <p:nvSpPr>
          <p:cNvPr id="1484658647" name="Notes Placeholder 2"/>
          <p:cNvSpPr>
            <a:spLocks noGrp="1"/>
          </p:cNvSpPr>
          <p:nvPr>
            <p:ph type="body" idx="1"/>
          </p:nvPr>
        </p:nvSpPr>
        <p:spPr bwMode="auto"/>
        <p:txBody>
          <a:bodyPr/>
          <a:lstStyle/>
          <a:p>
            <a:pPr>
              <a:defRPr/>
            </a:pPr>
            <a:r>
              <a:rPr lang="en-US"/>
              <a:t>Training is a loop. Feed in an example, compare the prediction to the target, compute the loss, and nudge every weight a small step in the direction that reduces the loss (gradient descent). Repeat over many examples until the loss stops falling. The chart is illustrative.</a:t>
            </a:r>
            <a:endParaRPr lang="en-US"/>
          </a:p>
        </p:txBody>
      </p:sp>
      <p:sp>
        <p:nvSpPr>
          <p:cNvPr id="1448912124" name="Slide Number Placeholder 3"/>
          <p:cNvSpPr>
            <a:spLocks noGrp="1"/>
          </p:cNvSpPr>
          <p:nvPr>
            <p:ph type="sldNum" sz="quarter" idx="10"/>
          </p:nvPr>
        </p:nvSpPr>
        <p:spPr bwMode="auto"/>
        <p:txBody>
          <a:bodyPr/>
          <a:lstStyle/>
          <a:p>
            <a:pPr>
              <a:defRPr/>
            </a:pPr>
            <a:fld id="{F7021451-1387-4CA6-816F-3879F97B5CBC}" type="slidenum">
              <a:rPr lang="en-US"/>
              <a:t>12</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34614054" name="Slide Image Placeholder 1"/>
          <p:cNvSpPr>
            <a:spLocks noChangeAspect="1" noGrp="1" noRot="1"/>
          </p:cNvSpPr>
          <p:nvPr>
            <p:ph type="sldImg"/>
          </p:nvPr>
        </p:nvSpPr>
        <p:spPr bwMode="auto"/>
      </p:sp>
      <p:sp>
        <p:nvSpPr>
          <p:cNvPr id="2086370130" name="Notes Placeholder 2"/>
          <p:cNvSpPr>
            <a:spLocks noGrp="1"/>
          </p:cNvSpPr>
          <p:nvPr>
            <p:ph type="body" idx="1"/>
          </p:nvPr>
        </p:nvSpPr>
        <p:spPr bwMode="auto"/>
        <p:txBody>
          <a:bodyPr/>
          <a:lstStyle/>
          <a:p>
            <a:pPr>
              <a:defRPr/>
            </a:pPr>
            <a:r>
              <a:rPr lang="en-US"/>
              <a:t>A CNN is built for images. Convolution layers slide small filters over the image to detect edges and textures; ReLU keeps positive signals; pooling shrinks the maps; finally fully connected layers make the prediction. LeNet-5 is the classic example architecture.</a:t>
            </a:r>
            <a:endParaRPr lang="en-US"/>
          </a:p>
        </p:txBody>
      </p:sp>
      <p:sp>
        <p:nvSpPr>
          <p:cNvPr id="162836120" name="Slide Number Placeholder 3"/>
          <p:cNvSpPr>
            <a:spLocks noGrp="1"/>
          </p:cNvSpPr>
          <p:nvPr>
            <p:ph type="sldNum" sz="quarter" idx="10"/>
          </p:nvPr>
        </p:nvSpPr>
        <p:spPr bwMode="auto"/>
        <p:txBody>
          <a:bodyPr/>
          <a:lstStyle/>
          <a:p>
            <a:pPr>
              <a:defRPr/>
            </a:pPr>
            <a:fld id="{F7021451-1387-4CA6-816F-3879F97B5CBC}" type="slidenum">
              <a:rPr lang="en-US"/>
              <a:t>13</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96572544" name="Slide Image Placeholder 1"/>
          <p:cNvSpPr>
            <a:spLocks noChangeAspect="1" noGrp="1" noRot="1"/>
          </p:cNvSpPr>
          <p:nvPr>
            <p:ph type="sldImg"/>
          </p:nvPr>
        </p:nvSpPr>
        <p:spPr bwMode="auto"/>
      </p:sp>
      <p:sp>
        <p:nvSpPr>
          <p:cNvPr id="478213941" name="Notes Placeholder 2"/>
          <p:cNvSpPr>
            <a:spLocks noGrp="1"/>
          </p:cNvSpPr>
          <p:nvPr>
            <p:ph type="body" idx="1"/>
          </p:nvPr>
        </p:nvSpPr>
        <p:spPr bwMode="auto"/>
        <p:txBody>
          <a:bodyPr/>
          <a:lstStyle/>
          <a:p>
            <a:pPr>
              <a:defRPr/>
            </a:pPr>
            <a:r>
              <a:rPr lang="en-US"/>
              <a:t>Walk through the highlighted cell: multiply the 3x3 window of the image by the filter, element by element, and add up. That gives one number in the output feature map. Slide the window one step and repeat. A real CNN learns the filter values during training.</a:t>
            </a:r>
            <a:endParaRPr lang="en-US"/>
          </a:p>
        </p:txBody>
      </p:sp>
      <p:sp>
        <p:nvSpPr>
          <p:cNvPr id="832516396" name="Slide Number Placeholder 3"/>
          <p:cNvSpPr>
            <a:spLocks noGrp="1"/>
          </p:cNvSpPr>
          <p:nvPr>
            <p:ph type="sldNum" sz="quarter" idx="10"/>
          </p:nvPr>
        </p:nvSpPr>
        <p:spPr bwMode="auto"/>
        <p:txBody>
          <a:bodyPr/>
          <a:lstStyle/>
          <a:p>
            <a:pPr>
              <a:defRPr/>
            </a:pPr>
            <a:fld id="{F7021451-1387-4CA6-816F-3879F97B5CBC}" type="slidenum">
              <a:rPr lang="en-US"/>
              <a:t>14</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2946465" name="Slide Image Placeholder 1"/>
          <p:cNvSpPr>
            <a:spLocks noChangeAspect="1" noGrp="1" noRot="1"/>
          </p:cNvSpPr>
          <p:nvPr>
            <p:ph type="sldImg"/>
          </p:nvPr>
        </p:nvSpPr>
        <p:spPr bwMode="auto"/>
      </p:sp>
      <p:sp>
        <p:nvSpPr>
          <p:cNvPr id="1854800575" name="Notes Placeholder 2"/>
          <p:cNvSpPr>
            <a:spLocks noGrp="1"/>
          </p:cNvSpPr>
          <p:nvPr>
            <p:ph type="body" idx="1"/>
          </p:nvPr>
        </p:nvSpPr>
        <p:spPr bwMode="auto"/>
        <p:txBody>
          <a:bodyPr/>
          <a:lstStyle/>
          <a:p>
            <a:pPr>
              <a:defRPr/>
            </a:pPr>
            <a:r>
              <a:rPr lang="en-US"/>
              <a:t>Generative AI is deep learning pointed at creation. We will contrast it with the predictive models so far, meet the main model families, and look at how large language models work.</a:t>
            </a:r>
            <a:endParaRPr lang="en-US"/>
          </a:p>
        </p:txBody>
      </p:sp>
      <p:sp>
        <p:nvSpPr>
          <p:cNvPr id="964990241" name="Slide Number Placeholder 3"/>
          <p:cNvSpPr>
            <a:spLocks noGrp="1"/>
          </p:cNvSpPr>
          <p:nvPr>
            <p:ph type="sldNum" sz="quarter" idx="10"/>
          </p:nvPr>
        </p:nvSpPr>
        <p:spPr bwMode="auto"/>
        <p:txBody>
          <a:bodyPr/>
          <a:lstStyle/>
          <a:p>
            <a:pPr>
              <a:defRPr/>
            </a:pPr>
            <a:fld id="{F7021451-1387-4CA6-816F-3879F97B5CBC}" type="slidenum">
              <a:rPr lang="en-US"/>
              <a:t>15</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12041758" name="Slide Image Placeholder 1"/>
          <p:cNvSpPr>
            <a:spLocks noChangeAspect="1" noGrp="1" noRot="1"/>
          </p:cNvSpPr>
          <p:nvPr>
            <p:ph type="sldImg"/>
          </p:nvPr>
        </p:nvSpPr>
        <p:spPr bwMode="auto"/>
      </p:sp>
      <p:sp>
        <p:nvSpPr>
          <p:cNvPr id="1593440395" name="Notes Placeholder 2"/>
          <p:cNvSpPr>
            <a:spLocks noGrp="1"/>
          </p:cNvSpPr>
          <p:nvPr>
            <p:ph type="body" idx="1"/>
          </p:nvPr>
        </p:nvSpPr>
        <p:spPr bwMode="auto"/>
        <p:txBody>
          <a:bodyPr/>
          <a:lstStyle/>
          <a:p>
            <a:pPr>
              <a:defRPr/>
            </a:pPr>
            <a:r>
              <a:rPr lang="en-US"/>
              <a:t>The models we have seen so far are mostly discriminative: given an input, pick a label. Generative models learn the underlying patterns of data so well that they can produce new examples. The same deep learning machinery - just a different objective.</a:t>
            </a:r>
            <a:endParaRPr lang="en-US"/>
          </a:p>
        </p:txBody>
      </p:sp>
      <p:sp>
        <p:nvSpPr>
          <p:cNvPr id="1041359540" name="Slide Number Placeholder 3"/>
          <p:cNvSpPr>
            <a:spLocks noGrp="1"/>
          </p:cNvSpPr>
          <p:nvPr>
            <p:ph type="sldNum" sz="quarter" idx="10"/>
          </p:nvPr>
        </p:nvSpPr>
        <p:spPr bwMode="auto"/>
        <p:txBody>
          <a:bodyPr/>
          <a:lstStyle/>
          <a:p>
            <a:pPr>
              <a:defRPr/>
            </a:pPr>
            <a:fld id="{F7021451-1387-4CA6-816F-3879F97B5CBC}" type="slidenum">
              <a:rPr lang="en-US"/>
              <a:t>16</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10944076" name="Slide Image Placeholder 1"/>
          <p:cNvSpPr>
            <a:spLocks noChangeAspect="1" noGrp="1" noRot="1"/>
          </p:cNvSpPr>
          <p:nvPr>
            <p:ph type="sldImg"/>
          </p:nvPr>
        </p:nvSpPr>
        <p:spPr bwMode="auto"/>
      </p:sp>
      <p:sp>
        <p:nvSpPr>
          <p:cNvPr id="512959883" name="Notes Placeholder 2"/>
          <p:cNvSpPr>
            <a:spLocks noGrp="1"/>
          </p:cNvSpPr>
          <p:nvPr>
            <p:ph type="body" idx="1"/>
          </p:nvPr>
        </p:nvSpPr>
        <p:spPr bwMode="auto"/>
        <p:txBody>
          <a:bodyPr/>
          <a:lstStyle/>
          <a:p>
            <a:pPr>
              <a:defRPr/>
            </a:pPr>
            <a:r>
              <a:rPr lang="en-US"/>
              <a:t>Three families to know. LLMs, built on the transformer, generate text and code one token at a time. Diffusion models create images and video by gradually denoising random noise. GANs pit a generator against a discriminator; they were the first big wave of realistic image synthesis.</a:t>
            </a:r>
            <a:endParaRPr lang="en-US"/>
          </a:p>
        </p:txBody>
      </p:sp>
      <p:sp>
        <p:nvSpPr>
          <p:cNvPr id="2131068182" name="Slide Number Placeholder 3"/>
          <p:cNvSpPr>
            <a:spLocks noGrp="1"/>
          </p:cNvSpPr>
          <p:nvPr>
            <p:ph type="sldNum" sz="quarter" idx="10"/>
          </p:nvPr>
        </p:nvSpPr>
        <p:spPr bwMode="auto"/>
        <p:txBody>
          <a:bodyPr/>
          <a:lstStyle/>
          <a:p>
            <a:pPr>
              <a:defRPr/>
            </a:pPr>
            <a:fld id="{F7021451-1387-4CA6-816F-3879F97B5CBC}" type="slidenum">
              <a:rPr lang="en-US"/>
              <a:t>17</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03914893" name="Slide Image Placeholder 1"/>
          <p:cNvSpPr>
            <a:spLocks noChangeAspect="1" noGrp="1" noRot="1"/>
          </p:cNvSpPr>
          <p:nvPr>
            <p:ph type="sldImg"/>
          </p:nvPr>
        </p:nvSpPr>
        <p:spPr bwMode="auto"/>
      </p:sp>
      <p:sp>
        <p:nvSpPr>
          <p:cNvPr id="1634176004" name="Notes Placeholder 2"/>
          <p:cNvSpPr>
            <a:spLocks noGrp="1"/>
          </p:cNvSpPr>
          <p:nvPr>
            <p:ph type="body" idx="1"/>
          </p:nvPr>
        </p:nvSpPr>
        <p:spPr bwMode="auto"/>
        <p:txBody>
          <a:bodyPr/>
          <a:lstStyle/>
          <a:p>
            <a:pPr>
              <a:defRPr/>
            </a:pPr>
            <a:r>
              <a:rPr lang="en-US"/>
              <a:t>At inference time: your text is split into tokens, tokens become embeddings (vectors of numbers), the transformer uses attention to weigh which words matter, and the model outputs probabilities for the next token. It picks one, appends it, and repeats. Training happens in stages: pre-training on huge text, fine-tuning, then alignment with human feedback.</a:t>
            </a:r>
            <a:endParaRPr lang="en-US"/>
          </a:p>
        </p:txBody>
      </p:sp>
      <p:sp>
        <p:nvSpPr>
          <p:cNvPr id="1800339622" name="Slide Number Placeholder 3"/>
          <p:cNvSpPr>
            <a:spLocks noGrp="1"/>
          </p:cNvSpPr>
          <p:nvPr>
            <p:ph type="sldNum" sz="quarter" idx="10"/>
          </p:nvPr>
        </p:nvSpPr>
        <p:spPr bwMode="auto"/>
        <p:txBody>
          <a:bodyPr/>
          <a:lstStyle/>
          <a:p>
            <a:pPr>
              <a:defRPr/>
            </a:pPr>
            <a:fld id="{F7021451-1387-4CA6-816F-3879F97B5CBC}" type="slidenum">
              <a:rPr lang="en-US"/>
              <a:t>18</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72942541" name="Slide Image Placeholder 1"/>
          <p:cNvSpPr>
            <a:spLocks noChangeAspect="1" noGrp="1" noRot="1"/>
          </p:cNvSpPr>
          <p:nvPr>
            <p:ph type="sldImg"/>
          </p:nvPr>
        </p:nvSpPr>
        <p:spPr bwMode="auto"/>
      </p:sp>
      <p:sp>
        <p:nvSpPr>
          <p:cNvPr id="1410022948" name="Notes Placeholder 2"/>
          <p:cNvSpPr>
            <a:spLocks noGrp="1"/>
          </p:cNvSpPr>
          <p:nvPr>
            <p:ph type="body" idx="1"/>
          </p:nvPr>
        </p:nvSpPr>
        <p:spPr bwMode="auto"/>
        <p:txBody>
          <a:bodyPr/>
          <a:lstStyle/>
          <a:p>
            <a:pPr>
              <a:defRPr/>
            </a:pPr>
            <a:r>
              <a:rPr lang="en-US"/>
              <a:t>Generative AI is powerful but not a source of truth. The most important habit is verification: models can produce fluent, confident answers that are wrong (hallucinations). Good practice is to give context, iterate, check facts, and keep sensitive data out of public tools.</a:t>
            </a:r>
            <a:endParaRPr lang="en-US"/>
          </a:p>
        </p:txBody>
      </p:sp>
      <p:sp>
        <p:nvSpPr>
          <p:cNvPr id="2046115456" name="Slide Number Placeholder 3"/>
          <p:cNvSpPr>
            <a:spLocks noGrp="1"/>
          </p:cNvSpPr>
          <p:nvPr>
            <p:ph type="sldNum" sz="quarter" idx="10"/>
          </p:nvPr>
        </p:nvSpPr>
        <p:spPr bwMode="auto"/>
        <p:txBody>
          <a:bodyPr/>
          <a:lstStyle/>
          <a:p>
            <a:pPr>
              <a:defRPr/>
            </a:pPr>
            <a:fld id="{F7021451-1387-4CA6-816F-3879F97B5CBC}" type="slidenum">
              <a:rPr lang="en-US"/>
              <a:t>19</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13569772" name="Slide Image Placeholder 1"/>
          <p:cNvSpPr>
            <a:spLocks noChangeAspect="1" noGrp="1" noRot="1"/>
          </p:cNvSpPr>
          <p:nvPr>
            <p:ph type="sldImg"/>
          </p:nvPr>
        </p:nvSpPr>
        <p:spPr bwMode="auto"/>
      </p:sp>
      <p:sp>
        <p:nvSpPr>
          <p:cNvPr id="1297259882" name="Notes Placeholder 2"/>
          <p:cNvSpPr>
            <a:spLocks noGrp="1"/>
          </p:cNvSpPr>
          <p:nvPr>
            <p:ph type="body" idx="1"/>
          </p:nvPr>
        </p:nvSpPr>
        <p:spPr bwMode="auto"/>
        <p:txBody>
          <a:bodyPr/>
          <a:lstStyle/>
          <a:p>
            <a:pPr>
              <a:defRPr/>
            </a:pPr>
            <a:r>
              <a:rPr lang="en-US"/>
              <a:t>Concepts become useful only when applied. First, where AI shows up across industries; then the repeatable process every AI project follows.</a:t>
            </a:r>
            <a:endParaRPr lang="en-US"/>
          </a:p>
        </p:txBody>
      </p:sp>
      <p:sp>
        <p:nvSpPr>
          <p:cNvPr id="914370211" name="Slide Number Placeholder 3"/>
          <p:cNvSpPr>
            <a:spLocks noGrp="1"/>
          </p:cNvSpPr>
          <p:nvPr>
            <p:ph type="sldNum" sz="quarter" idx="10"/>
          </p:nvPr>
        </p:nvSpPr>
        <p:spPr bwMode="auto"/>
        <p:txBody>
          <a:bodyPr/>
          <a:lstStyle/>
          <a:p>
            <a:pPr>
              <a:defRPr/>
            </a:pPr>
            <a:fld id="{F7021451-1387-4CA6-816F-3879F97B5CBC}" type="slidenum">
              <a:rPr lang="en-US"/>
              <a:t>20</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71135591" name="Slide Image Placeholder 1"/>
          <p:cNvSpPr>
            <a:spLocks noChangeAspect="1" noGrp="1" noRot="1"/>
          </p:cNvSpPr>
          <p:nvPr>
            <p:ph type="sldImg"/>
          </p:nvPr>
        </p:nvSpPr>
        <p:spPr bwMode="auto"/>
      </p:sp>
      <p:sp>
        <p:nvSpPr>
          <p:cNvPr id="250364534" name="Notes Placeholder 2"/>
          <p:cNvSpPr>
            <a:spLocks noGrp="1"/>
          </p:cNvSpPr>
          <p:nvPr>
            <p:ph type="body" idx="1"/>
          </p:nvPr>
        </p:nvSpPr>
        <p:spPr bwMode="auto"/>
        <p:txBody>
          <a:bodyPr/>
          <a:lstStyle/>
          <a:p>
            <a:pPr>
              <a:defRPr/>
            </a:pPr>
            <a:r>
              <a:rPr lang="en-US"/>
              <a:t>Pick an industry relevant to your audience and ask which of these they already use. Note the mix: predictive ML and deep learning (fraud detection, scan analysis) alongside generative AI (drafting notes, writing copy, tutoring).</a:t>
            </a:r>
            <a:endParaRPr lang="en-US"/>
          </a:p>
        </p:txBody>
      </p:sp>
      <p:sp>
        <p:nvSpPr>
          <p:cNvPr id="129088686" name="Slide Number Placeholder 3"/>
          <p:cNvSpPr>
            <a:spLocks noGrp="1"/>
          </p:cNvSpPr>
          <p:nvPr>
            <p:ph type="sldNum" sz="quarter" idx="10"/>
          </p:nvPr>
        </p:nvSpPr>
        <p:spPr bwMode="auto"/>
        <p:txBody>
          <a:bodyPr/>
          <a:lstStyle/>
          <a:p>
            <a:pPr>
              <a:defRPr/>
            </a:pPr>
            <a:fld id="{F7021451-1387-4CA6-816F-3879F97B5CBC}" type="slidenum">
              <a:rPr lang="en-US"/>
              <a:t>21</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01607153" name="Slide Image Placeholder 1"/>
          <p:cNvSpPr>
            <a:spLocks noChangeAspect="1" noGrp="1" noRot="1"/>
          </p:cNvSpPr>
          <p:nvPr>
            <p:ph type="sldImg"/>
          </p:nvPr>
        </p:nvSpPr>
        <p:spPr bwMode="auto"/>
      </p:sp>
      <p:sp>
        <p:nvSpPr>
          <p:cNvPr id="676598952" name="Notes Placeholder 2"/>
          <p:cNvSpPr>
            <a:spLocks noGrp="1"/>
          </p:cNvSpPr>
          <p:nvPr>
            <p:ph type="body" idx="1"/>
          </p:nvPr>
        </p:nvSpPr>
        <p:spPr bwMode="auto"/>
        <p:txBody>
          <a:bodyPr/>
          <a:lstStyle/>
          <a:p>
            <a:pPr>
              <a:defRPr/>
            </a:pPr>
            <a:r>
              <a:rPr lang="en-US"/>
              <a:t>Seven steps. Emphasise that most of the effort goes into steps 1-3: defining the problem and getting clean data. Testing must use data the model has never seen. Deployment is not the end - models drift as the world changes, so monitor and retrain.</a:t>
            </a:r>
            <a:endParaRPr lang="en-US"/>
          </a:p>
        </p:txBody>
      </p:sp>
      <p:sp>
        <p:nvSpPr>
          <p:cNvPr id="1590333997" name="Slide Number Placeholder 3"/>
          <p:cNvSpPr>
            <a:spLocks noGrp="1"/>
          </p:cNvSpPr>
          <p:nvPr>
            <p:ph type="sldNum" sz="quarter" idx="10"/>
          </p:nvPr>
        </p:nvSpPr>
        <p:spPr bwMode="auto"/>
        <p:txBody>
          <a:bodyPr/>
          <a:lstStyle/>
          <a:p>
            <a:pPr>
              <a:defRPr/>
            </a:pPr>
            <a:fld id="{F7021451-1387-4CA6-816F-3879F97B5CBC}" type="slidenum">
              <a:rPr lang="en-US"/>
              <a:t>22</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20500045" name="Slide Image Placeholder 1"/>
          <p:cNvSpPr>
            <a:spLocks noChangeAspect="1" noGrp="1" noRot="1"/>
          </p:cNvSpPr>
          <p:nvPr>
            <p:ph type="sldImg"/>
          </p:nvPr>
        </p:nvSpPr>
        <p:spPr bwMode="auto"/>
      </p:sp>
      <p:sp>
        <p:nvSpPr>
          <p:cNvPr id="520117627" name="Notes Placeholder 2"/>
          <p:cNvSpPr>
            <a:spLocks noGrp="1"/>
          </p:cNvSpPr>
          <p:nvPr>
            <p:ph type="body" idx="1"/>
          </p:nvPr>
        </p:nvSpPr>
        <p:spPr bwMode="auto"/>
        <p:txBody>
          <a:bodyPr/>
          <a:lstStyle/>
          <a:p>
            <a:pPr>
              <a:defRPr/>
            </a:pPr>
            <a:r>
              <a:rPr lang="en-US"/>
              <a:t>Use a cat-vs-dog classifier as a concrete example. The same four questions apply to any project, including generative AI, where the model is a foundation model and 'accuracy' becomes quality and safety evaluation.</a:t>
            </a:r>
            <a:endParaRPr lang="en-US"/>
          </a:p>
        </p:txBody>
      </p:sp>
      <p:sp>
        <p:nvSpPr>
          <p:cNvPr id="277335145" name="Slide Number Placeholder 3"/>
          <p:cNvSpPr>
            <a:spLocks noGrp="1"/>
          </p:cNvSpPr>
          <p:nvPr>
            <p:ph type="sldNum" sz="quarter" idx="10"/>
          </p:nvPr>
        </p:nvSpPr>
        <p:spPr bwMode="auto"/>
        <p:txBody>
          <a:bodyPr/>
          <a:lstStyle/>
          <a:p>
            <a:pPr>
              <a:defRPr/>
            </a:pPr>
            <a:fld id="{F7021451-1387-4CA6-816F-3879F97B5CBC}" type="slidenum">
              <a:rPr lang="en-US"/>
              <a:t>23</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45490972" name="Slide Image Placeholder 1"/>
          <p:cNvSpPr>
            <a:spLocks noChangeAspect="1" noGrp="1" noRot="1"/>
          </p:cNvSpPr>
          <p:nvPr>
            <p:ph type="sldImg"/>
          </p:nvPr>
        </p:nvSpPr>
        <p:spPr bwMode="auto"/>
      </p:sp>
      <p:sp>
        <p:nvSpPr>
          <p:cNvPr id="1384178142" name="Notes Placeholder 2"/>
          <p:cNvSpPr>
            <a:spLocks noGrp="1"/>
          </p:cNvSpPr>
          <p:nvPr>
            <p:ph type="body" idx="1"/>
          </p:nvPr>
        </p:nvSpPr>
        <p:spPr bwMode="auto"/>
        <p:txBody>
          <a:bodyPr/>
          <a:lstStyle/>
          <a:p>
            <a:pPr>
              <a:defRPr/>
            </a:pPr>
            <a:r>
              <a:rPr lang="en-US"/>
              <a:t>Recap the five ideas, then open for questions. If time allows, revisit the four project questions (goal, data, model, accuracy) on a use case from the audience.</a:t>
            </a:r>
            <a:endParaRPr lang="en-US"/>
          </a:p>
        </p:txBody>
      </p:sp>
      <p:sp>
        <p:nvSpPr>
          <p:cNvPr id="1937619080" name="Slide Number Placeholder 3"/>
          <p:cNvSpPr>
            <a:spLocks noGrp="1"/>
          </p:cNvSpPr>
          <p:nvPr>
            <p:ph type="sldNum" sz="quarter" idx="10"/>
          </p:nvPr>
        </p:nvSpPr>
        <p:spPr bwMode="auto"/>
        <p:txBody>
          <a:bodyPr/>
          <a:lstStyle/>
          <a:p>
            <a:pPr>
              <a:defRPr/>
            </a:pPr>
            <a:fld id="{F7021451-1387-4CA6-816F-3879F97B5CBC}" type="slidenum">
              <a:rPr lang="en-US"/>
              <a:t>33</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81106951" name="Slide Image Placeholder 1"/>
          <p:cNvSpPr>
            <a:spLocks noChangeAspect="1" noGrp="1" noRot="1"/>
          </p:cNvSpPr>
          <p:nvPr>
            <p:ph type="sldImg"/>
          </p:nvPr>
        </p:nvSpPr>
        <p:spPr bwMode="auto"/>
      </p:sp>
      <p:sp>
        <p:nvSpPr>
          <p:cNvPr id="1997228781" name="Notes Placeholder 2"/>
          <p:cNvSpPr>
            <a:spLocks noGrp="1"/>
          </p:cNvSpPr>
          <p:nvPr>
            <p:ph type="body" idx="1"/>
          </p:nvPr>
        </p:nvSpPr>
        <p:spPr bwMode="auto"/>
        <p:txBody>
          <a:bodyPr/>
          <a:lstStyle/>
          <a:p>
            <a:pPr>
              <a:defRPr/>
            </a:pPr>
            <a:r>
              <a:rPr lang="en-US"/>
              <a:t>Credit the two source decks this material was adapted from.</a:t>
            </a:r>
            <a:endParaRPr lang="en-US"/>
          </a:p>
        </p:txBody>
      </p:sp>
      <p:sp>
        <p:nvSpPr>
          <p:cNvPr id="1909194424" name="Slide Number Placeholder 3"/>
          <p:cNvSpPr>
            <a:spLocks noGrp="1"/>
          </p:cNvSpPr>
          <p:nvPr>
            <p:ph type="sldNum" sz="quarter" idx="10"/>
          </p:nvPr>
        </p:nvSpPr>
        <p:spPr bwMode="auto"/>
        <p:txBody>
          <a:bodyPr/>
          <a:lstStyle/>
          <a:p>
            <a:pPr>
              <a:defRPr/>
            </a:pPr>
            <a:fld id="{F7021451-1387-4CA6-816F-3879F97B5CBC}" type="slidenum">
              <a:rPr lang="en-US"/>
              <a:t>34</a:t>
            </a:fld>
            <a:endParaRPr lang="en-US"/>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DEFAULT">
    <p:bg>
      <p:bgRef idx="1001">
        <a:schemeClr val="bg1"/>
      </p:bgRef>
    </p:bg>
    <p:spTree>
      <p:nvGrpSpPr>
        <p:cNvPr id="1" name=""/>
        <p:cNvGrpSpPr/>
        <p:nvPr/>
      </p:nvGrpSpPr>
      <p:grpSpPr bwMode="auto">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ITLE">
    <p:spTree>
      <p:nvGrpSpPr>
        <p:cNvPr id="1" name=""/>
        <p:cNvGrpSpPr/>
        <p:nvPr/>
      </p:nvGrpSpPr>
      <p:grpSpPr bwMode="auto">
        <a:xfrm>
          <a:off x="0" y="0"/>
          <a:ext cx="0" cy="0"/>
          <a:chOff x="0" y="0"/>
          <a:chExt cx="0" cy="0"/>
        </a:xfrm>
      </p:grpSpPr>
      <p:sp>
        <p:nvSpPr>
          <p:cNvPr id="1290398163" name="Shape 0"/>
          <p:cNvSpPr/>
          <p:nvPr/>
        </p:nvSpPr>
        <p:spPr bwMode="auto">
          <a:xfrm>
            <a:off x="0" y="0"/>
            <a:ext cx="9144000" cy="5143500"/>
          </a:xfrm>
          <a:prstGeom prst="rect">
            <a:avLst/>
          </a:prstGeom>
          <a:solidFill>
            <a:schemeClr val="tx2"/>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SECTION">
    <p:spTree>
      <p:nvGrpSpPr>
        <p:cNvPr id="1" name=""/>
        <p:cNvGrpSpPr/>
        <p:nvPr/>
      </p:nvGrpSpPr>
      <p:grpSpPr bwMode="auto">
        <a:xfrm>
          <a:off x="0" y="0"/>
          <a:ext cx="0" cy="0"/>
          <a:chOff x="0" y="0"/>
          <a:chExt cx="0" cy="0"/>
        </a:xfrm>
      </p:grpSpPr>
      <p:sp>
        <p:nvSpPr>
          <p:cNvPr id="2122137950" name="Shape 0"/>
          <p:cNvSpPr/>
          <p:nvPr/>
        </p:nvSpPr>
        <p:spPr bwMode="auto">
          <a:xfrm>
            <a:off x="0" y="0"/>
            <a:ext cx="9144000" cy="5143500"/>
          </a:xfrm>
          <a:prstGeom prst="rect">
            <a:avLst/>
          </a:prstGeom>
          <a:solidFill>
            <a:schemeClr val="tx2"/>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CONTENT">
    <p:bg>
      <p:bgPr shadeToTitle="0">
        <a:solidFill>
          <a:srgbClr val="FFFFFF"/>
        </a:solidFill>
      </p:bgPr>
    </p:bg>
    <p:spTree>
      <p:nvGrpSpPr>
        <p:cNvPr id="1" name=""/>
        <p:cNvGrpSpPr/>
        <p:nvPr/>
      </p:nvGrpSpPr>
      <p:grpSpPr bwMode="auto">
        <a:xfrm>
          <a:off x="0" y="0"/>
          <a:ext cx="0" cy="0"/>
          <a:chOff x="0" y="0"/>
          <a:chExt cx="0" cy="0"/>
        </a:xfrm>
      </p:grpSpPr>
      <p:sp>
        <p:nvSpPr>
          <p:cNvPr id="1837474984" name="Text 0"/>
          <p:cNvSpPr/>
          <p:nvPr>
            <p:ph type="title" idx="100" hasCustomPrompt="1"/>
          </p:nvPr>
        </p:nvSpPr>
        <p:spPr bwMode="auto">
          <a:xfrm>
            <a:off x="457200" y="274320"/>
            <a:ext cx="8229600" cy="731520"/>
          </a:xfrm>
          <a:prstGeom prst="rect">
            <a:avLst/>
          </a:prstGeom>
          <a:noFill/>
          <a:ln/>
        </p:spPr>
        <p:txBody>
          <a:bodyPr wrap="square" rtlCol="0"/>
          <a:lstStyle>
            <a:lvl1pPr marL="0" indent="0" algn="l">
              <a:buNone/>
              <a:defRPr lang="en-US" sz="3000" b="1">
                <a:solidFill>
                  <a:schemeClr val="tx2"/>
                </a:solidFill>
              </a:defRPr>
            </a:lvl1pPr>
          </a:lstStyle>
          <a:p>
            <a:pPr marL="0" indent="0" algn="l">
              <a:buNone/>
              <a:defRPr/>
            </a:pPr>
            <a:endParaRPr lang="en-US" sz="3000"/>
          </a:p>
        </p:txBody>
      </p:sp>
      <p:sp>
        <p:nvSpPr>
          <p:cNvPr id="2139342981" name="Slide Number Placeholder 0"/>
          <p:cNvSpPr>
            <a:spLocks noGrp="1"/>
          </p:cNvSpPr>
          <p:nvPr>
            <p:ph type="sldNum" sz="quarter" idx="4294967295"/>
          </p:nvPr>
        </p:nvSpPr>
        <p:spPr bwMode="auto">
          <a:xfrm>
            <a:off x="8229600" y="4800600"/>
            <a:ext cx="457200" cy="228600"/>
          </a:xfrm>
          <a:prstGeom prst="rect">
            <a:avLst/>
          </a:prstGeom>
        </p:spPr>
        <p:txBody>
          <a:bodyPr/>
          <a:lstStyle>
            <a:lvl1pPr>
              <a:defRPr sz="1000">
                <a:solidFill>
                  <a:schemeClr val="accent5"/>
                </a:solidFill>
              </a:defRPr>
            </a:lvl1pPr>
          </a:lstStyle>
          <a:p>
            <a:pPr algn="r">
              <a:defRPr/>
            </a:pPr>
            <a:fld id="{F7021451-1387-4CA6-816F-3879F97B5CBC}" type="slidenum">
              <a:rPr lang="en-US" b="0"/>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DARK">
    <p:spTree>
      <p:nvGrpSpPr>
        <p:cNvPr id="1" name=""/>
        <p:cNvGrpSpPr/>
        <p:nvPr/>
      </p:nvGrpSpPr>
      <p:grpSpPr bwMode="auto">
        <a:xfrm>
          <a:off x="0" y="0"/>
          <a:ext cx="0" cy="0"/>
          <a:chOff x="0" y="0"/>
          <a:chExt cx="0" cy="0"/>
        </a:xfrm>
      </p:grpSpPr>
      <p:sp>
        <p:nvSpPr>
          <p:cNvPr id="1208601423" name="Shape 0"/>
          <p:cNvSpPr/>
          <p:nvPr/>
        </p:nvSpPr>
        <p:spPr bwMode="auto">
          <a:xfrm>
            <a:off x="0" y="0"/>
            <a:ext cx="9144000" cy="5143500"/>
          </a:xfrm>
          <a:prstGeom prst="rect">
            <a:avLst/>
          </a:prstGeom>
          <a:solidFill>
            <a:schemeClr val="tx2"/>
          </a:solidFill>
          <a:ln/>
        </p:spPr>
      </p:sp>
      <p:sp>
        <p:nvSpPr>
          <p:cNvPr id="181912153" name="Text 1"/>
          <p:cNvSpPr/>
          <p:nvPr>
            <p:ph type="title" idx="101" hasCustomPrompt="1"/>
          </p:nvPr>
        </p:nvSpPr>
        <p:spPr bwMode="auto">
          <a:xfrm>
            <a:off x="457200" y="274320"/>
            <a:ext cx="8229600" cy="731520"/>
          </a:xfrm>
          <a:prstGeom prst="rect">
            <a:avLst/>
          </a:prstGeom>
          <a:noFill/>
          <a:ln/>
        </p:spPr>
        <p:txBody>
          <a:bodyPr wrap="square" rtlCol="0"/>
          <a:lstStyle>
            <a:lvl1pPr marL="0" indent="0" algn="l">
              <a:buNone/>
              <a:defRPr lang="en-US" sz="3400" b="1">
                <a:solidFill>
                  <a:schemeClr val="bg1"/>
                </a:solidFill>
              </a:defRPr>
            </a:lvl1pPr>
          </a:lstStyle>
          <a:p>
            <a:pPr marL="0" indent="0" algn="l">
              <a:buNone/>
              <a:defRPr/>
            </a:pPr>
            <a:endParaRPr lang="en-US" sz="3400"/>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spTree>
      <p:nvGrpSpPr>
        <p:cNvPr id="1" name=""/>
        <p:cNvGrpSpPr/>
        <p:nvPr/>
      </p:nvGrpSpPr>
      <p:grpSpPr bwMode="auto">
        <a:xfrm>
          <a:off x="0" y="0"/>
          <a:ext cx="0" cy="0"/>
          <a:chOff x="0" y="0"/>
          <a:chExt cx="0" cy="0"/>
        </a:xfrm>
      </p:grpSpPr>
      <p:sp>
        <p:nvSpPr>
          <p:cNvPr id="88381360" name="Slide Number Placeholder 0"/>
          <p:cNvSpPr>
            <a:spLocks noGrp="1"/>
          </p:cNvSpPr>
          <p:nvPr>
            <p:ph type="sldNum" sz="quarter" idx="4294967295"/>
          </p:nvPr>
        </p:nvSpPr>
        <p:spPr bwMode="auto">
          <a:xfrm>
            <a:off x="8229600" y="4800600"/>
            <a:ext cx="457200" cy="228600"/>
          </a:xfrm>
          <a:prstGeom prst="rect">
            <a:avLst/>
          </a:prstGeom>
        </p:spPr>
        <p:txBody>
          <a:bodyPr/>
          <a:lstStyle>
            <a:lvl1pPr>
              <a:defRPr sz="1000">
                <a:solidFill>
                  <a:schemeClr val="accent5"/>
                </a:solidFill>
              </a:defRPr>
            </a:lvl1pPr>
          </a:lstStyle>
          <a:p>
            <a:pPr algn="r">
              <a:defRPr/>
            </a:pPr>
            <a:fld id="{F7021451-1387-4CA6-816F-3879F97B5CBC}" type="slidenum">
              <a:rPr lang="en-US" b="0"/>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dt="1" ftr="1" hdr="0" sldNum="1"/>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chart" Target="../charts/chart1.xml" /></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6.pn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21.pn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8.png"/></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32.png"/><Relationship Id="rId7" Type="http://schemas.openxmlformats.org/officeDocument/2006/relationships/image" Target="../media/image33.png"/><Relationship Id="rId8" Type="http://schemas.openxmlformats.org/officeDocument/2006/relationships/image" Target="../media/image34.png"/></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
    <p:spTree>
      <p:nvGrpSpPr>
        <p:cNvPr id="1" name=""/>
        <p:cNvGrpSpPr/>
        <p:nvPr/>
      </p:nvGrpSpPr>
      <p:grpSpPr bwMode="auto">
        <a:xfrm>
          <a:off x="0" y="0"/>
          <a:ext cx="0" cy="0"/>
          <a:chOff x="0" y="0"/>
          <a:chExt cx="0" cy="0"/>
        </a:xfrm>
      </p:grpSpPr>
      <p:sp>
        <p:nvSpPr>
          <p:cNvPr id="154570498" name="ring-1"/>
          <p:cNvSpPr/>
          <p:nvPr/>
        </p:nvSpPr>
        <p:spPr bwMode="auto">
          <a:xfrm>
            <a:off x="5120640" y="731520"/>
            <a:ext cx="3840480" cy="3840480"/>
          </a:xfrm>
          <a:prstGeom prst="ellipse">
            <a:avLst/>
          </a:prstGeom>
          <a:solidFill>
            <a:srgbClr val="FFFFFF">
              <a:alpha val="12000"/>
            </a:srgbClr>
          </a:solidFill>
          <a:ln w="12700">
            <a:solidFill>
              <a:srgbClr val="FFFFFF"/>
            </a:solidFill>
            <a:prstDash val="solid"/>
          </a:ln>
        </p:spPr>
      </p:sp>
      <p:sp>
        <p:nvSpPr>
          <p:cNvPr id="1434972871" name="ring-2"/>
          <p:cNvSpPr/>
          <p:nvPr/>
        </p:nvSpPr>
        <p:spPr bwMode="auto">
          <a:xfrm>
            <a:off x="5577840" y="1517904"/>
            <a:ext cx="2926080" cy="2926080"/>
          </a:xfrm>
          <a:prstGeom prst="ellipse">
            <a:avLst/>
          </a:prstGeom>
          <a:solidFill>
            <a:srgbClr val="2F6FED">
              <a:alpha val="55000"/>
            </a:srgbClr>
          </a:solidFill>
          <a:ln w="12700">
            <a:solidFill>
              <a:srgbClr val="2F6FED"/>
            </a:solidFill>
            <a:prstDash val="solid"/>
          </a:ln>
        </p:spPr>
      </p:sp>
      <p:sp>
        <p:nvSpPr>
          <p:cNvPr id="1325325852" name="ring-3"/>
          <p:cNvSpPr/>
          <p:nvPr/>
        </p:nvSpPr>
        <p:spPr bwMode="auto">
          <a:xfrm>
            <a:off x="6035039" y="2304288"/>
            <a:ext cx="2011680" cy="2011680"/>
          </a:xfrm>
          <a:prstGeom prst="ellipse">
            <a:avLst/>
          </a:prstGeom>
          <a:solidFill>
            <a:srgbClr val="5B5BD6">
              <a:alpha val="75000"/>
            </a:srgbClr>
          </a:solidFill>
          <a:ln w="12700">
            <a:solidFill>
              <a:srgbClr val="5B5BD6"/>
            </a:solidFill>
            <a:prstDash val="solid"/>
          </a:ln>
        </p:spPr>
      </p:sp>
      <p:sp>
        <p:nvSpPr>
          <p:cNvPr id="2061570564" name="ring-4"/>
          <p:cNvSpPr/>
          <p:nvPr/>
        </p:nvSpPr>
        <p:spPr bwMode="auto">
          <a:xfrm>
            <a:off x="6492240" y="3090672"/>
            <a:ext cx="1097280" cy="1097280"/>
          </a:xfrm>
          <a:prstGeom prst="ellipse">
            <a:avLst/>
          </a:prstGeom>
          <a:solidFill>
            <a:srgbClr val="0B8478"/>
          </a:solidFill>
          <a:ln w="12700">
            <a:solidFill>
              <a:srgbClr val="0B8478"/>
            </a:solidFill>
            <a:prstDash val="solid"/>
          </a:ln>
        </p:spPr>
      </p:sp>
      <p:sp>
        <p:nvSpPr>
          <p:cNvPr id="789266621" name="text-5"/>
          <p:cNvSpPr txBox="1"/>
          <p:nvPr/>
        </p:nvSpPr>
        <p:spPr bwMode="auto">
          <a:xfrm>
            <a:off x="5120640" y="822960"/>
            <a:ext cx="3840480" cy="365760"/>
          </a:xfrm>
          <a:prstGeom prst="rect">
            <a:avLst/>
          </a:prstGeom>
          <a:noFill/>
          <a:ln/>
        </p:spPr>
        <p:txBody>
          <a:bodyPr wrap="square" lIns="0" tIns="0" rIns="0" bIns="0" rtlCol="0" anchor="ctr"/>
          <a:lstStyle/>
          <a:p>
            <a:pPr marL="0" indent="0" algn="ctr">
              <a:buNone/>
              <a:defRPr/>
            </a:pPr>
            <a:r>
              <a:rPr lang="en-US" sz="1400" b="1">
                <a:solidFill>
                  <a:schemeClr val="bg1"/>
                </a:solidFill>
              </a:rPr>
              <a:t>AI</a:t>
            </a:r>
            <a:endParaRPr lang="en-US" sz="1400"/>
          </a:p>
        </p:txBody>
      </p:sp>
      <p:sp>
        <p:nvSpPr>
          <p:cNvPr id="548852321" name="text-6"/>
          <p:cNvSpPr txBox="1"/>
          <p:nvPr/>
        </p:nvSpPr>
        <p:spPr bwMode="auto">
          <a:xfrm>
            <a:off x="5577840" y="1609344"/>
            <a:ext cx="2926080" cy="365760"/>
          </a:xfrm>
          <a:prstGeom prst="rect">
            <a:avLst/>
          </a:prstGeom>
          <a:noFill/>
          <a:ln/>
        </p:spPr>
        <p:txBody>
          <a:bodyPr wrap="square" lIns="0" tIns="0" rIns="0" bIns="0" rtlCol="0" anchor="ctr"/>
          <a:lstStyle/>
          <a:p>
            <a:pPr marL="0" indent="0" algn="ctr">
              <a:buNone/>
              <a:defRPr/>
            </a:pPr>
            <a:r>
              <a:rPr lang="en-US" sz="1400" b="1">
                <a:solidFill>
                  <a:schemeClr val="bg1"/>
                </a:solidFill>
              </a:rPr>
              <a:t>ML</a:t>
            </a:r>
            <a:endParaRPr lang="en-US" sz="1400"/>
          </a:p>
        </p:txBody>
      </p:sp>
      <p:sp>
        <p:nvSpPr>
          <p:cNvPr id="862973694" name="text-7"/>
          <p:cNvSpPr txBox="1"/>
          <p:nvPr/>
        </p:nvSpPr>
        <p:spPr bwMode="auto">
          <a:xfrm>
            <a:off x="6035039" y="2395728"/>
            <a:ext cx="2011680" cy="365760"/>
          </a:xfrm>
          <a:prstGeom prst="rect">
            <a:avLst/>
          </a:prstGeom>
          <a:noFill/>
          <a:ln/>
        </p:spPr>
        <p:txBody>
          <a:bodyPr wrap="square" lIns="0" tIns="0" rIns="0" bIns="0" rtlCol="0" anchor="ctr"/>
          <a:lstStyle/>
          <a:p>
            <a:pPr marL="0" indent="0" algn="ctr">
              <a:buNone/>
              <a:defRPr/>
            </a:pPr>
            <a:r>
              <a:rPr lang="en-US" sz="1400" b="1">
                <a:solidFill>
                  <a:schemeClr val="bg1"/>
                </a:solidFill>
              </a:rPr>
              <a:t>DL</a:t>
            </a:r>
            <a:endParaRPr lang="en-US" sz="1400"/>
          </a:p>
        </p:txBody>
      </p:sp>
      <p:sp>
        <p:nvSpPr>
          <p:cNvPr id="677765988" name="text-8"/>
          <p:cNvSpPr txBox="1"/>
          <p:nvPr/>
        </p:nvSpPr>
        <p:spPr bwMode="auto">
          <a:xfrm>
            <a:off x="6492240" y="3456432"/>
            <a:ext cx="1097280" cy="365760"/>
          </a:xfrm>
          <a:prstGeom prst="rect">
            <a:avLst/>
          </a:prstGeom>
          <a:noFill/>
          <a:ln/>
        </p:spPr>
        <p:txBody>
          <a:bodyPr wrap="square" lIns="0" tIns="0" rIns="0" bIns="0" rtlCol="0" anchor="ctr"/>
          <a:lstStyle/>
          <a:p>
            <a:pPr marL="0" indent="0" algn="ctr">
              <a:buNone/>
              <a:defRPr/>
            </a:pPr>
            <a:r>
              <a:rPr lang="en-US" sz="1400" b="1">
                <a:solidFill>
                  <a:schemeClr val="bg1"/>
                </a:solidFill>
              </a:rPr>
              <a:t>GenAI</a:t>
            </a:r>
            <a:endParaRPr lang="en-US" sz="1400"/>
          </a:p>
        </p:txBody>
      </p:sp>
      <p:sp>
        <p:nvSpPr>
          <p:cNvPr id="1325027363" name="text-9"/>
          <p:cNvSpPr txBox="1"/>
          <p:nvPr/>
        </p:nvSpPr>
        <p:spPr bwMode="auto">
          <a:xfrm>
            <a:off x="548640" y="1984248"/>
            <a:ext cx="4297680" cy="1554480"/>
          </a:xfrm>
          <a:prstGeom prst="rect">
            <a:avLst/>
          </a:prstGeom>
          <a:noFill/>
          <a:ln/>
        </p:spPr>
        <p:txBody>
          <a:bodyPr wrap="square" lIns="0" tIns="0" rIns="0" bIns="0" rtlCol="0" anchor="b"/>
          <a:lstStyle/>
          <a:p>
            <a:pPr algn="ctr">
              <a:defRPr/>
            </a:pPr>
            <a:r>
              <a:rPr sz="4800" b="1" i="0" u="none">
                <a:solidFill>
                  <a:schemeClr val="bg1"/>
                </a:solidFill>
                <a:latin typeface="Calibri"/>
                <a:ea typeface="Calibri"/>
                <a:cs typeface="Calibri"/>
              </a:rPr>
              <a:t>AI Machine Learning</a:t>
            </a:r>
            <a:endParaRPr sz="4800" b="1">
              <a:solidFill>
                <a:schemeClr val="bg1"/>
              </a:solidFill>
              <a:latin typeface="Calibri"/>
              <a:cs typeface="Calibri"/>
            </a:endParaRPr>
          </a:p>
          <a:p>
            <a:pPr algn="ctr">
              <a:defRPr/>
            </a:pPr>
            <a:r>
              <a:rPr sz="4800" b="1" i="0" u="none">
                <a:solidFill>
                  <a:schemeClr val="bg1"/>
                </a:solidFill>
                <a:latin typeface="Calibri"/>
                <a:ea typeface="Calibri"/>
                <a:cs typeface="Calibri"/>
              </a:rPr>
              <a:t>Tech Essentials</a:t>
            </a:r>
            <a:endParaRPr sz="1800" b="1"/>
          </a:p>
        </p:txBody>
      </p:sp>
      <p:sp>
        <p:nvSpPr>
          <p:cNvPr id="1469672795" name="text-10"/>
          <p:cNvSpPr txBox="1"/>
          <p:nvPr/>
        </p:nvSpPr>
        <p:spPr bwMode="auto">
          <a:xfrm flipH="0" flipV="0">
            <a:off x="640080" y="4306845"/>
            <a:ext cx="4114800" cy="530308"/>
          </a:xfrm>
          <a:prstGeom prst="rect">
            <a:avLst/>
          </a:prstGeom>
          <a:noFill/>
          <a:ln/>
        </p:spPr>
        <p:txBody>
          <a:bodyPr wrap="square" lIns="0" tIns="0" rIns="0" bIns="0" rtlCol="0" anchor="t"/>
          <a:lstStyle/>
          <a:p>
            <a:pPr marL="0" indent="0" algn="ctr">
              <a:buNone/>
              <a:defRPr/>
            </a:pPr>
            <a:r>
              <a:rPr lang="en-US" sz="1800">
                <a:solidFill>
                  <a:schemeClr val="bg1"/>
                </a:solidFill>
              </a:rPr>
              <a:t>Course Instructor:</a:t>
            </a:r>
            <a:endParaRPr sz="1800">
              <a:solidFill>
                <a:schemeClr val="bg1"/>
              </a:solidFill>
            </a:endParaRPr>
          </a:p>
          <a:p>
            <a:pPr marL="0" indent="0" algn="ctr">
              <a:buNone/>
              <a:defRPr/>
            </a:pPr>
            <a:r>
              <a:rPr lang="en-US" sz="1800">
                <a:solidFill>
                  <a:schemeClr val="bg1"/>
                </a:solidFill>
              </a:rPr>
              <a:t>Dr. Nudrat Nida</a:t>
            </a:r>
            <a:endParaRPr lang="en-US" sz="1800">
              <a:solidFill>
                <a:schemeClr val="bg2"/>
              </a:solidFill>
            </a:endParaRPr>
          </a:p>
        </p:txBody>
      </p:sp>
      <p:sp>
        <p:nvSpPr>
          <p:cNvPr id="724648617" name="text-10"/>
          <p:cNvSpPr txBox="1"/>
          <p:nvPr/>
        </p:nvSpPr>
        <p:spPr bwMode="auto">
          <a:xfrm flipH="0" flipV="0">
            <a:off x="7172432" y="182880"/>
            <a:ext cx="1853816" cy="338299"/>
          </a:xfrm>
          <a:prstGeom prst="rect">
            <a:avLst/>
          </a:prstGeom>
          <a:noFill/>
          <a:ln/>
        </p:spPr>
        <p:txBody>
          <a:bodyPr wrap="square" lIns="0" tIns="0" rIns="0" bIns="0" rtlCol="0" anchor="t"/>
          <a:lstStyle/>
          <a:p>
            <a:pPr marL="0" indent="0">
              <a:buNone/>
              <a:defRPr/>
            </a:pPr>
            <a:r>
              <a:rPr lang="en-US" sz="1800">
                <a:solidFill>
                  <a:schemeClr val="bg2"/>
                </a:solidFill>
              </a:rPr>
              <a:t>Week 1, </a:t>
            </a:r>
            <a:r>
              <a:rPr lang="en-US" sz="1800">
                <a:solidFill>
                  <a:schemeClr val="bg2"/>
                </a:solidFill>
              </a:rPr>
              <a:t>Session 1b</a:t>
            </a:r>
            <a:endParaRPr lang="en-US" sz="1800">
              <a:solidFill>
                <a:schemeClr val="bg2"/>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
    <p:spTree>
      <p:nvGrpSpPr>
        <p:cNvPr id="1" name=""/>
        <p:cNvGrpSpPr/>
        <p:nvPr/>
      </p:nvGrpSpPr>
      <p:grpSpPr bwMode="auto">
        <a:xfrm>
          <a:off x="0" y="0"/>
          <a:ext cx="0" cy="0"/>
          <a:chOff x="0" y="0"/>
          <a:chExt cx="0" cy="0"/>
        </a:xfrm>
      </p:grpSpPr>
      <p:sp>
        <p:nvSpPr>
          <p:cNvPr id="176832280" name="ring-1"/>
          <p:cNvSpPr/>
          <p:nvPr/>
        </p:nvSpPr>
        <p:spPr bwMode="auto">
          <a:xfrm>
            <a:off x="5120640" y="731520"/>
            <a:ext cx="3840480" cy="3840480"/>
          </a:xfrm>
          <a:prstGeom prst="ellipse">
            <a:avLst/>
          </a:prstGeom>
          <a:solidFill>
            <a:srgbClr val="FFFFFF">
              <a:alpha val="12000"/>
            </a:srgbClr>
          </a:solidFill>
          <a:ln w="12700">
            <a:solidFill>
              <a:srgbClr val="FFFFFF"/>
            </a:solidFill>
            <a:prstDash val="solid"/>
          </a:ln>
        </p:spPr>
      </p:sp>
      <p:sp>
        <p:nvSpPr>
          <p:cNvPr id="1144911136" name="ring-2"/>
          <p:cNvSpPr/>
          <p:nvPr/>
        </p:nvSpPr>
        <p:spPr bwMode="auto">
          <a:xfrm>
            <a:off x="5577840" y="1517904"/>
            <a:ext cx="2926080" cy="2926080"/>
          </a:xfrm>
          <a:prstGeom prst="ellipse">
            <a:avLst/>
          </a:prstGeom>
          <a:solidFill>
            <a:srgbClr val="2F6FED">
              <a:alpha val="55000"/>
            </a:srgbClr>
          </a:solidFill>
          <a:ln w="12700">
            <a:solidFill>
              <a:srgbClr val="2F6FED"/>
            </a:solidFill>
            <a:prstDash val="solid"/>
          </a:ln>
        </p:spPr>
      </p:sp>
      <p:sp>
        <p:nvSpPr>
          <p:cNvPr id="364225077" name="ring-3"/>
          <p:cNvSpPr/>
          <p:nvPr/>
        </p:nvSpPr>
        <p:spPr bwMode="auto">
          <a:xfrm>
            <a:off x="6035039" y="2304288"/>
            <a:ext cx="2011680" cy="2011680"/>
          </a:xfrm>
          <a:prstGeom prst="ellipse">
            <a:avLst/>
          </a:prstGeom>
          <a:solidFill>
            <a:srgbClr val="5B5BD6">
              <a:alpha val="75000"/>
            </a:srgbClr>
          </a:solidFill>
          <a:ln w="12700">
            <a:solidFill>
              <a:srgbClr val="5B5BD6"/>
            </a:solidFill>
            <a:prstDash val="solid"/>
          </a:ln>
        </p:spPr>
      </p:sp>
      <p:sp>
        <p:nvSpPr>
          <p:cNvPr id="872150879" name="ring-4"/>
          <p:cNvSpPr/>
          <p:nvPr/>
        </p:nvSpPr>
        <p:spPr bwMode="auto">
          <a:xfrm>
            <a:off x="6492240" y="3090672"/>
            <a:ext cx="1097280" cy="1097280"/>
          </a:xfrm>
          <a:prstGeom prst="ellipse">
            <a:avLst/>
          </a:prstGeom>
          <a:solidFill>
            <a:srgbClr val="0B8478"/>
          </a:solidFill>
          <a:ln w="12700">
            <a:solidFill>
              <a:srgbClr val="0B8478"/>
            </a:solidFill>
            <a:prstDash val="solid"/>
          </a:ln>
        </p:spPr>
      </p:sp>
      <p:sp>
        <p:nvSpPr>
          <p:cNvPr id="2089800333" name="text-5"/>
          <p:cNvSpPr txBox="1"/>
          <p:nvPr/>
        </p:nvSpPr>
        <p:spPr bwMode="auto">
          <a:xfrm>
            <a:off x="5120640" y="822960"/>
            <a:ext cx="3840480" cy="365760"/>
          </a:xfrm>
          <a:prstGeom prst="rect">
            <a:avLst/>
          </a:prstGeom>
          <a:noFill/>
          <a:ln/>
        </p:spPr>
        <p:txBody>
          <a:bodyPr wrap="square" lIns="0" tIns="0" rIns="0" bIns="0" rtlCol="0" anchor="ctr"/>
          <a:lstStyle/>
          <a:p>
            <a:pPr marL="0" indent="0" algn="ctr">
              <a:buNone/>
              <a:defRPr/>
            </a:pPr>
            <a:r>
              <a:rPr lang="en-US" sz="1400" b="1">
                <a:solidFill>
                  <a:schemeClr val="bg1"/>
                </a:solidFill>
              </a:rPr>
              <a:t>AI</a:t>
            </a:r>
            <a:endParaRPr lang="en-US" sz="1400"/>
          </a:p>
        </p:txBody>
      </p:sp>
      <p:sp>
        <p:nvSpPr>
          <p:cNvPr id="324326156" name="text-6"/>
          <p:cNvSpPr txBox="1"/>
          <p:nvPr/>
        </p:nvSpPr>
        <p:spPr bwMode="auto">
          <a:xfrm>
            <a:off x="5577840" y="1609344"/>
            <a:ext cx="2926080" cy="365760"/>
          </a:xfrm>
          <a:prstGeom prst="rect">
            <a:avLst/>
          </a:prstGeom>
          <a:noFill/>
          <a:ln/>
        </p:spPr>
        <p:txBody>
          <a:bodyPr wrap="square" lIns="0" tIns="0" rIns="0" bIns="0" rtlCol="0" anchor="ctr"/>
          <a:lstStyle/>
          <a:p>
            <a:pPr marL="0" indent="0" algn="ctr">
              <a:buNone/>
              <a:defRPr/>
            </a:pPr>
            <a:r>
              <a:rPr lang="en-US" sz="1400" b="1">
                <a:solidFill>
                  <a:schemeClr val="bg1"/>
                </a:solidFill>
              </a:rPr>
              <a:t>ML</a:t>
            </a:r>
            <a:endParaRPr lang="en-US" sz="1400"/>
          </a:p>
        </p:txBody>
      </p:sp>
      <p:sp>
        <p:nvSpPr>
          <p:cNvPr id="1712012370" name="text-7"/>
          <p:cNvSpPr txBox="1"/>
          <p:nvPr/>
        </p:nvSpPr>
        <p:spPr bwMode="auto">
          <a:xfrm>
            <a:off x="6035039" y="2395728"/>
            <a:ext cx="2011680" cy="365760"/>
          </a:xfrm>
          <a:prstGeom prst="rect">
            <a:avLst/>
          </a:prstGeom>
          <a:noFill/>
          <a:ln/>
        </p:spPr>
        <p:txBody>
          <a:bodyPr wrap="square" lIns="0" tIns="0" rIns="0" bIns="0" rtlCol="0" anchor="ctr"/>
          <a:lstStyle/>
          <a:p>
            <a:pPr marL="0" indent="0" algn="ctr">
              <a:buNone/>
              <a:defRPr/>
            </a:pPr>
            <a:r>
              <a:rPr lang="en-US" sz="1400" b="1">
                <a:solidFill>
                  <a:schemeClr val="bg1"/>
                </a:solidFill>
              </a:rPr>
              <a:t>DL</a:t>
            </a:r>
            <a:endParaRPr lang="en-US" sz="1400"/>
          </a:p>
        </p:txBody>
      </p:sp>
      <p:sp>
        <p:nvSpPr>
          <p:cNvPr id="1096201392" name="text-8"/>
          <p:cNvSpPr txBox="1"/>
          <p:nvPr/>
        </p:nvSpPr>
        <p:spPr bwMode="auto">
          <a:xfrm>
            <a:off x="6492240" y="3456432"/>
            <a:ext cx="1097280" cy="365760"/>
          </a:xfrm>
          <a:prstGeom prst="rect">
            <a:avLst/>
          </a:prstGeom>
          <a:noFill/>
          <a:ln/>
        </p:spPr>
        <p:txBody>
          <a:bodyPr wrap="square" lIns="0" tIns="0" rIns="0" bIns="0" rtlCol="0" anchor="ctr"/>
          <a:lstStyle/>
          <a:p>
            <a:pPr marL="0" indent="0" algn="ctr">
              <a:buNone/>
              <a:defRPr/>
            </a:pPr>
            <a:r>
              <a:rPr lang="en-US" sz="1400" b="1">
                <a:solidFill>
                  <a:schemeClr val="bg1"/>
                </a:solidFill>
              </a:rPr>
              <a:t>GenAI</a:t>
            </a:r>
            <a:endParaRPr lang="en-US" sz="1400"/>
          </a:p>
        </p:txBody>
      </p:sp>
      <p:sp>
        <p:nvSpPr>
          <p:cNvPr id="522025870" name="text-9"/>
          <p:cNvSpPr txBox="1"/>
          <p:nvPr/>
        </p:nvSpPr>
        <p:spPr bwMode="auto">
          <a:xfrm>
            <a:off x="640080" y="1371600"/>
            <a:ext cx="4297680" cy="1554480"/>
          </a:xfrm>
          <a:prstGeom prst="rect">
            <a:avLst/>
          </a:prstGeom>
          <a:noFill/>
          <a:ln/>
        </p:spPr>
        <p:txBody>
          <a:bodyPr wrap="square" lIns="0" tIns="0" rIns="0" bIns="0" rtlCol="0" anchor="b"/>
          <a:lstStyle/>
          <a:p>
            <a:pPr marL="0" indent="0">
              <a:buNone/>
              <a:defRPr/>
            </a:pPr>
            <a:r>
              <a:rPr lang="en-US" sz="3600" b="1">
                <a:solidFill>
                  <a:schemeClr val="bg1"/>
                </a:solidFill>
                <a:latin typeface="Cambria"/>
                <a:ea typeface="Cambria"/>
                <a:cs typeface="Cambria"/>
              </a:rPr>
              <a:t>AI, Deep Learning &amp; Generative AI</a:t>
            </a:r>
            <a:endParaRPr lang="en-US" sz="3600"/>
          </a:p>
        </p:txBody>
      </p:sp>
      <p:sp>
        <p:nvSpPr>
          <p:cNvPr id="2079260187" name="text-10"/>
          <p:cNvSpPr txBox="1"/>
          <p:nvPr/>
        </p:nvSpPr>
        <p:spPr bwMode="auto">
          <a:xfrm>
            <a:off x="640080" y="3108960"/>
            <a:ext cx="4114800" cy="1097280"/>
          </a:xfrm>
          <a:prstGeom prst="rect">
            <a:avLst/>
          </a:prstGeom>
          <a:noFill/>
          <a:ln/>
        </p:spPr>
        <p:txBody>
          <a:bodyPr wrap="square" lIns="0" tIns="0" rIns="0" bIns="0" rtlCol="0" anchor="t"/>
          <a:lstStyle/>
          <a:p>
            <a:pPr marL="0" indent="0">
              <a:buNone/>
              <a:defRPr/>
            </a:pPr>
            <a:r>
              <a:rPr lang="en-US" sz="1800">
                <a:solidFill>
                  <a:schemeClr val="bg2"/>
                </a:solidFill>
              </a:rPr>
              <a:t>Concepts, applications and the AI project life cycle, plus data analytics fundamentals</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
    <p:spTree>
      <p:nvGrpSpPr>
        <p:cNvPr id="1" name=""/>
        <p:cNvGrpSpPr/>
        <p:nvPr/>
      </p:nvGrpSpPr>
      <p:grpSpPr bwMode="auto">
        <a:xfrm>
          <a:off x="0" y="0"/>
          <a:ext cx="0" cy="0"/>
          <a:chOff x="0" y="0"/>
          <a:chExt cx="0" cy="0"/>
        </a:xfrm>
      </p:grpSpPr>
      <p:sp>
        <p:nvSpPr>
          <p:cNvPr id="1316168014" name="Text 0"/>
          <p:cNvSpPr/>
          <p:nvPr>
            <p:ph type="title" idx="100" hasCustomPrompt="1"/>
          </p:nvPr>
        </p:nvSpPr>
        <p:spPr bwMode="auto">
          <a:xfrm>
            <a:off x="457200" y="274320"/>
            <a:ext cx="8229600" cy="731520"/>
          </a:xfrm>
          <a:prstGeom prst="rect">
            <a:avLst/>
          </a:prstGeom>
          <a:noFill/>
          <a:ln/>
        </p:spPr>
        <p:txBody>
          <a:bodyPr wrap="square" lIns="0" tIns="0" rIns="0" bIns="0" rtlCol="0" anchor="ctr"/>
          <a:lstStyle/>
          <a:p>
            <a:pPr marL="0" indent="0" algn="l">
              <a:buNone/>
              <a:defRPr/>
            </a:pPr>
            <a:r>
              <a:rPr lang="en-US" sz="3000" b="1">
                <a:solidFill>
                  <a:schemeClr val="tx2"/>
                </a:solidFill>
              </a:rPr>
              <a:t>What we will cover</a:t>
            </a:r>
            <a:endParaRPr lang="en-US" sz="3000"/>
          </a:p>
        </p:txBody>
      </p:sp>
      <p:sp>
        <p:nvSpPr>
          <p:cNvPr id="2019196634" name="card-11"/>
          <p:cNvSpPr/>
          <p:nvPr/>
        </p:nvSpPr>
        <p:spPr bwMode="auto">
          <a:xfrm>
            <a:off x="457200" y="1280160"/>
            <a:ext cx="4023360" cy="3017519"/>
          </a:xfrm>
          <a:prstGeom prst="roundRect">
            <a:avLst>
              <a:gd name="adj" fmla="val 3030"/>
            </a:avLst>
          </a:prstGeom>
          <a:solidFill>
            <a:schemeClr val="bg2"/>
          </a:solidFill>
          <a:ln w="12700">
            <a:solidFill>
              <a:schemeClr val="bg2"/>
            </a:solidFill>
            <a:prstDash val="solid"/>
          </a:ln>
        </p:spPr>
      </p:sp>
      <p:sp>
        <p:nvSpPr>
          <p:cNvPr id="267428526" name="circle-13"/>
          <p:cNvSpPr/>
          <p:nvPr/>
        </p:nvSpPr>
        <p:spPr bwMode="auto">
          <a:xfrm>
            <a:off x="685800" y="1508759"/>
            <a:ext cx="548640" cy="548640"/>
          </a:xfrm>
          <a:prstGeom prst="ellipse">
            <a:avLst/>
          </a:prstGeom>
          <a:solidFill>
            <a:srgbClr val="0B8478"/>
          </a:solidFill>
          <a:ln w="12700">
            <a:solidFill>
              <a:srgbClr val="0B8478"/>
            </a:solidFill>
            <a:prstDash val="solid"/>
          </a:ln>
        </p:spPr>
      </p:sp>
      <p:pic>
        <p:nvPicPr>
          <p:cNvPr id="782127020" name="icon-14" descr="preencoded.png"/>
          <p:cNvPicPr>
            <a:picLocks noChangeAspect="1"/>
          </p:cNvPicPr>
          <p:nvPr/>
        </p:nvPicPr>
        <p:blipFill rotWithShape="1">
          <a:blip r:embed="rId3"/>
          <a:stretch/>
        </p:blipFill>
        <p:spPr bwMode="auto">
          <a:xfrm>
            <a:off x="839418" y="1662379"/>
            <a:ext cx="241402" cy="241402"/>
          </a:xfrm>
          <a:prstGeom prst="rect">
            <a:avLst/>
          </a:prstGeom>
        </p:spPr>
      </p:pic>
      <p:pic>
        <p:nvPicPr>
          <p:cNvPr id="1606737365" name="icon-16" descr="preencoded.png"/>
          <p:cNvPicPr>
            <a:picLocks noChangeAspect="1"/>
          </p:cNvPicPr>
          <p:nvPr/>
        </p:nvPicPr>
        <p:blipFill rotWithShape="1">
          <a:blip r:embed="rId4"/>
          <a:stretch/>
        </p:blipFill>
        <p:spPr bwMode="auto">
          <a:xfrm>
            <a:off x="5045659" y="1662379"/>
            <a:ext cx="241402" cy="241402"/>
          </a:xfrm>
          <a:prstGeom prst="rect">
            <a:avLst/>
          </a:prstGeom>
        </p:spPr>
      </p:pic>
      <p:sp>
        <p:nvSpPr>
          <p:cNvPr id="51705224" name="text-17"/>
          <p:cNvSpPr txBox="1"/>
          <p:nvPr/>
        </p:nvSpPr>
        <p:spPr bwMode="auto">
          <a:xfrm>
            <a:off x="1371600" y="1481328"/>
            <a:ext cx="2926080" cy="274320"/>
          </a:xfrm>
          <a:prstGeom prst="rect">
            <a:avLst/>
          </a:prstGeom>
          <a:noFill/>
          <a:ln/>
        </p:spPr>
        <p:txBody>
          <a:bodyPr wrap="square" lIns="0" tIns="0" rIns="0" bIns="0" rtlCol="0" anchor="t"/>
          <a:lstStyle/>
          <a:p>
            <a:pPr marL="0" indent="0">
              <a:buNone/>
              <a:defRPr/>
            </a:pPr>
            <a:r>
              <a:rPr lang="en-US" sz="1200" b="1">
                <a:solidFill>
                  <a:schemeClr val="accent1"/>
                </a:solidFill>
              </a:rPr>
              <a:t>Part 1b</a:t>
            </a:r>
            <a:endParaRPr lang="en-US" sz="1200"/>
          </a:p>
        </p:txBody>
      </p:sp>
      <p:sp>
        <p:nvSpPr>
          <p:cNvPr id="537147660" name="text-18"/>
          <p:cNvSpPr txBox="1"/>
          <p:nvPr/>
        </p:nvSpPr>
        <p:spPr bwMode="auto">
          <a:xfrm>
            <a:off x="1371600" y="1737360"/>
            <a:ext cx="2926080" cy="365760"/>
          </a:xfrm>
          <a:prstGeom prst="rect">
            <a:avLst/>
          </a:prstGeom>
          <a:noFill/>
          <a:ln/>
        </p:spPr>
        <p:txBody>
          <a:bodyPr wrap="square" lIns="0" tIns="0" rIns="0" bIns="0" rtlCol="0" anchor="t"/>
          <a:lstStyle/>
          <a:p>
            <a:pPr marL="0" indent="0">
              <a:buNone/>
              <a:defRPr/>
            </a:pPr>
            <a:r>
              <a:rPr lang="en-US" sz="1600" b="1">
                <a:solidFill>
                  <a:schemeClr val="tx1"/>
                </a:solidFill>
              </a:rPr>
              <a:t>AI, deep learning &amp; generative AI</a:t>
            </a:r>
            <a:endParaRPr lang="en-US" sz="1600"/>
          </a:p>
        </p:txBody>
      </p:sp>
      <p:sp>
        <p:nvSpPr>
          <p:cNvPr id="990224690" name="list-21"/>
          <p:cNvSpPr txBox="1"/>
          <p:nvPr/>
        </p:nvSpPr>
        <p:spPr bwMode="auto">
          <a:xfrm>
            <a:off x="731520" y="2423160"/>
            <a:ext cx="3474720" cy="1920240"/>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defRPr/>
            </a:pPr>
            <a:r>
              <a:rPr lang="en-US" sz="1600">
                <a:solidFill>
                  <a:schemeClr val="tx1"/>
                </a:solidFill>
              </a:rPr>
              <a:t>AI, ML and deep learning: concepts</a:t>
            </a:r>
            <a:endParaRPr lang="en-US" sz="1600"/>
          </a:p>
          <a:p>
            <a:pPr marL="342900" indent="-342900">
              <a:spcAft>
                <a:spcPts val="1000"/>
              </a:spcAft>
              <a:buSzPct val="100000"/>
              <a:buFont typeface="+mj-lt"/>
              <a:buAutoNum type="arabicPeriod" startAt="1"/>
              <a:defRPr/>
            </a:pPr>
            <a:r>
              <a:rPr lang="en-US" sz="1600">
                <a:solidFill>
                  <a:schemeClr val="tx1"/>
                </a:solidFill>
              </a:rPr>
              <a:t>Generative AI</a:t>
            </a:r>
            <a:endParaRPr lang="en-US" sz="1600"/>
          </a:p>
          <a:p>
            <a:pPr marL="342900" indent="-342900">
              <a:spcAft>
                <a:spcPts val="1000"/>
              </a:spcAft>
              <a:buSzPct val="100000"/>
              <a:buFont typeface="+mj-lt"/>
              <a:buAutoNum type="arabicPeriod" startAt="1"/>
              <a:defRPr/>
            </a:pPr>
            <a:r>
              <a:rPr lang="en-US" sz="1600">
                <a:solidFill>
                  <a:schemeClr val="tx1"/>
                </a:solidFill>
              </a:rPr>
              <a:t>Real-world applications</a:t>
            </a:r>
            <a:endParaRPr lang="en-US" sz="1600"/>
          </a:p>
          <a:p>
            <a:pPr marL="342900" indent="-342900">
              <a:spcAft>
                <a:spcPts val="1000"/>
              </a:spcAft>
              <a:buSzPct val="100000"/>
              <a:buFont typeface="+mj-lt"/>
              <a:buAutoNum type="arabicPeriod" startAt="1"/>
              <a:defRPr/>
            </a:pPr>
            <a:r>
              <a:rPr lang="en-US" sz="1600">
                <a:solidFill>
                  <a:schemeClr val="tx1"/>
                </a:solidFill>
              </a:rPr>
              <a:t>The AI project lifecycle</a:t>
            </a:r>
            <a:endParaRPr lang="en-US" sz="1600"/>
          </a:p>
        </p:txBody>
      </p:sp>
      <p:sp>
        <p:nvSpPr>
          <p:cNvPr id="1760694232" name="Slide Number Placeholder 0"/>
          <p:cNvSpPr>
            <a:spLocks noGrp="1"/>
          </p:cNvSpPr>
          <p:nvPr>
            <p:ph type="sldNum" sz="quarter" idx="4294967295"/>
          </p:nvPr>
        </p:nvSpPr>
        <p:spPr bwMode="auto">
          <a:xfrm>
            <a:off x="8229600" y="4800600"/>
            <a:ext cx="457200" cy="228600"/>
          </a:xfrm>
          <a:prstGeom prst="rect">
            <a:avLst/>
          </a:prstGeom>
        </p:spPr>
        <p:txBody>
          <a:bodyPr/>
          <a:lstStyle>
            <a:lvl1pPr>
              <a:defRPr sz="1000">
                <a:solidFill>
                  <a:schemeClr val="accent5"/>
                </a:solidFill>
              </a:defRPr>
            </a:lvl1pPr>
          </a:lstStyle>
          <a:p>
            <a:pPr algn="r">
              <a:defRPr/>
            </a:pPr>
            <a:fld id="{F7021451-1387-4CA6-816F-3879F97B5CBC}" type="slidenum">
              <a:rPr lang="en-US" b="0"/>
              <a:t>2</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
    <p:spTree>
      <p:nvGrpSpPr>
        <p:cNvPr id="1" name=""/>
        <p:cNvGrpSpPr/>
        <p:nvPr/>
      </p:nvGrpSpPr>
      <p:grpSpPr bwMode="auto">
        <a:xfrm>
          <a:off x="0" y="0"/>
          <a:ext cx="0" cy="0"/>
          <a:chOff x="0" y="0"/>
          <a:chExt cx="0" cy="0"/>
        </a:xfrm>
      </p:grpSpPr>
      <p:sp>
        <p:nvSpPr>
          <p:cNvPr id="725427783" name="text-23"/>
          <p:cNvSpPr txBox="1"/>
          <p:nvPr/>
        </p:nvSpPr>
        <p:spPr bwMode="auto">
          <a:xfrm>
            <a:off x="822960" y="914400"/>
            <a:ext cx="2743200" cy="1097280"/>
          </a:xfrm>
          <a:prstGeom prst="rect">
            <a:avLst/>
          </a:prstGeom>
          <a:noFill/>
          <a:ln/>
        </p:spPr>
        <p:txBody>
          <a:bodyPr wrap="square" lIns="0" tIns="0" rIns="0" bIns="0" rtlCol="0" anchor="t"/>
          <a:lstStyle/>
          <a:p>
            <a:pPr marL="0" indent="0">
              <a:buNone/>
              <a:defRPr/>
            </a:pPr>
            <a:r>
              <a:rPr lang="en-US" sz="7200" b="1">
                <a:solidFill>
                  <a:schemeClr val="accent2"/>
                </a:solidFill>
              </a:rPr>
              <a:t>01</a:t>
            </a:r>
            <a:endParaRPr lang="en-US" sz="7200"/>
          </a:p>
        </p:txBody>
      </p:sp>
      <p:sp>
        <p:nvSpPr>
          <p:cNvPr id="444307227" name="text-24"/>
          <p:cNvSpPr txBox="1"/>
          <p:nvPr/>
        </p:nvSpPr>
        <p:spPr bwMode="auto">
          <a:xfrm>
            <a:off x="822960" y="2011680"/>
            <a:ext cx="5669280" cy="1188720"/>
          </a:xfrm>
          <a:prstGeom prst="rect">
            <a:avLst/>
          </a:prstGeom>
          <a:noFill/>
          <a:ln/>
        </p:spPr>
        <p:txBody>
          <a:bodyPr wrap="square" lIns="0" tIns="0" rIns="0" bIns="0" rtlCol="0" anchor="b"/>
          <a:lstStyle/>
          <a:p>
            <a:pPr marL="0" indent="0">
              <a:buNone/>
              <a:defRPr/>
            </a:pPr>
            <a:r>
              <a:rPr lang="en-US" sz="3600" b="1">
                <a:solidFill>
                  <a:schemeClr val="bg1"/>
                </a:solidFill>
                <a:latin typeface="Cambria"/>
                <a:ea typeface="Cambria"/>
                <a:cs typeface="Cambria"/>
              </a:rPr>
              <a:t>AI and machine learning</a:t>
            </a:r>
            <a:endParaRPr lang="en-US" sz="3600"/>
          </a:p>
        </p:txBody>
      </p:sp>
      <p:sp>
        <p:nvSpPr>
          <p:cNvPr id="1398665036" name="text-25"/>
          <p:cNvSpPr txBox="1"/>
          <p:nvPr/>
        </p:nvSpPr>
        <p:spPr bwMode="auto">
          <a:xfrm>
            <a:off x="822960" y="3383280"/>
            <a:ext cx="5486400" cy="822960"/>
          </a:xfrm>
          <a:prstGeom prst="rect">
            <a:avLst/>
          </a:prstGeom>
          <a:noFill/>
          <a:ln/>
        </p:spPr>
        <p:txBody>
          <a:bodyPr wrap="square" lIns="0" tIns="0" rIns="0" bIns="0" rtlCol="0" anchor="t"/>
          <a:lstStyle/>
          <a:p>
            <a:pPr marL="0" indent="0">
              <a:buNone/>
              <a:defRPr/>
            </a:pPr>
            <a:r>
              <a:rPr lang="en-US" sz="1800">
                <a:solidFill>
                  <a:schemeClr val="bg2"/>
                </a:solidFill>
              </a:rPr>
              <a:t>What AI is, the main ways to build it, and how machines learn</a:t>
            </a:r>
            <a:endParaRPr lang="en-US" sz="1800"/>
          </a:p>
        </p:txBody>
      </p:sp>
      <p:sp>
        <p:nvSpPr>
          <p:cNvPr id="912870525" name="circle-26"/>
          <p:cNvSpPr/>
          <p:nvPr/>
        </p:nvSpPr>
        <p:spPr bwMode="auto">
          <a:xfrm>
            <a:off x="6766560" y="1371600"/>
            <a:ext cx="1737360" cy="1737360"/>
          </a:xfrm>
          <a:prstGeom prst="ellipse">
            <a:avLst/>
          </a:prstGeom>
          <a:solidFill>
            <a:srgbClr val="0B8478"/>
          </a:solidFill>
          <a:ln w="12700">
            <a:solidFill>
              <a:srgbClr val="0B8478"/>
            </a:solidFill>
            <a:prstDash val="solid"/>
          </a:ln>
        </p:spPr>
      </p:sp>
      <p:pic>
        <p:nvPicPr>
          <p:cNvPr id="531409357" name="icon-27" descr="preencoded.png"/>
          <p:cNvPicPr>
            <a:picLocks noChangeAspect="1"/>
          </p:cNvPicPr>
          <p:nvPr/>
        </p:nvPicPr>
        <p:blipFill rotWithShape="1">
          <a:blip r:embed="rId3"/>
          <a:stretch/>
        </p:blipFill>
        <p:spPr bwMode="auto">
          <a:xfrm>
            <a:off x="7223760" y="1828800"/>
            <a:ext cx="822960" cy="82296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
    <p:spTree>
      <p:nvGrpSpPr>
        <p:cNvPr id="1" name=""/>
        <p:cNvGrpSpPr/>
        <p:nvPr/>
      </p:nvGrpSpPr>
      <p:grpSpPr bwMode="auto">
        <a:xfrm>
          <a:off x="0" y="0"/>
          <a:ext cx="0" cy="0"/>
          <a:chOff x="0" y="0"/>
          <a:chExt cx="0" cy="0"/>
        </a:xfrm>
      </p:grpSpPr>
      <p:sp>
        <p:nvSpPr>
          <p:cNvPr id="1283741578" name="Text 0"/>
          <p:cNvSpPr/>
          <p:nvPr>
            <p:ph type="title" idx="100" hasCustomPrompt="1"/>
          </p:nvPr>
        </p:nvSpPr>
        <p:spPr bwMode="auto">
          <a:xfrm>
            <a:off x="457200" y="274320"/>
            <a:ext cx="8229600" cy="731520"/>
          </a:xfrm>
          <a:prstGeom prst="rect">
            <a:avLst/>
          </a:prstGeom>
          <a:noFill/>
          <a:ln/>
        </p:spPr>
        <p:txBody>
          <a:bodyPr wrap="square" lIns="0" tIns="0" rIns="0" bIns="0" rtlCol="0" anchor="ctr"/>
          <a:lstStyle/>
          <a:p>
            <a:pPr marL="0" indent="0" algn="l">
              <a:buNone/>
              <a:defRPr/>
            </a:pPr>
            <a:r>
              <a:rPr lang="en-US" sz="3000" b="1">
                <a:solidFill>
                  <a:schemeClr val="tx2"/>
                </a:solidFill>
              </a:rPr>
              <a:t>AI, ML, deep learning, generative AI</a:t>
            </a:r>
            <a:endParaRPr lang="en-US" sz="3000"/>
          </a:p>
        </p:txBody>
      </p:sp>
      <p:sp>
        <p:nvSpPr>
          <p:cNvPr id="1705901920" name="ring-28"/>
          <p:cNvSpPr/>
          <p:nvPr/>
        </p:nvSpPr>
        <p:spPr bwMode="auto">
          <a:xfrm>
            <a:off x="594360" y="1280160"/>
            <a:ext cx="3383280" cy="3383280"/>
          </a:xfrm>
          <a:prstGeom prst="ellipse">
            <a:avLst/>
          </a:prstGeom>
          <a:solidFill>
            <a:srgbClr val="64748B">
              <a:alpha val="18000"/>
            </a:srgbClr>
          </a:solidFill>
          <a:ln w="12700">
            <a:solidFill>
              <a:srgbClr val="64748B"/>
            </a:solidFill>
            <a:prstDash val="solid"/>
          </a:ln>
        </p:spPr>
      </p:sp>
      <p:sp>
        <p:nvSpPr>
          <p:cNvPr id="1436997574" name="ring-29"/>
          <p:cNvSpPr/>
          <p:nvPr/>
        </p:nvSpPr>
        <p:spPr bwMode="auto">
          <a:xfrm>
            <a:off x="960120" y="1883664"/>
            <a:ext cx="2651760" cy="2651760"/>
          </a:xfrm>
          <a:prstGeom prst="ellipse">
            <a:avLst/>
          </a:prstGeom>
          <a:solidFill>
            <a:srgbClr val="2F6FED">
              <a:alpha val="30000"/>
            </a:srgbClr>
          </a:solidFill>
          <a:ln w="12700">
            <a:solidFill>
              <a:srgbClr val="2F6FED"/>
            </a:solidFill>
            <a:prstDash val="solid"/>
          </a:ln>
        </p:spPr>
      </p:sp>
      <p:sp>
        <p:nvSpPr>
          <p:cNvPr id="1891359605" name="ring-30"/>
          <p:cNvSpPr/>
          <p:nvPr/>
        </p:nvSpPr>
        <p:spPr bwMode="auto">
          <a:xfrm>
            <a:off x="1325880" y="2487168"/>
            <a:ext cx="1920240" cy="1920240"/>
          </a:xfrm>
          <a:prstGeom prst="ellipse">
            <a:avLst/>
          </a:prstGeom>
          <a:solidFill>
            <a:srgbClr val="5B5BD6">
              <a:alpha val="45000"/>
            </a:srgbClr>
          </a:solidFill>
          <a:ln w="12700">
            <a:solidFill>
              <a:srgbClr val="5B5BD6"/>
            </a:solidFill>
            <a:prstDash val="solid"/>
          </a:ln>
        </p:spPr>
      </p:sp>
      <p:sp>
        <p:nvSpPr>
          <p:cNvPr id="573839452" name="ring-31"/>
          <p:cNvSpPr/>
          <p:nvPr/>
        </p:nvSpPr>
        <p:spPr bwMode="auto">
          <a:xfrm>
            <a:off x="1691640" y="3090672"/>
            <a:ext cx="1188720" cy="1188720"/>
          </a:xfrm>
          <a:prstGeom prst="ellipse">
            <a:avLst/>
          </a:prstGeom>
          <a:solidFill>
            <a:srgbClr val="0B8478"/>
          </a:solidFill>
          <a:ln w="12700">
            <a:solidFill>
              <a:srgbClr val="0B8478"/>
            </a:solidFill>
            <a:prstDash val="solid"/>
          </a:ln>
        </p:spPr>
      </p:sp>
      <p:sp>
        <p:nvSpPr>
          <p:cNvPr id="1088350236" name="text-32"/>
          <p:cNvSpPr txBox="1"/>
          <p:nvPr/>
        </p:nvSpPr>
        <p:spPr bwMode="auto">
          <a:xfrm>
            <a:off x="594360" y="1371600"/>
            <a:ext cx="3383280" cy="365760"/>
          </a:xfrm>
          <a:prstGeom prst="rect">
            <a:avLst/>
          </a:prstGeom>
          <a:noFill/>
          <a:ln/>
        </p:spPr>
        <p:txBody>
          <a:bodyPr wrap="square" lIns="0" tIns="0" rIns="0" bIns="0" rtlCol="0" anchor="ctr"/>
          <a:lstStyle/>
          <a:p>
            <a:pPr marL="0" indent="0" algn="ctr">
              <a:buNone/>
              <a:defRPr/>
            </a:pPr>
            <a:r>
              <a:rPr lang="en-US" sz="1400" b="1">
                <a:solidFill>
                  <a:schemeClr val="tx1"/>
                </a:solidFill>
              </a:rPr>
              <a:t>Artificial intelligence</a:t>
            </a:r>
            <a:endParaRPr lang="en-US" sz="1400"/>
          </a:p>
        </p:txBody>
      </p:sp>
      <p:sp>
        <p:nvSpPr>
          <p:cNvPr id="1064358028" name="text-33"/>
          <p:cNvSpPr txBox="1"/>
          <p:nvPr/>
        </p:nvSpPr>
        <p:spPr bwMode="auto">
          <a:xfrm>
            <a:off x="960120" y="1975104"/>
            <a:ext cx="2651760" cy="365760"/>
          </a:xfrm>
          <a:prstGeom prst="rect">
            <a:avLst/>
          </a:prstGeom>
          <a:noFill/>
          <a:ln/>
        </p:spPr>
        <p:txBody>
          <a:bodyPr wrap="square" lIns="0" tIns="0" rIns="0" bIns="0" rtlCol="0" anchor="ctr"/>
          <a:lstStyle/>
          <a:p>
            <a:pPr marL="0" indent="0" algn="ctr">
              <a:buNone/>
              <a:defRPr/>
            </a:pPr>
            <a:r>
              <a:rPr lang="en-US" sz="1400" b="1">
                <a:solidFill>
                  <a:schemeClr val="tx1"/>
                </a:solidFill>
              </a:rPr>
              <a:t>Machine learning</a:t>
            </a:r>
            <a:endParaRPr lang="en-US" sz="1400"/>
          </a:p>
        </p:txBody>
      </p:sp>
      <p:sp>
        <p:nvSpPr>
          <p:cNvPr id="1219886540" name="text-34"/>
          <p:cNvSpPr txBox="1"/>
          <p:nvPr/>
        </p:nvSpPr>
        <p:spPr bwMode="auto">
          <a:xfrm>
            <a:off x="1325880" y="2578608"/>
            <a:ext cx="1920240" cy="365760"/>
          </a:xfrm>
          <a:prstGeom prst="rect">
            <a:avLst/>
          </a:prstGeom>
          <a:noFill/>
          <a:ln/>
        </p:spPr>
        <p:txBody>
          <a:bodyPr wrap="square" lIns="0" tIns="0" rIns="0" bIns="0" rtlCol="0" anchor="ctr"/>
          <a:lstStyle/>
          <a:p>
            <a:pPr marL="0" indent="0" algn="ctr">
              <a:buNone/>
              <a:defRPr/>
            </a:pPr>
            <a:r>
              <a:rPr lang="en-US" sz="1400" b="1">
                <a:solidFill>
                  <a:schemeClr val="bg1"/>
                </a:solidFill>
              </a:rPr>
              <a:t>Deep learning</a:t>
            </a:r>
            <a:endParaRPr lang="en-US" sz="1400"/>
          </a:p>
        </p:txBody>
      </p:sp>
      <p:sp>
        <p:nvSpPr>
          <p:cNvPr id="696931090" name="text-35"/>
          <p:cNvSpPr txBox="1"/>
          <p:nvPr/>
        </p:nvSpPr>
        <p:spPr bwMode="auto">
          <a:xfrm>
            <a:off x="1691640" y="3502152"/>
            <a:ext cx="1188720" cy="365760"/>
          </a:xfrm>
          <a:prstGeom prst="rect">
            <a:avLst/>
          </a:prstGeom>
          <a:noFill/>
          <a:ln/>
        </p:spPr>
        <p:txBody>
          <a:bodyPr wrap="square" lIns="0" tIns="0" rIns="0" bIns="0" rtlCol="0" anchor="ctr"/>
          <a:lstStyle/>
          <a:p>
            <a:pPr marL="0" indent="0" algn="ctr">
              <a:buNone/>
              <a:defRPr/>
            </a:pPr>
            <a:r>
              <a:rPr lang="en-US" sz="1400" b="1">
                <a:solidFill>
                  <a:schemeClr val="bg1"/>
                </a:solidFill>
              </a:rPr>
              <a:t>GenAI</a:t>
            </a:r>
            <a:endParaRPr lang="en-US" sz="1400"/>
          </a:p>
        </p:txBody>
      </p:sp>
      <p:sp>
        <p:nvSpPr>
          <p:cNvPr id="574828974" name="text-36"/>
          <p:cNvSpPr txBox="1"/>
          <p:nvPr/>
        </p:nvSpPr>
        <p:spPr bwMode="auto">
          <a:xfrm>
            <a:off x="4480560" y="1280160"/>
            <a:ext cx="4206240" cy="292608"/>
          </a:xfrm>
          <a:prstGeom prst="rect">
            <a:avLst/>
          </a:prstGeom>
          <a:noFill/>
          <a:ln/>
        </p:spPr>
        <p:txBody>
          <a:bodyPr wrap="square" lIns="0" tIns="0" rIns="0" bIns="0" rtlCol="0" anchor="t"/>
          <a:lstStyle/>
          <a:p>
            <a:pPr marL="0" indent="0">
              <a:buNone/>
              <a:defRPr/>
            </a:pPr>
            <a:r>
              <a:rPr lang="en-US" sz="1700" b="1">
                <a:solidFill>
                  <a:schemeClr val="accent5"/>
                </a:solidFill>
              </a:rPr>
              <a:t>Artificial intelligence</a:t>
            </a:r>
            <a:endParaRPr lang="en-US" sz="1700"/>
          </a:p>
        </p:txBody>
      </p:sp>
      <p:sp>
        <p:nvSpPr>
          <p:cNvPr id="812878332" name="text-37"/>
          <p:cNvSpPr txBox="1"/>
          <p:nvPr/>
        </p:nvSpPr>
        <p:spPr bwMode="auto">
          <a:xfrm>
            <a:off x="4480560" y="1591056"/>
            <a:ext cx="4206240" cy="502920"/>
          </a:xfrm>
          <a:prstGeom prst="rect">
            <a:avLst/>
          </a:prstGeom>
          <a:noFill/>
          <a:ln/>
        </p:spPr>
        <p:txBody>
          <a:bodyPr wrap="square" lIns="0" tIns="0" rIns="0" bIns="0" rtlCol="0" anchor="t"/>
          <a:lstStyle/>
          <a:p>
            <a:pPr marL="0" indent="0">
              <a:buNone/>
              <a:defRPr/>
            </a:pPr>
            <a:r>
              <a:rPr lang="en-US" sz="1400">
                <a:solidFill>
                  <a:schemeClr val="tx1"/>
                </a:solidFill>
              </a:rPr>
              <a:t>Machines doing tasks that normally need human intelligence.</a:t>
            </a:r>
            <a:endParaRPr lang="en-US" sz="1400"/>
          </a:p>
        </p:txBody>
      </p:sp>
      <p:sp>
        <p:nvSpPr>
          <p:cNvPr id="810225587" name="text-38"/>
          <p:cNvSpPr txBox="1"/>
          <p:nvPr/>
        </p:nvSpPr>
        <p:spPr bwMode="auto">
          <a:xfrm>
            <a:off x="4480560" y="2148840"/>
            <a:ext cx="4206240" cy="292608"/>
          </a:xfrm>
          <a:prstGeom prst="rect">
            <a:avLst/>
          </a:prstGeom>
          <a:noFill/>
          <a:ln/>
        </p:spPr>
        <p:txBody>
          <a:bodyPr wrap="square" lIns="0" tIns="0" rIns="0" bIns="0" rtlCol="0" anchor="t"/>
          <a:lstStyle/>
          <a:p>
            <a:pPr marL="0" indent="0">
              <a:buNone/>
              <a:defRPr/>
            </a:pPr>
            <a:r>
              <a:rPr lang="en-US" sz="1700" b="1">
                <a:solidFill>
                  <a:schemeClr val="accent6"/>
                </a:solidFill>
              </a:rPr>
              <a:t>Machine learning</a:t>
            </a:r>
            <a:endParaRPr lang="en-US" sz="1700"/>
          </a:p>
        </p:txBody>
      </p:sp>
      <p:sp>
        <p:nvSpPr>
          <p:cNvPr id="1142260790" name="text-39"/>
          <p:cNvSpPr txBox="1"/>
          <p:nvPr/>
        </p:nvSpPr>
        <p:spPr bwMode="auto">
          <a:xfrm>
            <a:off x="4480560" y="2459735"/>
            <a:ext cx="4206240" cy="502920"/>
          </a:xfrm>
          <a:prstGeom prst="rect">
            <a:avLst/>
          </a:prstGeom>
          <a:noFill/>
          <a:ln/>
        </p:spPr>
        <p:txBody>
          <a:bodyPr wrap="square" lIns="0" tIns="0" rIns="0" bIns="0" rtlCol="0" anchor="t"/>
          <a:lstStyle/>
          <a:p>
            <a:pPr marL="0" indent="0">
              <a:buNone/>
              <a:defRPr/>
            </a:pPr>
            <a:r>
              <a:rPr lang="en-US" sz="1400">
                <a:solidFill>
                  <a:schemeClr val="tx1"/>
                </a:solidFill>
              </a:rPr>
              <a:t>AI that learns patterns from data instead of following hand-written rules.</a:t>
            </a:r>
            <a:endParaRPr lang="en-US" sz="1400"/>
          </a:p>
        </p:txBody>
      </p:sp>
      <p:sp>
        <p:nvSpPr>
          <p:cNvPr id="1903659116" name="text-40"/>
          <p:cNvSpPr txBox="1"/>
          <p:nvPr/>
        </p:nvSpPr>
        <p:spPr bwMode="auto">
          <a:xfrm>
            <a:off x="4480560" y="3017519"/>
            <a:ext cx="4206240" cy="292608"/>
          </a:xfrm>
          <a:prstGeom prst="rect">
            <a:avLst/>
          </a:prstGeom>
          <a:noFill/>
          <a:ln/>
        </p:spPr>
        <p:txBody>
          <a:bodyPr wrap="square" lIns="0" tIns="0" rIns="0" bIns="0" rtlCol="0" anchor="t"/>
          <a:lstStyle/>
          <a:p>
            <a:pPr marL="0" indent="0">
              <a:buNone/>
              <a:defRPr/>
            </a:pPr>
            <a:r>
              <a:rPr lang="en-US" sz="1700" b="1">
                <a:solidFill>
                  <a:schemeClr val="accent3"/>
                </a:solidFill>
              </a:rPr>
              <a:t>Deep learning</a:t>
            </a:r>
            <a:endParaRPr lang="en-US" sz="1700"/>
          </a:p>
        </p:txBody>
      </p:sp>
      <p:sp>
        <p:nvSpPr>
          <p:cNvPr id="830875199" name="text-41"/>
          <p:cNvSpPr txBox="1"/>
          <p:nvPr/>
        </p:nvSpPr>
        <p:spPr bwMode="auto">
          <a:xfrm>
            <a:off x="4480560" y="3328416"/>
            <a:ext cx="4206240" cy="502920"/>
          </a:xfrm>
          <a:prstGeom prst="rect">
            <a:avLst/>
          </a:prstGeom>
          <a:noFill/>
          <a:ln/>
        </p:spPr>
        <p:txBody>
          <a:bodyPr wrap="square" lIns="0" tIns="0" rIns="0" bIns="0" rtlCol="0" anchor="t"/>
          <a:lstStyle/>
          <a:p>
            <a:pPr marL="0" indent="0">
              <a:buNone/>
              <a:defRPr/>
            </a:pPr>
            <a:r>
              <a:rPr lang="en-US" sz="1400">
                <a:solidFill>
                  <a:schemeClr val="tx1"/>
                </a:solidFill>
              </a:rPr>
              <a:t>ML using many-layered neural networks that learn features automatically.</a:t>
            </a:r>
            <a:endParaRPr lang="en-US" sz="1400"/>
          </a:p>
        </p:txBody>
      </p:sp>
      <p:sp>
        <p:nvSpPr>
          <p:cNvPr id="1328350420" name="text-42"/>
          <p:cNvSpPr txBox="1"/>
          <p:nvPr/>
        </p:nvSpPr>
        <p:spPr bwMode="auto">
          <a:xfrm>
            <a:off x="4480560" y="3886200"/>
            <a:ext cx="4206240" cy="292608"/>
          </a:xfrm>
          <a:prstGeom prst="rect">
            <a:avLst/>
          </a:prstGeom>
          <a:noFill/>
          <a:ln/>
        </p:spPr>
        <p:txBody>
          <a:bodyPr wrap="square" lIns="0" tIns="0" rIns="0" bIns="0" rtlCol="0" anchor="t"/>
          <a:lstStyle/>
          <a:p>
            <a:pPr marL="0" indent="0">
              <a:buNone/>
              <a:defRPr/>
            </a:pPr>
            <a:r>
              <a:rPr lang="en-US" sz="1700" b="1">
                <a:solidFill>
                  <a:schemeClr val="accent1"/>
                </a:solidFill>
              </a:rPr>
              <a:t>Generative AI</a:t>
            </a:r>
            <a:endParaRPr lang="en-US" sz="1700"/>
          </a:p>
        </p:txBody>
      </p:sp>
      <p:sp>
        <p:nvSpPr>
          <p:cNvPr id="325263934" name="text-43"/>
          <p:cNvSpPr txBox="1"/>
          <p:nvPr/>
        </p:nvSpPr>
        <p:spPr bwMode="auto">
          <a:xfrm>
            <a:off x="4480560" y="4197096"/>
            <a:ext cx="4206240" cy="502920"/>
          </a:xfrm>
          <a:prstGeom prst="rect">
            <a:avLst/>
          </a:prstGeom>
          <a:noFill/>
          <a:ln/>
        </p:spPr>
        <p:txBody>
          <a:bodyPr wrap="square" lIns="0" tIns="0" rIns="0" bIns="0" rtlCol="0" anchor="t"/>
          <a:lstStyle/>
          <a:p>
            <a:pPr marL="0" indent="0">
              <a:buNone/>
              <a:defRPr/>
            </a:pPr>
            <a:r>
              <a:rPr lang="en-US" sz="1400">
                <a:solidFill>
                  <a:schemeClr val="tx1"/>
                </a:solidFill>
              </a:rPr>
              <a:t>Deep learning models that create new text, images, audio or code.</a:t>
            </a:r>
            <a:endParaRPr lang="en-US" sz="1400"/>
          </a:p>
        </p:txBody>
      </p:sp>
      <p:sp>
        <p:nvSpPr>
          <p:cNvPr id="1029131744" name="Slide Number Placeholder 0"/>
          <p:cNvSpPr>
            <a:spLocks noGrp="1"/>
          </p:cNvSpPr>
          <p:nvPr>
            <p:ph type="sldNum" sz="quarter" idx="4294967295"/>
          </p:nvPr>
        </p:nvSpPr>
        <p:spPr bwMode="auto">
          <a:xfrm>
            <a:off x="8229600" y="4800600"/>
            <a:ext cx="457200" cy="228600"/>
          </a:xfrm>
          <a:prstGeom prst="rect">
            <a:avLst/>
          </a:prstGeom>
        </p:spPr>
        <p:txBody>
          <a:bodyPr/>
          <a:lstStyle>
            <a:lvl1pPr>
              <a:defRPr sz="1000">
                <a:solidFill>
                  <a:schemeClr val="accent5"/>
                </a:solidFill>
              </a:defRPr>
            </a:lvl1pPr>
          </a:lstStyle>
          <a:p>
            <a:pPr algn="r">
              <a:defRPr/>
            </a:pPr>
            <a:fld id="{F7021451-1387-4CA6-816F-3879F97B5CBC}" type="slidenum">
              <a:rPr lang="en-US" b="0"/>
              <a:t>4</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
    <p:spTree>
      <p:nvGrpSpPr>
        <p:cNvPr id="1" name=""/>
        <p:cNvGrpSpPr/>
        <p:nvPr/>
      </p:nvGrpSpPr>
      <p:grpSpPr bwMode="auto">
        <a:xfrm>
          <a:off x="0" y="0"/>
          <a:ext cx="0" cy="0"/>
          <a:chOff x="0" y="0"/>
          <a:chExt cx="0" cy="0"/>
        </a:xfrm>
      </p:grpSpPr>
      <p:sp>
        <p:nvSpPr>
          <p:cNvPr id="1214327345" name="Text 0"/>
          <p:cNvSpPr/>
          <p:nvPr>
            <p:ph type="title" idx="100" hasCustomPrompt="1"/>
          </p:nvPr>
        </p:nvSpPr>
        <p:spPr bwMode="auto">
          <a:xfrm>
            <a:off x="457200" y="274320"/>
            <a:ext cx="8229600" cy="731520"/>
          </a:xfrm>
          <a:prstGeom prst="rect">
            <a:avLst/>
          </a:prstGeom>
          <a:noFill/>
          <a:ln/>
        </p:spPr>
        <p:txBody>
          <a:bodyPr wrap="square" lIns="0" tIns="0" rIns="0" bIns="0" rtlCol="0" anchor="ctr"/>
          <a:lstStyle/>
          <a:p>
            <a:pPr marL="0" indent="0" algn="l">
              <a:buNone/>
              <a:defRPr/>
            </a:pPr>
            <a:r>
              <a:rPr lang="en-US" sz="3000" b="1">
                <a:solidFill>
                  <a:schemeClr val="tx2"/>
                </a:solidFill>
              </a:rPr>
              <a:t>AI can be general or narrow</a:t>
            </a:r>
            <a:endParaRPr lang="en-US" sz="3000"/>
          </a:p>
        </p:txBody>
      </p:sp>
      <p:sp>
        <p:nvSpPr>
          <p:cNvPr id="1729261480" name="card-44"/>
          <p:cNvSpPr/>
          <p:nvPr/>
        </p:nvSpPr>
        <p:spPr bwMode="auto">
          <a:xfrm>
            <a:off x="457200" y="1234440"/>
            <a:ext cx="3977640" cy="1508759"/>
          </a:xfrm>
          <a:prstGeom prst="roundRect">
            <a:avLst>
              <a:gd name="adj" fmla="val 6061"/>
            </a:avLst>
          </a:prstGeom>
          <a:solidFill>
            <a:schemeClr val="bg2"/>
          </a:solidFill>
          <a:ln w="12700">
            <a:solidFill>
              <a:schemeClr val="bg2"/>
            </a:solidFill>
            <a:prstDash val="solid"/>
          </a:ln>
        </p:spPr>
      </p:sp>
      <p:sp>
        <p:nvSpPr>
          <p:cNvPr id="2104349245" name="card-45"/>
          <p:cNvSpPr/>
          <p:nvPr/>
        </p:nvSpPr>
        <p:spPr bwMode="auto">
          <a:xfrm>
            <a:off x="4709160" y="1234440"/>
            <a:ext cx="3977640" cy="1508759"/>
          </a:xfrm>
          <a:prstGeom prst="roundRect">
            <a:avLst>
              <a:gd name="adj" fmla="val 6061"/>
            </a:avLst>
          </a:prstGeom>
          <a:solidFill>
            <a:schemeClr val="bg2"/>
          </a:solidFill>
          <a:ln w="12700">
            <a:solidFill>
              <a:schemeClr val="bg2"/>
            </a:solidFill>
            <a:prstDash val="solid"/>
          </a:ln>
        </p:spPr>
      </p:sp>
      <p:sp>
        <p:nvSpPr>
          <p:cNvPr id="1775408156" name="circle-46"/>
          <p:cNvSpPr/>
          <p:nvPr/>
        </p:nvSpPr>
        <p:spPr bwMode="auto">
          <a:xfrm>
            <a:off x="685800" y="1463040"/>
            <a:ext cx="502920" cy="502920"/>
          </a:xfrm>
          <a:prstGeom prst="ellipse">
            <a:avLst/>
          </a:prstGeom>
          <a:solidFill>
            <a:srgbClr val="64748B"/>
          </a:solidFill>
          <a:ln w="12700">
            <a:solidFill>
              <a:srgbClr val="64748B"/>
            </a:solidFill>
            <a:prstDash val="solid"/>
          </a:ln>
        </p:spPr>
      </p:sp>
      <p:pic>
        <p:nvPicPr>
          <p:cNvPr id="566653596" name="icon-47" descr="preencoded.png"/>
          <p:cNvPicPr>
            <a:picLocks noChangeAspect="1"/>
          </p:cNvPicPr>
          <p:nvPr/>
        </p:nvPicPr>
        <p:blipFill rotWithShape="1">
          <a:blip r:embed="rId3"/>
          <a:stretch/>
        </p:blipFill>
        <p:spPr bwMode="auto">
          <a:xfrm>
            <a:off x="826618" y="1603858"/>
            <a:ext cx="221285" cy="221285"/>
          </a:xfrm>
          <a:prstGeom prst="rect">
            <a:avLst/>
          </a:prstGeom>
        </p:spPr>
      </p:pic>
      <p:sp>
        <p:nvSpPr>
          <p:cNvPr id="1733847101" name="circle-48"/>
          <p:cNvSpPr/>
          <p:nvPr/>
        </p:nvSpPr>
        <p:spPr bwMode="auto">
          <a:xfrm>
            <a:off x="4937760" y="1463040"/>
            <a:ext cx="502920" cy="502920"/>
          </a:xfrm>
          <a:prstGeom prst="ellipse">
            <a:avLst/>
          </a:prstGeom>
          <a:solidFill>
            <a:srgbClr val="0B8478"/>
          </a:solidFill>
          <a:ln w="12700">
            <a:solidFill>
              <a:srgbClr val="0B8478"/>
            </a:solidFill>
            <a:prstDash val="solid"/>
          </a:ln>
        </p:spPr>
      </p:sp>
      <p:pic>
        <p:nvPicPr>
          <p:cNvPr id="1366134405" name="icon-49" descr="preencoded.png"/>
          <p:cNvPicPr>
            <a:picLocks noChangeAspect="1"/>
          </p:cNvPicPr>
          <p:nvPr/>
        </p:nvPicPr>
        <p:blipFill rotWithShape="1">
          <a:blip r:embed="rId4"/>
          <a:stretch/>
        </p:blipFill>
        <p:spPr bwMode="auto">
          <a:xfrm>
            <a:off x="5078578" y="1603858"/>
            <a:ext cx="221285" cy="221285"/>
          </a:xfrm>
          <a:prstGeom prst="rect">
            <a:avLst/>
          </a:prstGeom>
        </p:spPr>
      </p:pic>
      <p:sp>
        <p:nvSpPr>
          <p:cNvPr id="2137335293" name="text-50"/>
          <p:cNvSpPr txBox="1"/>
          <p:nvPr/>
        </p:nvSpPr>
        <p:spPr bwMode="auto">
          <a:xfrm>
            <a:off x="1325880" y="1536192"/>
            <a:ext cx="2926080" cy="365760"/>
          </a:xfrm>
          <a:prstGeom prst="rect">
            <a:avLst/>
          </a:prstGeom>
          <a:noFill/>
          <a:ln/>
        </p:spPr>
        <p:txBody>
          <a:bodyPr wrap="square" lIns="0" tIns="0" rIns="0" bIns="0" rtlCol="0" anchor="t"/>
          <a:lstStyle/>
          <a:p>
            <a:pPr marL="0" indent="0">
              <a:buNone/>
              <a:defRPr/>
            </a:pPr>
            <a:r>
              <a:rPr lang="en-US" sz="1800" b="1">
                <a:solidFill>
                  <a:schemeClr val="tx1"/>
                </a:solidFill>
              </a:rPr>
              <a:t>General AI</a:t>
            </a:r>
            <a:endParaRPr lang="en-US" sz="1800"/>
          </a:p>
        </p:txBody>
      </p:sp>
      <p:sp>
        <p:nvSpPr>
          <p:cNvPr id="301508761" name="text-51"/>
          <p:cNvSpPr txBox="1"/>
          <p:nvPr/>
        </p:nvSpPr>
        <p:spPr bwMode="auto">
          <a:xfrm>
            <a:off x="685800" y="2103120"/>
            <a:ext cx="3520440" cy="548640"/>
          </a:xfrm>
          <a:prstGeom prst="rect">
            <a:avLst/>
          </a:prstGeom>
          <a:noFill/>
          <a:ln/>
        </p:spPr>
        <p:txBody>
          <a:bodyPr wrap="square" lIns="0" tIns="0" rIns="0" bIns="0" rtlCol="0" anchor="t"/>
          <a:lstStyle/>
          <a:p>
            <a:pPr marL="0" indent="0">
              <a:buNone/>
              <a:defRPr/>
            </a:pPr>
            <a:r>
              <a:rPr lang="en-US" sz="1400">
                <a:solidFill>
                  <a:schemeClr val="tx1"/>
                </a:solidFill>
              </a:rPr>
              <a:t>Human-level ability across any task. Still a research goal.</a:t>
            </a:r>
            <a:endParaRPr lang="en-US" sz="1400"/>
          </a:p>
        </p:txBody>
      </p:sp>
      <p:sp>
        <p:nvSpPr>
          <p:cNvPr id="1182743507" name="text-52"/>
          <p:cNvSpPr txBox="1"/>
          <p:nvPr/>
        </p:nvSpPr>
        <p:spPr bwMode="auto">
          <a:xfrm>
            <a:off x="5577840" y="1536192"/>
            <a:ext cx="2926080" cy="365760"/>
          </a:xfrm>
          <a:prstGeom prst="rect">
            <a:avLst/>
          </a:prstGeom>
          <a:noFill/>
          <a:ln/>
        </p:spPr>
        <p:txBody>
          <a:bodyPr wrap="square" lIns="0" tIns="0" rIns="0" bIns="0" rtlCol="0" anchor="t"/>
          <a:lstStyle/>
          <a:p>
            <a:pPr marL="0" indent="0">
              <a:buNone/>
              <a:defRPr/>
            </a:pPr>
            <a:r>
              <a:rPr lang="en-US" sz="1800" b="1">
                <a:solidFill>
                  <a:schemeClr val="tx1"/>
                </a:solidFill>
              </a:rPr>
              <a:t>Narrow AI</a:t>
            </a:r>
            <a:endParaRPr lang="en-US" sz="1800"/>
          </a:p>
        </p:txBody>
      </p:sp>
      <p:sp>
        <p:nvSpPr>
          <p:cNvPr id="785275360" name="text-53"/>
          <p:cNvSpPr txBox="1"/>
          <p:nvPr/>
        </p:nvSpPr>
        <p:spPr bwMode="auto">
          <a:xfrm>
            <a:off x="4937760" y="2103120"/>
            <a:ext cx="3520440" cy="548640"/>
          </a:xfrm>
          <a:prstGeom prst="rect">
            <a:avLst/>
          </a:prstGeom>
          <a:noFill/>
          <a:ln/>
        </p:spPr>
        <p:txBody>
          <a:bodyPr wrap="square" lIns="0" tIns="0" rIns="0" bIns="0" rtlCol="0" anchor="t"/>
          <a:lstStyle/>
          <a:p>
            <a:pPr marL="0" indent="0">
              <a:buNone/>
              <a:defRPr/>
            </a:pPr>
            <a:r>
              <a:rPr lang="en-US" sz="1400">
                <a:solidFill>
                  <a:schemeClr val="tx1"/>
                </a:solidFill>
              </a:rPr>
              <a:t>Excels at one specific task. Every AI system in use today.</a:t>
            </a:r>
            <a:endParaRPr lang="en-US" sz="1400"/>
          </a:p>
        </p:txBody>
      </p:sp>
      <p:sp>
        <p:nvSpPr>
          <p:cNvPr id="695802062" name="text-54"/>
          <p:cNvSpPr txBox="1"/>
          <p:nvPr/>
        </p:nvSpPr>
        <p:spPr bwMode="auto">
          <a:xfrm>
            <a:off x="457200" y="2926080"/>
            <a:ext cx="5486400" cy="320040"/>
          </a:xfrm>
          <a:prstGeom prst="rect">
            <a:avLst/>
          </a:prstGeom>
          <a:noFill/>
          <a:ln/>
        </p:spPr>
        <p:txBody>
          <a:bodyPr wrap="square" lIns="0" tIns="0" rIns="0" bIns="0" rtlCol="0" anchor="t"/>
          <a:lstStyle/>
          <a:p>
            <a:pPr marL="0" indent="0">
              <a:buNone/>
              <a:defRPr/>
            </a:pPr>
            <a:r>
              <a:rPr lang="en-US" sz="1700" b="1">
                <a:solidFill>
                  <a:schemeClr val="tx2"/>
                </a:solidFill>
              </a:rPr>
              <a:t>Typical narrow tasks</a:t>
            </a:r>
            <a:endParaRPr lang="en-US" sz="1700"/>
          </a:p>
        </p:txBody>
      </p:sp>
      <p:sp>
        <p:nvSpPr>
          <p:cNvPr id="1274054437" name="card-55"/>
          <p:cNvSpPr/>
          <p:nvPr/>
        </p:nvSpPr>
        <p:spPr bwMode="auto">
          <a:xfrm>
            <a:off x="457200" y="3337560"/>
            <a:ext cx="2606040" cy="1280160"/>
          </a:xfrm>
          <a:prstGeom prst="roundRect">
            <a:avLst>
              <a:gd name="adj" fmla="val 7143"/>
            </a:avLst>
          </a:prstGeom>
          <a:solidFill>
            <a:schemeClr val="bg2"/>
          </a:solidFill>
          <a:ln w="12700">
            <a:solidFill>
              <a:schemeClr val="bg2"/>
            </a:solidFill>
            <a:prstDash val="solid"/>
          </a:ln>
        </p:spPr>
      </p:sp>
      <p:sp>
        <p:nvSpPr>
          <p:cNvPr id="1076856229" name="circle-56"/>
          <p:cNvSpPr/>
          <p:nvPr/>
        </p:nvSpPr>
        <p:spPr bwMode="auto">
          <a:xfrm>
            <a:off x="640080" y="3520440"/>
            <a:ext cx="457200" cy="457200"/>
          </a:xfrm>
          <a:prstGeom prst="ellipse">
            <a:avLst/>
          </a:prstGeom>
          <a:solidFill>
            <a:srgbClr val="2F6FED"/>
          </a:solidFill>
          <a:ln w="12700">
            <a:solidFill>
              <a:srgbClr val="2F6FED"/>
            </a:solidFill>
            <a:prstDash val="solid"/>
          </a:ln>
        </p:spPr>
      </p:sp>
      <p:pic>
        <p:nvPicPr>
          <p:cNvPr id="755885807" name="icon-57" descr="preencoded.png"/>
          <p:cNvPicPr>
            <a:picLocks noChangeAspect="1"/>
          </p:cNvPicPr>
          <p:nvPr/>
        </p:nvPicPr>
        <p:blipFill rotWithShape="1">
          <a:blip r:embed="rId5"/>
          <a:stretch/>
        </p:blipFill>
        <p:spPr bwMode="auto">
          <a:xfrm>
            <a:off x="768096" y="3648456"/>
            <a:ext cx="201168" cy="201168"/>
          </a:xfrm>
          <a:prstGeom prst="rect">
            <a:avLst/>
          </a:prstGeom>
        </p:spPr>
      </p:pic>
      <p:sp>
        <p:nvSpPr>
          <p:cNvPr id="1621164397" name="text-58"/>
          <p:cNvSpPr txBox="1"/>
          <p:nvPr/>
        </p:nvSpPr>
        <p:spPr bwMode="auto">
          <a:xfrm>
            <a:off x="1234440" y="3566160"/>
            <a:ext cx="1737360" cy="365760"/>
          </a:xfrm>
          <a:prstGeom prst="rect">
            <a:avLst/>
          </a:prstGeom>
          <a:noFill/>
          <a:ln/>
        </p:spPr>
        <p:txBody>
          <a:bodyPr wrap="square" lIns="0" tIns="0" rIns="0" bIns="0" rtlCol="0" anchor="t"/>
          <a:lstStyle/>
          <a:p>
            <a:pPr marL="0" indent="0">
              <a:buNone/>
              <a:defRPr/>
            </a:pPr>
            <a:r>
              <a:rPr lang="en-US" sz="1600" b="1">
                <a:solidFill>
                  <a:schemeClr val="tx1"/>
                </a:solidFill>
              </a:rPr>
              <a:t>Vision</a:t>
            </a:r>
            <a:endParaRPr lang="en-US" sz="1600"/>
          </a:p>
        </p:txBody>
      </p:sp>
      <p:sp>
        <p:nvSpPr>
          <p:cNvPr id="1175636840" name="text-59"/>
          <p:cNvSpPr txBox="1"/>
          <p:nvPr/>
        </p:nvSpPr>
        <p:spPr bwMode="auto">
          <a:xfrm>
            <a:off x="640080" y="4069080"/>
            <a:ext cx="2286000" cy="457200"/>
          </a:xfrm>
          <a:prstGeom prst="rect">
            <a:avLst/>
          </a:prstGeom>
          <a:noFill/>
          <a:ln/>
        </p:spPr>
        <p:txBody>
          <a:bodyPr wrap="square" lIns="0" tIns="0" rIns="0" bIns="0" rtlCol="0" anchor="t"/>
          <a:lstStyle/>
          <a:p>
            <a:pPr marL="0" indent="0">
              <a:buNone/>
              <a:defRPr/>
            </a:pPr>
            <a:r>
              <a:rPr lang="en-US" sz="1400">
                <a:solidFill>
                  <a:schemeClr val="tx1"/>
                </a:solidFill>
              </a:rPr>
              <a:t>Face unlock, medical imaging</a:t>
            </a:r>
            <a:endParaRPr lang="en-US" sz="1400"/>
          </a:p>
        </p:txBody>
      </p:sp>
      <p:sp>
        <p:nvSpPr>
          <p:cNvPr id="1046939406" name="card-60"/>
          <p:cNvSpPr/>
          <p:nvPr/>
        </p:nvSpPr>
        <p:spPr bwMode="auto">
          <a:xfrm>
            <a:off x="3268980" y="3337560"/>
            <a:ext cx="2606040" cy="1280160"/>
          </a:xfrm>
          <a:prstGeom prst="roundRect">
            <a:avLst>
              <a:gd name="adj" fmla="val 7143"/>
            </a:avLst>
          </a:prstGeom>
          <a:solidFill>
            <a:schemeClr val="bg2"/>
          </a:solidFill>
          <a:ln w="12700">
            <a:solidFill>
              <a:schemeClr val="bg2"/>
            </a:solidFill>
            <a:prstDash val="solid"/>
          </a:ln>
        </p:spPr>
      </p:sp>
      <p:sp>
        <p:nvSpPr>
          <p:cNvPr id="1084732246" name="circle-61"/>
          <p:cNvSpPr/>
          <p:nvPr/>
        </p:nvSpPr>
        <p:spPr bwMode="auto">
          <a:xfrm>
            <a:off x="3451860" y="3520440"/>
            <a:ext cx="457200" cy="457200"/>
          </a:xfrm>
          <a:prstGeom prst="ellipse">
            <a:avLst/>
          </a:prstGeom>
          <a:solidFill>
            <a:srgbClr val="5B5BD6"/>
          </a:solidFill>
          <a:ln w="12700">
            <a:solidFill>
              <a:srgbClr val="5B5BD6"/>
            </a:solidFill>
            <a:prstDash val="solid"/>
          </a:ln>
        </p:spPr>
      </p:sp>
      <p:pic>
        <p:nvPicPr>
          <p:cNvPr id="60713897" name="icon-62" descr="preencoded.png"/>
          <p:cNvPicPr>
            <a:picLocks noChangeAspect="1"/>
          </p:cNvPicPr>
          <p:nvPr/>
        </p:nvPicPr>
        <p:blipFill rotWithShape="1">
          <a:blip r:embed="rId6"/>
          <a:stretch/>
        </p:blipFill>
        <p:spPr bwMode="auto">
          <a:xfrm>
            <a:off x="3579876" y="3648456"/>
            <a:ext cx="201168" cy="201168"/>
          </a:xfrm>
          <a:prstGeom prst="rect">
            <a:avLst/>
          </a:prstGeom>
        </p:spPr>
      </p:pic>
      <p:sp>
        <p:nvSpPr>
          <p:cNvPr id="281894757" name="text-63"/>
          <p:cNvSpPr txBox="1"/>
          <p:nvPr/>
        </p:nvSpPr>
        <p:spPr bwMode="auto">
          <a:xfrm>
            <a:off x="4046220" y="3566160"/>
            <a:ext cx="1737360" cy="365760"/>
          </a:xfrm>
          <a:prstGeom prst="rect">
            <a:avLst/>
          </a:prstGeom>
          <a:noFill/>
          <a:ln/>
        </p:spPr>
        <p:txBody>
          <a:bodyPr wrap="square" lIns="0" tIns="0" rIns="0" bIns="0" rtlCol="0" anchor="t"/>
          <a:lstStyle/>
          <a:p>
            <a:pPr marL="0" indent="0">
              <a:buNone/>
              <a:defRPr/>
            </a:pPr>
            <a:r>
              <a:rPr lang="en-US" sz="1600" b="1">
                <a:solidFill>
                  <a:schemeClr val="tx1"/>
                </a:solidFill>
              </a:rPr>
              <a:t>Language</a:t>
            </a:r>
            <a:endParaRPr lang="en-US" sz="1600"/>
          </a:p>
        </p:txBody>
      </p:sp>
      <p:sp>
        <p:nvSpPr>
          <p:cNvPr id="31599630" name="text-64"/>
          <p:cNvSpPr txBox="1"/>
          <p:nvPr/>
        </p:nvSpPr>
        <p:spPr bwMode="auto">
          <a:xfrm>
            <a:off x="3451860" y="4069080"/>
            <a:ext cx="2286000" cy="457200"/>
          </a:xfrm>
          <a:prstGeom prst="rect">
            <a:avLst/>
          </a:prstGeom>
          <a:noFill/>
          <a:ln/>
        </p:spPr>
        <p:txBody>
          <a:bodyPr wrap="square" lIns="0" tIns="0" rIns="0" bIns="0" rtlCol="0" anchor="t"/>
          <a:lstStyle/>
          <a:p>
            <a:pPr marL="0" indent="0">
              <a:buNone/>
              <a:defRPr/>
            </a:pPr>
            <a:r>
              <a:rPr lang="en-US" sz="1400">
                <a:solidFill>
                  <a:schemeClr val="tx1"/>
                </a:solidFill>
              </a:rPr>
              <a:t>Voice assistants, translation</a:t>
            </a:r>
            <a:endParaRPr lang="en-US" sz="1400"/>
          </a:p>
        </p:txBody>
      </p:sp>
      <p:sp>
        <p:nvSpPr>
          <p:cNvPr id="975018537" name="card-65"/>
          <p:cNvSpPr/>
          <p:nvPr/>
        </p:nvSpPr>
        <p:spPr bwMode="auto">
          <a:xfrm>
            <a:off x="6080760" y="3337560"/>
            <a:ext cx="2606040" cy="1280160"/>
          </a:xfrm>
          <a:prstGeom prst="roundRect">
            <a:avLst>
              <a:gd name="adj" fmla="val 7143"/>
            </a:avLst>
          </a:prstGeom>
          <a:solidFill>
            <a:schemeClr val="bg2"/>
          </a:solidFill>
          <a:ln w="12700">
            <a:solidFill>
              <a:schemeClr val="bg2"/>
            </a:solidFill>
            <a:prstDash val="solid"/>
          </a:ln>
        </p:spPr>
      </p:sp>
      <p:sp>
        <p:nvSpPr>
          <p:cNvPr id="470034110" name="circle-66"/>
          <p:cNvSpPr/>
          <p:nvPr/>
        </p:nvSpPr>
        <p:spPr bwMode="auto">
          <a:xfrm>
            <a:off x="6263640" y="3520440"/>
            <a:ext cx="457200" cy="457200"/>
          </a:xfrm>
          <a:prstGeom prst="ellipse">
            <a:avLst/>
          </a:prstGeom>
          <a:solidFill>
            <a:srgbClr val="0B8478"/>
          </a:solidFill>
          <a:ln w="12700">
            <a:solidFill>
              <a:srgbClr val="0B8478"/>
            </a:solidFill>
            <a:prstDash val="solid"/>
          </a:ln>
        </p:spPr>
      </p:sp>
      <p:pic>
        <p:nvPicPr>
          <p:cNvPr id="256542911" name="icon-67" descr="preencoded.png"/>
          <p:cNvPicPr>
            <a:picLocks noChangeAspect="1"/>
          </p:cNvPicPr>
          <p:nvPr/>
        </p:nvPicPr>
        <p:blipFill rotWithShape="1">
          <a:blip r:embed="rId7"/>
          <a:stretch/>
        </p:blipFill>
        <p:spPr bwMode="auto">
          <a:xfrm>
            <a:off x="6391656" y="3648456"/>
            <a:ext cx="201168" cy="201168"/>
          </a:xfrm>
          <a:prstGeom prst="rect">
            <a:avLst/>
          </a:prstGeom>
        </p:spPr>
      </p:pic>
      <p:sp>
        <p:nvSpPr>
          <p:cNvPr id="880280114" name="text-68"/>
          <p:cNvSpPr txBox="1"/>
          <p:nvPr/>
        </p:nvSpPr>
        <p:spPr bwMode="auto">
          <a:xfrm>
            <a:off x="6858000" y="3566160"/>
            <a:ext cx="1737360" cy="365760"/>
          </a:xfrm>
          <a:prstGeom prst="rect">
            <a:avLst/>
          </a:prstGeom>
          <a:noFill/>
          <a:ln/>
        </p:spPr>
        <p:txBody>
          <a:bodyPr wrap="square" lIns="0" tIns="0" rIns="0" bIns="0" rtlCol="0" anchor="t"/>
          <a:lstStyle/>
          <a:p>
            <a:pPr marL="0" indent="0">
              <a:buNone/>
              <a:defRPr/>
            </a:pPr>
            <a:r>
              <a:rPr lang="en-US" sz="1600" b="1">
                <a:solidFill>
                  <a:schemeClr val="tx1"/>
                </a:solidFill>
              </a:rPr>
              <a:t>Planning</a:t>
            </a:r>
            <a:endParaRPr lang="en-US" sz="1600"/>
          </a:p>
        </p:txBody>
      </p:sp>
      <p:sp>
        <p:nvSpPr>
          <p:cNvPr id="1631803925" name="text-69"/>
          <p:cNvSpPr txBox="1"/>
          <p:nvPr/>
        </p:nvSpPr>
        <p:spPr bwMode="auto">
          <a:xfrm>
            <a:off x="6263640" y="4069080"/>
            <a:ext cx="2286000" cy="457200"/>
          </a:xfrm>
          <a:prstGeom prst="rect">
            <a:avLst/>
          </a:prstGeom>
          <a:noFill/>
          <a:ln/>
        </p:spPr>
        <p:txBody>
          <a:bodyPr wrap="square" lIns="0" tIns="0" rIns="0" bIns="0" rtlCol="0" anchor="t"/>
          <a:lstStyle/>
          <a:p>
            <a:pPr marL="0" indent="0">
              <a:buNone/>
              <a:defRPr/>
            </a:pPr>
            <a:r>
              <a:rPr lang="en-US" sz="1400">
                <a:solidFill>
                  <a:schemeClr val="tx1"/>
                </a:solidFill>
              </a:rPr>
              <a:t>Navigation, scheduling, game play</a:t>
            </a:r>
            <a:endParaRPr lang="en-US" sz="1400"/>
          </a:p>
        </p:txBody>
      </p:sp>
      <p:sp>
        <p:nvSpPr>
          <p:cNvPr id="1368523541" name="Slide Number Placeholder 0"/>
          <p:cNvSpPr>
            <a:spLocks noGrp="1"/>
          </p:cNvSpPr>
          <p:nvPr>
            <p:ph type="sldNum" sz="quarter" idx="4294967295"/>
          </p:nvPr>
        </p:nvSpPr>
        <p:spPr bwMode="auto">
          <a:xfrm>
            <a:off x="8229600" y="4800600"/>
            <a:ext cx="457200" cy="228600"/>
          </a:xfrm>
          <a:prstGeom prst="rect">
            <a:avLst/>
          </a:prstGeom>
        </p:spPr>
        <p:txBody>
          <a:bodyPr/>
          <a:lstStyle>
            <a:lvl1pPr>
              <a:defRPr sz="1000">
                <a:solidFill>
                  <a:schemeClr val="accent5"/>
                </a:solidFill>
              </a:defRPr>
            </a:lvl1pPr>
          </a:lstStyle>
          <a:p>
            <a:pPr algn="r">
              <a:defRPr/>
            </a:pPr>
            <a:fld id="{F7021451-1387-4CA6-816F-3879F97B5CBC}" type="slidenum">
              <a:rPr lang="en-US" b="0"/>
              <a:t>5</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6">
    <p:spTree>
      <p:nvGrpSpPr>
        <p:cNvPr id="1" name=""/>
        <p:cNvGrpSpPr/>
        <p:nvPr/>
      </p:nvGrpSpPr>
      <p:grpSpPr bwMode="auto">
        <a:xfrm>
          <a:off x="0" y="0"/>
          <a:ext cx="0" cy="0"/>
          <a:chOff x="0" y="0"/>
          <a:chExt cx="0" cy="0"/>
        </a:xfrm>
      </p:grpSpPr>
      <p:sp>
        <p:nvSpPr>
          <p:cNvPr id="763840861" name="Text 0"/>
          <p:cNvSpPr/>
          <p:nvPr>
            <p:ph type="title" idx="100" hasCustomPrompt="1"/>
          </p:nvPr>
        </p:nvSpPr>
        <p:spPr bwMode="auto">
          <a:xfrm>
            <a:off x="457200" y="274320"/>
            <a:ext cx="8229600" cy="731520"/>
          </a:xfrm>
          <a:prstGeom prst="rect">
            <a:avLst/>
          </a:prstGeom>
          <a:noFill/>
          <a:ln/>
        </p:spPr>
        <p:txBody>
          <a:bodyPr wrap="square" lIns="0" tIns="0" rIns="0" bIns="0" rtlCol="0" anchor="ctr"/>
          <a:lstStyle/>
          <a:p>
            <a:pPr marL="0" indent="0" algn="l">
              <a:buNone/>
              <a:defRPr/>
            </a:pPr>
            <a:r>
              <a:rPr lang="en-US" sz="3000" b="1">
                <a:solidFill>
                  <a:schemeClr val="tx2"/>
                </a:solidFill>
              </a:rPr>
              <a:t>There are many ways to build AI</a:t>
            </a:r>
            <a:endParaRPr lang="en-US" sz="3000"/>
          </a:p>
        </p:txBody>
      </p:sp>
      <p:sp>
        <p:nvSpPr>
          <p:cNvPr id="84427230" name="card-70"/>
          <p:cNvSpPr/>
          <p:nvPr/>
        </p:nvSpPr>
        <p:spPr bwMode="auto">
          <a:xfrm>
            <a:off x="457200" y="1280160"/>
            <a:ext cx="2606040" cy="3291840"/>
          </a:xfrm>
          <a:prstGeom prst="roundRect">
            <a:avLst>
              <a:gd name="adj" fmla="val 3509"/>
            </a:avLst>
          </a:prstGeom>
          <a:solidFill>
            <a:schemeClr val="bg2"/>
          </a:solidFill>
          <a:ln w="12700">
            <a:solidFill>
              <a:schemeClr val="bg2"/>
            </a:solidFill>
            <a:prstDash val="solid"/>
          </a:ln>
        </p:spPr>
      </p:sp>
      <p:sp>
        <p:nvSpPr>
          <p:cNvPr id="1591661926" name="circle-71"/>
          <p:cNvSpPr/>
          <p:nvPr/>
        </p:nvSpPr>
        <p:spPr bwMode="auto">
          <a:xfrm>
            <a:off x="685800" y="1508759"/>
            <a:ext cx="640080" cy="640080"/>
          </a:xfrm>
          <a:prstGeom prst="ellipse">
            <a:avLst/>
          </a:prstGeom>
          <a:solidFill>
            <a:srgbClr val="64748B"/>
          </a:solidFill>
          <a:ln w="12700">
            <a:solidFill>
              <a:srgbClr val="64748B"/>
            </a:solidFill>
            <a:prstDash val="solid"/>
          </a:ln>
        </p:spPr>
      </p:sp>
      <p:pic>
        <p:nvPicPr>
          <p:cNvPr id="1461304066" name="icon-72" descr="preencoded.png"/>
          <p:cNvPicPr>
            <a:picLocks noChangeAspect="1"/>
          </p:cNvPicPr>
          <p:nvPr/>
        </p:nvPicPr>
        <p:blipFill rotWithShape="1">
          <a:blip r:embed="rId3"/>
          <a:stretch/>
        </p:blipFill>
        <p:spPr bwMode="auto">
          <a:xfrm>
            <a:off x="865022" y="1687982"/>
            <a:ext cx="281635" cy="281635"/>
          </a:xfrm>
          <a:prstGeom prst="rect">
            <a:avLst/>
          </a:prstGeom>
        </p:spPr>
      </p:pic>
      <p:sp>
        <p:nvSpPr>
          <p:cNvPr id="1922507771" name="text-73"/>
          <p:cNvSpPr txBox="1"/>
          <p:nvPr/>
        </p:nvSpPr>
        <p:spPr bwMode="auto">
          <a:xfrm>
            <a:off x="685800" y="2286000"/>
            <a:ext cx="2194560" cy="365760"/>
          </a:xfrm>
          <a:prstGeom prst="rect">
            <a:avLst/>
          </a:prstGeom>
          <a:noFill/>
          <a:ln/>
        </p:spPr>
        <p:txBody>
          <a:bodyPr wrap="square" lIns="0" tIns="0" rIns="0" bIns="0" rtlCol="0" anchor="t"/>
          <a:lstStyle/>
          <a:p>
            <a:pPr marL="0" indent="0">
              <a:buNone/>
              <a:defRPr/>
            </a:pPr>
            <a:r>
              <a:rPr lang="en-US" sz="1800" b="1">
                <a:solidFill>
                  <a:schemeClr val="tx1"/>
                </a:solidFill>
              </a:rPr>
              <a:t>Expert systems</a:t>
            </a:r>
            <a:endParaRPr lang="en-US" sz="1800"/>
          </a:p>
        </p:txBody>
      </p:sp>
      <p:sp>
        <p:nvSpPr>
          <p:cNvPr id="1674503395" name="text-74"/>
          <p:cNvSpPr txBox="1"/>
          <p:nvPr/>
        </p:nvSpPr>
        <p:spPr bwMode="auto">
          <a:xfrm>
            <a:off x="685800" y="2743200"/>
            <a:ext cx="2194560" cy="914400"/>
          </a:xfrm>
          <a:prstGeom prst="rect">
            <a:avLst/>
          </a:prstGeom>
          <a:noFill/>
          <a:ln/>
        </p:spPr>
        <p:txBody>
          <a:bodyPr wrap="square" lIns="0" tIns="0" rIns="0" bIns="0" rtlCol="0" anchor="t"/>
          <a:lstStyle/>
          <a:p>
            <a:pPr marL="0" indent="0">
              <a:buNone/>
              <a:defRPr/>
            </a:pPr>
            <a:r>
              <a:rPr lang="en-US" sz="1400">
                <a:solidFill>
                  <a:schemeClr val="tx1"/>
                </a:solidFill>
              </a:rPr>
              <a:t>Humans write explicit if-then rules captured from domain experts.</a:t>
            </a:r>
            <a:endParaRPr lang="en-US" sz="1400"/>
          </a:p>
        </p:txBody>
      </p:sp>
      <p:sp>
        <p:nvSpPr>
          <p:cNvPr id="418057785" name="text-75"/>
          <p:cNvSpPr txBox="1"/>
          <p:nvPr/>
        </p:nvSpPr>
        <p:spPr bwMode="auto">
          <a:xfrm>
            <a:off x="685800" y="3749040"/>
            <a:ext cx="2194560" cy="685800"/>
          </a:xfrm>
          <a:prstGeom prst="rect">
            <a:avLst/>
          </a:prstGeom>
          <a:noFill/>
          <a:ln/>
        </p:spPr>
        <p:txBody>
          <a:bodyPr wrap="square" lIns="0" tIns="0" rIns="0" bIns="0" rtlCol="0" anchor="t"/>
          <a:lstStyle/>
          <a:p>
            <a:pPr marL="0" indent="0">
              <a:buNone/>
              <a:defRPr/>
            </a:pPr>
            <a:r>
              <a:rPr lang="en-US" sz="1400" b="1">
                <a:solidFill>
                  <a:schemeClr val="accent5"/>
                </a:solidFill>
              </a:rPr>
              <a:t>Example: </a:t>
            </a:r>
            <a:r>
              <a:rPr lang="en-US" sz="1400">
                <a:solidFill>
                  <a:schemeClr val="accent5"/>
                </a:solidFill>
              </a:rPr>
              <a:t>Tax software, early diagnosis tools</a:t>
            </a:r>
            <a:endParaRPr lang="en-US" sz="1400"/>
          </a:p>
        </p:txBody>
      </p:sp>
      <p:sp>
        <p:nvSpPr>
          <p:cNvPr id="1384454931" name="card-76"/>
          <p:cNvSpPr/>
          <p:nvPr/>
        </p:nvSpPr>
        <p:spPr bwMode="auto">
          <a:xfrm>
            <a:off x="3268980" y="1280160"/>
            <a:ext cx="2606040" cy="3291840"/>
          </a:xfrm>
          <a:prstGeom prst="roundRect">
            <a:avLst>
              <a:gd name="adj" fmla="val 3509"/>
            </a:avLst>
          </a:prstGeom>
          <a:solidFill>
            <a:schemeClr val="bg2"/>
          </a:solidFill>
          <a:ln w="12700">
            <a:solidFill>
              <a:schemeClr val="bg2"/>
            </a:solidFill>
            <a:prstDash val="solid"/>
          </a:ln>
        </p:spPr>
      </p:sp>
      <p:sp>
        <p:nvSpPr>
          <p:cNvPr id="1927502350" name="circle-77"/>
          <p:cNvSpPr/>
          <p:nvPr/>
        </p:nvSpPr>
        <p:spPr bwMode="auto">
          <a:xfrm>
            <a:off x="3497580" y="1508759"/>
            <a:ext cx="640080" cy="640080"/>
          </a:xfrm>
          <a:prstGeom prst="ellipse">
            <a:avLst/>
          </a:prstGeom>
          <a:solidFill>
            <a:srgbClr val="2F6FED"/>
          </a:solidFill>
          <a:ln w="12700">
            <a:solidFill>
              <a:srgbClr val="2F6FED"/>
            </a:solidFill>
            <a:prstDash val="solid"/>
          </a:ln>
        </p:spPr>
      </p:sp>
      <p:pic>
        <p:nvPicPr>
          <p:cNvPr id="443450268" name="icon-78" descr="preencoded.png"/>
          <p:cNvPicPr>
            <a:picLocks noChangeAspect="1"/>
          </p:cNvPicPr>
          <p:nvPr/>
        </p:nvPicPr>
        <p:blipFill rotWithShape="1">
          <a:blip r:embed="rId4"/>
          <a:stretch/>
        </p:blipFill>
        <p:spPr bwMode="auto">
          <a:xfrm>
            <a:off x="3676802" y="1687982"/>
            <a:ext cx="281635" cy="281635"/>
          </a:xfrm>
          <a:prstGeom prst="rect">
            <a:avLst/>
          </a:prstGeom>
        </p:spPr>
      </p:pic>
      <p:sp>
        <p:nvSpPr>
          <p:cNvPr id="1625255421" name="text-79"/>
          <p:cNvSpPr txBox="1"/>
          <p:nvPr/>
        </p:nvSpPr>
        <p:spPr bwMode="auto">
          <a:xfrm>
            <a:off x="3497580" y="2286000"/>
            <a:ext cx="2194560" cy="365760"/>
          </a:xfrm>
          <a:prstGeom prst="rect">
            <a:avLst/>
          </a:prstGeom>
          <a:noFill/>
          <a:ln/>
        </p:spPr>
        <p:txBody>
          <a:bodyPr wrap="square" lIns="0" tIns="0" rIns="0" bIns="0" rtlCol="0" anchor="t"/>
          <a:lstStyle/>
          <a:p>
            <a:pPr marL="0" indent="0">
              <a:buNone/>
              <a:defRPr/>
            </a:pPr>
            <a:r>
              <a:rPr lang="en-US" sz="1800" b="1">
                <a:solidFill>
                  <a:schemeClr val="tx1"/>
                </a:solidFill>
              </a:rPr>
              <a:t>Tree search</a:t>
            </a:r>
            <a:endParaRPr lang="en-US" sz="1800"/>
          </a:p>
        </p:txBody>
      </p:sp>
      <p:sp>
        <p:nvSpPr>
          <p:cNvPr id="1911144038" name="text-80"/>
          <p:cNvSpPr txBox="1"/>
          <p:nvPr/>
        </p:nvSpPr>
        <p:spPr bwMode="auto">
          <a:xfrm>
            <a:off x="3497580" y="2743200"/>
            <a:ext cx="2194560" cy="914400"/>
          </a:xfrm>
          <a:prstGeom prst="rect">
            <a:avLst/>
          </a:prstGeom>
          <a:noFill/>
          <a:ln/>
        </p:spPr>
        <p:txBody>
          <a:bodyPr wrap="square" lIns="0" tIns="0" rIns="0" bIns="0" rtlCol="0" anchor="t"/>
          <a:lstStyle/>
          <a:p>
            <a:pPr marL="0" indent="0">
              <a:buNone/>
              <a:defRPr/>
            </a:pPr>
            <a:r>
              <a:rPr lang="en-US" sz="1400">
                <a:solidFill>
                  <a:schemeClr val="tx1"/>
                </a:solidFill>
              </a:rPr>
              <a:t>The program explores possible moves and picks the best path.</a:t>
            </a:r>
            <a:endParaRPr lang="en-US" sz="1400"/>
          </a:p>
        </p:txBody>
      </p:sp>
      <p:sp>
        <p:nvSpPr>
          <p:cNvPr id="1065781159" name="text-81"/>
          <p:cNvSpPr txBox="1"/>
          <p:nvPr/>
        </p:nvSpPr>
        <p:spPr bwMode="auto">
          <a:xfrm>
            <a:off x="3497580" y="3749040"/>
            <a:ext cx="2194560" cy="685800"/>
          </a:xfrm>
          <a:prstGeom prst="rect">
            <a:avLst/>
          </a:prstGeom>
          <a:noFill/>
          <a:ln/>
        </p:spPr>
        <p:txBody>
          <a:bodyPr wrap="square" lIns="0" tIns="0" rIns="0" bIns="0" rtlCol="0" anchor="t"/>
          <a:lstStyle/>
          <a:p>
            <a:pPr marL="0" indent="0">
              <a:buNone/>
              <a:defRPr/>
            </a:pPr>
            <a:r>
              <a:rPr lang="en-US" sz="1400" b="1">
                <a:solidFill>
                  <a:schemeClr val="accent5"/>
                </a:solidFill>
              </a:rPr>
              <a:t>Example: </a:t>
            </a:r>
            <a:r>
              <a:rPr lang="en-US" sz="1400">
                <a:solidFill>
                  <a:schemeClr val="accent5"/>
                </a:solidFill>
              </a:rPr>
              <a:t>Chess engines, route planning</a:t>
            </a:r>
            <a:endParaRPr lang="en-US" sz="1400"/>
          </a:p>
        </p:txBody>
      </p:sp>
      <p:sp>
        <p:nvSpPr>
          <p:cNvPr id="289144059" name="card-82"/>
          <p:cNvSpPr/>
          <p:nvPr/>
        </p:nvSpPr>
        <p:spPr bwMode="auto">
          <a:xfrm>
            <a:off x="6080760" y="1280160"/>
            <a:ext cx="2606040" cy="3291840"/>
          </a:xfrm>
          <a:prstGeom prst="roundRect">
            <a:avLst>
              <a:gd name="adj" fmla="val 3509"/>
            </a:avLst>
          </a:prstGeom>
          <a:solidFill>
            <a:schemeClr val="accent1"/>
          </a:solidFill>
          <a:ln w="12700">
            <a:solidFill>
              <a:schemeClr val="accent1"/>
            </a:solidFill>
            <a:prstDash val="solid"/>
          </a:ln>
        </p:spPr>
      </p:sp>
      <p:sp>
        <p:nvSpPr>
          <p:cNvPr id="1555267919" name="circle-83"/>
          <p:cNvSpPr/>
          <p:nvPr/>
        </p:nvSpPr>
        <p:spPr bwMode="auto">
          <a:xfrm>
            <a:off x="6309360" y="1508759"/>
            <a:ext cx="640080" cy="640080"/>
          </a:xfrm>
          <a:prstGeom prst="ellipse">
            <a:avLst/>
          </a:prstGeom>
          <a:solidFill>
            <a:srgbClr val="FFFFFF"/>
          </a:solidFill>
          <a:ln w="12700">
            <a:solidFill>
              <a:srgbClr val="FFFFFF"/>
            </a:solidFill>
            <a:prstDash val="solid"/>
          </a:ln>
        </p:spPr>
      </p:sp>
      <p:pic>
        <p:nvPicPr>
          <p:cNvPr id="1672092096" name="icon-84" descr="preencoded.png"/>
          <p:cNvPicPr>
            <a:picLocks noChangeAspect="1"/>
          </p:cNvPicPr>
          <p:nvPr/>
        </p:nvPicPr>
        <p:blipFill rotWithShape="1">
          <a:blip r:embed="rId5"/>
          <a:stretch/>
        </p:blipFill>
        <p:spPr bwMode="auto">
          <a:xfrm>
            <a:off x="6488582" y="1687982"/>
            <a:ext cx="281635" cy="281635"/>
          </a:xfrm>
          <a:prstGeom prst="rect">
            <a:avLst/>
          </a:prstGeom>
        </p:spPr>
      </p:pic>
      <p:sp>
        <p:nvSpPr>
          <p:cNvPr id="1651278322" name="text-85"/>
          <p:cNvSpPr txBox="1"/>
          <p:nvPr/>
        </p:nvSpPr>
        <p:spPr bwMode="auto">
          <a:xfrm>
            <a:off x="6309360" y="2286000"/>
            <a:ext cx="2194560" cy="365760"/>
          </a:xfrm>
          <a:prstGeom prst="rect">
            <a:avLst/>
          </a:prstGeom>
          <a:noFill/>
          <a:ln/>
        </p:spPr>
        <p:txBody>
          <a:bodyPr wrap="square" lIns="0" tIns="0" rIns="0" bIns="0" rtlCol="0" anchor="t"/>
          <a:lstStyle/>
          <a:p>
            <a:pPr marL="0" indent="0">
              <a:buNone/>
              <a:defRPr/>
            </a:pPr>
            <a:r>
              <a:rPr lang="en-US" sz="1800" b="1">
                <a:solidFill>
                  <a:schemeClr val="bg1"/>
                </a:solidFill>
              </a:rPr>
              <a:t>Machine learning</a:t>
            </a:r>
            <a:endParaRPr lang="en-US" sz="1800"/>
          </a:p>
        </p:txBody>
      </p:sp>
      <p:sp>
        <p:nvSpPr>
          <p:cNvPr id="857990193" name="text-86"/>
          <p:cNvSpPr txBox="1"/>
          <p:nvPr/>
        </p:nvSpPr>
        <p:spPr bwMode="auto">
          <a:xfrm>
            <a:off x="6309360" y="2743200"/>
            <a:ext cx="2194560" cy="914400"/>
          </a:xfrm>
          <a:prstGeom prst="rect">
            <a:avLst/>
          </a:prstGeom>
          <a:noFill/>
          <a:ln/>
        </p:spPr>
        <p:txBody>
          <a:bodyPr wrap="square" lIns="0" tIns="0" rIns="0" bIns="0" rtlCol="0" anchor="t"/>
          <a:lstStyle/>
          <a:p>
            <a:pPr marL="0" indent="0">
              <a:buNone/>
              <a:defRPr/>
            </a:pPr>
            <a:r>
              <a:rPr lang="en-US" sz="1400">
                <a:solidFill>
                  <a:schemeClr val="bg1"/>
                </a:solidFill>
              </a:rPr>
              <a:t>The program learns the rules itself from examples in data.</a:t>
            </a:r>
            <a:endParaRPr lang="en-US" sz="1400"/>
          </a:p>
        </p:txBody>
      </p:sp>
      <p:sp>
        <p:nvSpPr>
          <p:cNvPr id="711497005" name="text-87"/>
          <p:cNvSpPr txBox="1"/>
          <p:nvPr/>
        </p:nvSpPr>
        <p:spPr bwMode="auto">
          <a:xfrm>
            <a:off x="6309360" y="3749040"/>
            <a:ext cx="2194560" cy="685800"/>
          </a:xfrm>
          <a:prstGeom prst="rect">
            <a:avLst/>
          </a:prstGeom>
          <a:noFill/>
          <a:ln/>
        </p:spPr>
        <p:txBody>
          <a:bodyPr wrap="square" lIns="0" tIns="0" rIns="0" bIns="0" rtlCol="0" anchor="t"/>
          <a:lstStyle/>
          <a:p>
            <a:pPr marL="0" indent="0">
              <a:buNone/>
              <a:defRPr/>
            </a:pPr>
            <a:r>
              <a:rPr lang="en-US" sz="1400" b="1">
                <a:solidFill>
                  <a:schemeClr val="bg1"/>
                </a:solidFill>
              </a:rPr>
              <a:t>Example: </a:t>
            </a:r>
            <a:r>
              <a:rPr lang="en-US" sz="1400">
                <a:solidFill>
                  <a:schemeClr val="bg1"/>
                </a:solidFill>
              </a:rPr>
              <a:t>Spam filters, image recognition</a:t>
            </a:r>
            <a:endParaRPr lang="en-US" sz="1400"/>
          </a:p>
        </p:txBody>
      </p:sp>
      <p:sp>
        <p:nvSpPr>
          <p:cNvPr id="673353560" name="Slide Number Placeholder 0"/>
          <p:cNvSpPr>
            <a:spLocks noGrp="1"/>
          </p:cNvSpPr>
          <p:nvPr>
            <p:ph type="sldNum" sz="quarter" idx="4294967295"/>
          </p:nvPr>
        </p:nvSpPr>
        <p:spPr bwMode="auto">
          <a:xfrm>
            <a:off x="8229600" y="4800600"/>
            <a:ext cx="457200" cy="228600"/>
          </a:xfrm>
          <a:prstGeom prst="rect">
            <a:avLst/>
          </a:prstGeom>
        </p:spPr>
        <p:txBody>
          <a:bodyPr/>
          <a:lstStyle>
            <a:lvl1pPr>
              <a:defRPr sz="1000">
                <a:solidFill>
                  <a:schemeClr val="accent5"/>
                </a:solidFill>
              </a:defRPr>
            </a:lvl1pPr>
          </a:lstStyle>
          <a:p>
            <a:pPr algn="r">
              <a:defRPr/>
            </a:pPr>
            <a:fld id="{F7021451-1387-4CA6-816F-3879F97B5CBC}" type="slidenum">
              <a:rPr lang="en-US" b="0"/>
              <a:t>6</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7">
    <p:spTree>
      <p:nvGrpSpPr>
        <p:cNvPr id="1" name=""/>
        <p:cNvGrpSpPr/>
        <p:nvPr/>
      </p:nvGrpSpPr>
      <p:grpSpPr bwMode="auto">
        <a:xfrm>
          <a:off x="0" y="0"/>
          <a:ext cx="0" cy="0"/>
          <a:chOff x="0" y="0"/>
          <a:chExt cx="0" cy="0"/>
        </a:xfrm>
      </p:grpSpPr>
      <p:sp>
        <p:nvSpPr>
          <p:cNvPr id="2139723121" name="Text 0"/>
          <p:cNvSpPr/>
          <p:nvPr>
            <p:ph type="title" idx="100" hasCustomPrompt="1"/>
          </p:nvPr>
        </p:nvSpPr>
        <p:spPr bwMode="auto">
          <a:xfrm>
            <a:off x="457200" y="274320"/>
            <a:ext cx="8229600" cy="731520"/>
          </a:xfrm>
          <a:prstGeom prst="rect">
            <a:avLst/>
          </a:prstGeom>
          <a:noFill/>
          <a:ln/>
        </p:spPr>
        <p:txBody>
          <a:bodyPr wrap="square" lIns="0" tIns="0" rIns="0" bIns="0" rtlCol="0" anchor="ctr"/>
          <a:lstStyle/>
          <a:p>
            <a:pPr marL="0" indent="0" algn="l">
              <a:buNone/>
              <a:defRPr/>
            </a:pPr>
            <a:r>
              <a:rPr lang="en-US" sz="3000" b="1">
                <a:solidFill>
                  <a:schemeClr val="tx2"/>
                </a:solidFill>
              </a:rPr>
              <a:t>ML tasks: classification, clustering, regression</a:t>
            </a:r>
            <a:endParaRPr lang="en-US" sz="3000"/>
          </a:p>
        </p:txBody>
      </p:sp>
      <p:sp>
        <p:nvSpPr>
          <p:cNvPr id="38943030" name="card-88"/>
          <p:cNvSpPr/>
          <p:nvPr/>
        </p:nvSpPr>
        <p:spPr bwMode="auto">
          <a:xfrm>
            <a:off x="457200" y="1280160"/>
            <a:ext cx="2606040" cy="3291840"/>
          </a:xfrm>
          <a:prstGeom prst="roundRect">
            <a:avLst>
              <a:gd name="adj" fmla="val 3509"/>
            </a:avLst>
          </a:prstGeom>
          <a:solidFill>
            <a:schemeClr val="bg2"/>
          </a:solidFill>
          <a:ln w="12700">
            <a:solidFill>
              <a:schemeClr val="bg2"/>
            </a:solidFill>
            <a:prstDash val="solid"/>
          </a:ln>
        </p:spPr>
      </p:sp>
      <p:sp>
        <p:nvSpPr>
          <p:cNvPr id="454231530" name="plot-89"/>
          <p:cNvSpPr/>
          <p:nvPr/>
        </p:nvSpPr>
        <p:spPr bwMode="auto">
          <a:xfrm>
            <a:off x="640080" y="1463040"/>
            <a:ext cx="2240280" cy="1234440"/>
          </a:xfrm>
          <a:prstGeom prst="roundRect">
            <a:avLst>
              <a:gd name="adj" fmla="val 4444"/>
            </a:avLst>
          </a:prstGeom>
          <a:solidFill>
            <a:srgbClr val="FFFFFF"/>
          </a:solidFill>
          <a:ln w="12700">
            <a:solidFill>
              <a:srgbClr val="FFFFFF"/>
            </a:solidFill>
            <a:prstDash val="solid"/>
          </a:ln>
        </p:spPr>
      </p:sp>
      <p:sp>
        <p:nvSpPr>
          <p:cNvPr id="400264191" name="circle-90"/>
          <p:cNvSpPr/>
          <p:nvPr/>
        </p:nvSpPr>
        <p:spPr bwMode="auto">
          <a:xfrm>
            <a:off x="870509" y="2285086"/>
            <a:ext cx="118872" cy="118872"/>
          </a:xfrm>
          <a:prstGeom prst="ellipse">
            <a:avLst/>
          </a:prstGeom>
          <a:solidFill>
            <a:srgbClr val="2F6FED"/>
          </a:solidFill>
          <a:ln w="12700">
            <a:solidFill>
              <a:srgbClr val="2F6FED"/>
            </a:solidFill>
            <a:prstDash val="solid"/>
          </a:ln>
        </p:spPr>
      </p:sp>
      <p:sp>
        <p:nvSpPr>
          <p:cNvPr id="768701078" name="circle-91"/>
          <p:cNvSpPr/>
          <p:nvPr/>
        </p:nvSpPr>
        <p:spPr bwMode="auto">
          <a:xfrm>
            <a:off x="1067105" y="2131466"/>
            <a:ext cx="118872" cy="118872"/>
          </a:xfrm>
          <a:prstGeom prst="ellipse">
            <a:avLst/>
          </a:prstGeom>
          <a:solidFill>
            <a:srgbClr val="2F6FED"/>
          </a:solidFill>
          <a:ln w="12700">
            <a:solidFill>
              <a:srgbClr val="2F6FED"/>
            </a:solidFill>
            <a:prstDash val="solid"/>
          </a:ln>
        </p:spPr>
      </p:sp>
      <p:sp>
        <p:nvSpPr>
          <p:cNvPr id="1211851904" name="circle-92"/>
          <p:cNvSpPr/>
          <p:nvPr/>
        </p:nvSpPr>
        <p:spPr bwMode="auto">
          <a:xfrm>
            <a:off x="949147" y="2400300"/>
            <a:ext cx="118872" cy="118872"/>
          </a:xfrm>
          <a:prstGeom prst="ellipse">
            <a:avLst/>
          </a:prstGeom>
          <a:solidFill>
            <a:srgbClr val="2F6FED"/>
          </a:solidFill>
          <a:ln w="12700">
            <a:solidFill>
              <a:srgbClr val="2F6FED"/>
            </a:solidFill>
            <a:prstDash val="solid"/>
          </a:ln>
        </p:spPr>
      </p:sp>
      <p:sp>
        <p:nvSpPr>
          <p:cNvPr id="1666741540" name="circle-93"/>
          <p:cNvSpPr/>
          <p:nvPr/>
        </p:nvSpPr>
        <p:spPr bwMode="auto">
          <a:xfrm>
            <a:off x="1263701" y="2256282"/>
            <a:ext cx="118872" cy="118872"/>
          </a:xfrm>
          <a:prstGeom prst="ellipse">
            <a:avLst/>
          </a:prstGeom>
          <a:solidFill>
            <a:srgbClr val="2F6FED"/>
          </a:solidFill>
          <a:ln w="12700">
            <a:solidFill>
              <a:srgbClr val="2F6FED"/>
            </a:solidFill>
            <a:prstDash val="solid"/>
          </a:ln>
        </p:spPr>
      </p:sp>
      <p:sp>
        <p:nvSpPr>
          <p:cNvPr id="1166620048" name="circle-94"/>
          <p:cNvSpPr/>
          <p:nvPr/>
        </p:nvSpPr>
        <p:spPr bwMode="auto">
          <a:xfrm>
            <a:off x="1145743" y="2016252"/>
            <a:ext cx="118872" cy="118872"/>
          </a:xfrm>
          <a:prstGeom prst="ellipse">
            <a:avLst/>
          </a:prstGeom>
          <a:solidFill>
            <a:srgbClr val="2F6FED"/>
          </a:solidFill>
          <a:ln w="12700">
            <a:solidFill>
              <a:srgbClr val="2F6FED"/>
            </a:solidFill>
            <a:prstDash val="solid"/>
          </a:ln>
        </p:spPr>
      </p:sp>
      <p:sp>
        <p:nvSpPr>
          <p:cNvPr id="1428254295" name="circle-95"/>
          <p:cNvSpPr/>
          <p:nvPr/>
        </p:nvSpPr>
        <p:spPr bwMode="auto">
          <a:xfrm>
            <a:off x="1381658" y="2381098"/>
            <a:ext cx="118872" cy="118872"/>
          </a:xfrm>
          <a:prstGeom prst="ellipse">
            <a:avLst/>
          </a:prstGeom>
          <a:solidFill>
            <a:srgbClr val="2F6FED"/>
          </a:solidFill>
          <a:ln w="12700">
            <a:solidFill>
              <a:srgbClr val="2F6FED"/>
            </a:solidFill>
            <a:prstDash val="solid"/>
          </a:ln>
        </p:spPr>
      </p:sp>
      <p:sp>
        <p:nvSpPr>
          <p:cNvPr id="1949345622" name="circle-96"/>
          <p:cNvSpPr/>
          <p:nvPr/>
        </p:nvSpPr>
        <p:spPr bwMode="auto">
          <a:xfrm>
            <a:off x="1303020" y="2112264"/>
            <a:ext cx="118872" cy="118872"/>
          </a:xfrm>
          <a:prstGeom prst="ellipse">
            <a:avLst/>
          </a:prstGeom>
          <a:solidFill>
            <a:srgbClr val="2F6FED"/>
          </a:solidFill>
          <a:ln w="12700">
            <a:solidFill>
              <a:srgbClr val="2F6FED"/>
            </a:solidFill>
            <a:prstDash val="solid"/>
          </a:ln>
        </p:spPr>
      </p:sp>
      <p:sp>
        <p:nvSpPr>
          <p:cNvPr id="389921747" name="circle-97"/>
          <p:cNvSpPr/>
          <p:nvPr/>
        </p:nvSpPr>
        <p:spPr bwMode="auto">
          <a:xfrm>
            <a:off x="2089404" y="1728216"/>
            <a:ext cx="118872" cy="118872"/>
          </a:xfrm>
          <a:prstGeom prst="ellipse">
            <a:avLst/>
          </a:prstGeom>
          <a:solidFill>
            <a:srgbClr val="D93C41"/>
          </a:solidFill>
          <a:ln w="12700">
            <a:solidFill>
              <a:srgbClr val="D93C41"/>
            </a:solidFill>
            <a:prstDash val="solid"/>
          </a:ln>
        </p:spPr>
      </p:sp>
      <p:sp>
        <p:nvSpPr>
          <p:cNvPr id="1661133909" name="circle-98"/>
          <p:cNvSpPr/>
          <p:nvPr/>
        </p:nvSpPr>
        <p:spPr bwMode="auto">
          <a:xfrm>
            <a:off x="2325319" y="1632204"/>
            <a:ext cx="118872" cy="118872"/>
          </a:xfrm>
          <a:prstGeom prst="ellipse">
            <a:avLst/>
          </a:prstGeom>
          <a:solidFill>
            <a:srgbClr val="D93C41"/>
          </a:solidFill>
          <a:ln w="12700">
            <a:solidFill>
              <a:srgbClr val="D93C41"/>
            </a:solidFill>
            <a:prstDash val="solid"/>
          </a:ln>
        </p:spPr>
      </p:sp>
      <p:sp>
        <p:nvSpPr>
          <p:cNvPr id="1124111672" name="circle-99"/>
          <p:cNvSpPr/>
          <p:nvPr/>
        </p:nvSpPr>
        <p:spPr bwMode="auto">
          <a:xfrm>
            <a:off x="2482596" y="1824228"/>
            <a:ext cx="118872" cy="118872"/>
          </a:xfrm>
          <a:prstGeom prst="ellipse">
            <a:avLst/>
          </a:prstGeom>
          <a:solidFill>
            <a:srgbClr val="D93C41"/>
          </a:solidFill>
          <a:ln w="12700">
            <a:solidFill>
              <a:srgbClr val="D93C41"/>
            </a:solidFill>
            <a:prstDash val="solid"/>
          </a:ln>
        </p:spPr>
      </p:sp>
      <p:sp>
        <p:nvSpPr>
          <p:cNvPr id="165470318" name="circle-100"/>
          <p:cNvSpPr/>
          <p:nvPr/>
        </p:nvSpPr>
        <p:spPr bwMode="auto">
          <a:xfrm>
            <a:off x="1932127" y="1872234"/>
            <a:ext cx="118872" cy="118872"/>
          </a:xfrm>
          <a:prstGeom prst="ellipse">
            <a:avLst/>
          </a:prstGeom>
          <a:solidFill>
            <a:srgbClr val="D93C41"/>
          </a:solidFill>
          <a:ln w="12700">
            <a:solidFill>
              <a:srgbClr val="D93C41"/>
            </a:solidFill>
            <a:prstDash val="solid"/>
          </a:ln>
        </p:spPr>
      </p:sp>
      <p:sp>
        <p:nvSpPr>
          <p:cNvPr id="859227924" name="circle-101"/>
          <p:cNvSpPr/>
          <p:nvPr/>
        </p:nvSpPr>
        <p:spPr bwMode="auto">
          <a:xfrm>
            <a:off x="2246681" y="1968246"/>
            <a:ext cx="118872" cy="118872"/>
          </a:xfrm>
          <a:prstGeom prst="ellipse">
            <a:avLst/>
          </a:prstGeom>
          <a:solidFill>
            <a:srgbClr val="D93C41"/>
          </a:solidFill>
          <a:ln w="12700">
            <a:solidFill>
              <a:srgbClr val="D93C41"/>
            </a:solidFill>
            <a:prstDash val="solid"/>
          </a:ln>
        </p:spPr>
      </p:sp>
      <p:sp>
        <p:nvSpPr>
          <p:cNvPr id="7042649" name="circle-102"/>
          <p:cNvSpPr/>
          <p:nvPr/>
        </p:nvSpPr>
        <p:spPr bwMode="auto">
          <a:xfrm>
            <a:off x="2580894" y="1613002"/>
            <a:ext cx="118872" cy="118872"/>
          </a:xfrm>
          <a:prstGeom prst="ellipse">
            <a:avLst/>
          </a:prstGeom>
          <a:solidFill>
            <a:srgbClr val="D93C41"/>
          </a:solidFill>
          <a:ln w="12700">
            <a:solidFill>
              <a:srgbClr val="D93C41"/>
            </a:solidFill>
            <a:prstDash val="solid"/>
          </a:ln>
        </p:spPr>
      </p:sp>
      <p:sp>
        <p:nvSpPr>
          <p:cNvPr id="130719523" name="circle-103"/>
          <p:cNvSpPr/>
          <p:nvPr/>
        </p:nvSpPr>
        <p:spPr bwMode="auto">
          <a:xfrm>
            <a:off x="2089404" y="1613002"/>
            <a:ext cx="118872" cy="118872"/>
          </a:xfrm>
          <a:prstGeom prst="ellipse">
            <a:avLst/>
          </a:prstGeom>
          <a:solidFill>
            <a:srgbClr val="D93C41"/>
          </a:solidFill>
          <a:ln w="12700">
            <a:solidFill>
              <a:srgbClr val="D93C41"/>
            </a:solidFill>
            <a:prstDash val="solid"/>
          </a:ln>
        </p:spPr>
      </p:sp>
      <p:sp>
        <p:nvSpPr>
          <p:cNvPr id="561179204" name="line-104"/>
          <p:cNvSpPr/>
          <p:nvPr/>
        </p:nvSpPr>
        <p:spPr bwMode="auto">
          <a:xfrm flipV="1">
            <a:off x="1051560" y="1600200"/>
            <a:ext cx="1371600" cy="960120"/>
          </a:xfrm>
          <a:prstGeom prst="line">
            <a:avLst/>
          </a:prstGeom>
          <a:noFill/>
          <a:ln w="19050">
            <a:solidFill>
              <a:srgbClr val="64748B"/>
            </a:solidFill>
            <a:prstDash val="dash"/>
          </a:ln>
        </p:spPr>
      </p:sp>
      <p:sp>
        <p:nvSpPr>
          <p:cNvPr id="588054814" name="text-105"/>
          <p:cNvSpPr txBox="1"/>
          <p:nvPr/>
        </p:nvSpPr>
        <p:spPr bwMode="auto">
          <a:xfrm>
            <a:off x="640080" y="2834640"/>
            <a:ext cx="2240280" cy="320040"/>
          </a:xfrm>
          <a:prstGeom prst="rect">
            <a:avLst/>
          </a:prstGeom>
          <a:noFill/>
          <a:ln/>
        </p:spPr>
        <p:txBody>
          <a:bodyPr wrap="square" lIns="0" tIns="0" rIns="0" bIns="0" rtlCol="0" anchor="t"/>
          <a:lstStyle/>
          <a:p>
            <a:pPr marL="0" indent="0">
              <a:buNone/>
              <a:defRPr/>
            </a:pPr>
            <a:r>
              <a:rPr lang="en-US" sz="1700" b="1">
                <a:solidFill>
                  <a:schemeClr val="tx1"/>
                </a:solidFill>
              </a:rPr>
              <a:t>Classification</a:t>
            </a:r>
            <a:endParaRPr lang="en-US" sz="1700"/>
          </a:p>
        </p:txBody>
      </p:sp>
      <p:sp>
        <p:nvSpPr>
          <p:cNvPr id="2088829304" name="text-106"/>
          <p:cNvSpPr txBox="1"/>
          <p:nvPr/>
        </p:nvSpPr>
        <p:spPr bwMode="auto">
          <a:xfrm>
            <a:off x="640080" y="3200400"/>
            <a:ext cx="2240280" cy="502920"/>
          </a:xfrm>
          <a:prstGeom prst="rect">
            <a:avLst/>
          </a:prstGeom>
          <a:noFill/>
          <a:ln/>
        </p:spPr>
        <p:txBody>
          <a:bodyPr wrap="square" lIns="0" tIns="0" rIns="0" bIns="0" rtlCol="0" anchor="t"/>
          <a:lstStyle/>
          <a:p>
            <a:pPr marL="0" indent="0">
              <a:buNone/>
              <a:defRPr/>
            </a:pPr>
            <a:r>
              <a:rPr lang="en-US" sz="1400">
                <a:solidFill>
                  <a:schemeClr val="tx1"/>
                </a:solidFill>
              </a:rPr>
              <a:t>Predict a category</a:t>
            </a:r>
            <a:endParaRPr lang="en-US" sz="1400"/>
          </a:p>
        </p:txBody>
      </p:sp>
      <p:sp>
        <p:nvSpPr>
          <p:cNvPr id="396351220" name="text-107"/>
          <p:cNvSpPr txBox="1"/>
          <p:nvPr/>
        </p:nvSpPr>
        <p:spPr bwMode="auto">
          <a:xfrm>
            <a:off x="640080" y="3886200"/>
            <a:ext cx="2240280" cy="502920"/>
          </a:xfrm>
          <a:prstGeom prst="rect">
            <a:avLst/>
          </a:prstGeom>
          <a:noFill/>
          <a:ln/>
        </p:spPr>
        <p:txBody>
          <a:bodyPr wrap="square" lIns="0" tIns="0" rIns="0" bIns="0" rtlCol="0" anchor="t"/>
          <a:lstStyle/>
          <a:p>
            <a:pPr marL="0" indent="0">
              <a:buNone/>
              <a:defRPr/>
            </a:pPr>
            <a:r>
              <a:rPr lang="en-US" sz="1400" b="1">
                <a:solidFill>
                  <a:schemeClr val="accent1"/>
                </a:solidFill>
              </a:rPr>
              <a:t>e.g. </a:t>
            </a:r>
            <a:r>
              <a:rPr lang="en-US" sz="1400">
                <a:solidFill>
                  <a:schemeClr val="accent1"/>
                </a:solidFill>
              </a:rPr>
              <a:t>Is this email spam?</a:t>
            </a:r>
            <a:endParaRPr lang="en-US" sz="1400"/>
          </a:p>
        </p:txBody>
      </p:sp>
      <p:sp>
        <p:nvSpPr>
          <p:cNvPr id="125647813" name="card-108"/>
          <p:cNvSpPr/>
          <p:nvPr/>
        </p:nvSpPr>
        <p:spPr bwMode="auto">
          <a:xfrm>
            <a:off x="3268980" y="1280160"/>
            <a:ext cx="2606040" cy="3291840"/>
          </a:xfrm>
          <a:prstGeom prst="roundRect">
            <a:avLst>
              <a:gd name="adj" fmla="val 3509"/>
            </a:avLst>
          </a:prstGeom>
          <a:solidFill>
            <a:schemeClr val="bg2"/>
          </a:solidFill>
          <a:ln w="12700">
            <a:solidFill>
              <a:schemeClr val="bg2"/>
            </a:solidFill>
            <a:prstDash val="solid"/>
          </a:ln>
        </p:spPr>
      </p:sp>
      <p:sp>
        <p:nvSpPr>
          <p:cNvPr id="1647697820" name="plot-109"/>
          <p:cNvSpPr/>
          <p:nvPr/>
        </p:nvSpPr>
        <p:spPr bwMode="auto">
          <a:xfrm>
            <a:off x="3451860" y="1463040"/>
            <a:ext cx="2240280" cy="1234440"/>
          </a:xfrm>
          <a:prstGeom prst="roundRect">
            <a:avLst>
              <a:gd name="adj" fmla="val 4444"/>
            </a:avLst>
          </a:prstGeom>
          <a:solidFill>
            <a:srgbClr val="FFFFFF"/>
          </a:solidFill>
          <a:ln w="12700">
            <a:solidFill>
              <a:srgbClr val="FFFFFF"/>
            </a:solidFill>
            <a:prstDash val="solid"/>
          </a:ln>
        </p:spPr>
      </p:sp>
      <p:sp>
        <p:nvSpPr>
          <p:cNvPr id="1761649727" name="circle-110"/>
          <p:cNvSpPr/>
          <p:nvPr/>
        </p:nvSpPr>
        <p:spPr bwMode="auto">
          <a:xfrm>
            <a:off x="3682289" y="1680210"/>
            <a:ext cx="118872" cy="118872"/>
          </a:xfrm>
          <a:prstGeom prst="ellipse">
            <a:avLst/>
          </a:prstGeom>
          <a:solidFill>
            <a:srgbClr val="0B8478"/>
          </a:solidFill>
          <a:ln w="12700">
            <a:solidFill>
              <a:srgbClr val="0B8478"/>
            </a:solidFill>
            <a:prstDash val="solid"/>
          </a:ln>
        </p:spPr>
      </p:sp>
      <p:sp>
        <p:nvSpPr>
          <p:cNvPr id="511393039" name="circle-111"/>
          <p:cNvSpPr/>
          <p:nvPr/>
        </p:nvSpPr>
        <p:spPr bwMode="auto">
          <a:xfrm>
            <a:off x="3918204" y="1776222"/>
            <a:ext cx="118872" cy="118872"/>
          </a:xfrm>
          <a:prstGeom prst="ellipse">
            <a:avLst/>
          </a:prstGeom>
          <a:solidFill>
            <a:srgbClr val="0B8478"/>
          </a:solidFill>
          <a:ln w="12700">
            <a:solidFill>
              <a:srgbClr val="0B8478"/>
            </a:solidFill>
            <a:prstDash val="solid"/>
          </a:ln>
        </p:spPr>
      </p:sp>
      <p:sp>
        <p:nvSpPr>
          <p:cNvPr id="731185512" name="circle-112"/>
          <p:cNvSpPr/>
          <p:nvPr/>
        </p:nvSpPr>
        <p:spPr bwMode="auto">
          <a:xfrm>
            <a:off x="3800246" y="1901038"/>
            <a:ext cx="118872" cy="118872"/>
          </a:xfrm>
          <a:prstGeom prst="ellipse">
            <a:avLst/>
          </a:prstGeom>
          <a:solidFill>
            <a:srgbClr val="0B8478"/>
          </a:solidFill>
          <a:ln w="12700">
            <a:solidFill>
              <a:srgbClr val="0B8478"/>
            </a:solidFill>
            <a:prstDash val="solid"/>
          </a:ln>
        </p:spPr>
      </p:sp>
      <p:sp>
        <p:nvSpPr>
          <p:cNvPr id="2034859872" name="circle-113"/>
          <p:cNvSpPr/>
          <p:nvPr/>
        </p:nvSpPr>
        <p:spPr bwMode="auto">
          <a:xfrm>
            <a:off x="4036162" y="1651406"/>
            <a:ext cx="118872" cy="118872"/>
          </a:xfrm>
          <a:prstGeom prst="ellipse">
            <a:avLst/>
          </a:prstGeom>
          <a:solidFill>
            <a:srgbClr val="0B8478"/>
          </a:solidFill>
          <a:ln w="12700">
            <a:solidFill>
              <a:srgbClr val="0B8478"/>
            </a:solidFill>
            <a:prstDash val="solid"/>
          </a:ln>
        </p:spPr>
      </p:sp>
      <p:sp>
        <p:nvSpPr>
          <p:cNvPr id="59171453" name="circle-114"/>
          <p:cNvSpPr/>
          <p:nvPr/>
        </p:nvSpPr>
        <p:spPr bwMode="auto">
          <a:xfrm>
            <a:off x="4743907" y="1632204"/>
            <a:ext cx="118872" cy="118872"/>
          </a:xfrm>
          <a:prstGeom prst="ellipse">
            <a:avLst/>
          </a:prstGeom>
          <a:solidFill>
            <a:srgbClr val="5B5BD6"/>
          </a:solidFill>
          <a:ln w="12700">
            <a:solidFill>
              <a:srgbClr val="5B5BD6"/>
            </a:solidFill>
            <a:prstDash val="solid"/>
          </a:ln>
        </p:spPr>
      </p:sp>
      <p:sp>
        <p:nvSpPr>
          <p:cNvPr id="833122943" name="circle-115"/>
          <p:cNvSpPr/>
          <p:nvPr/>
        </p:nvSpPr>
        <p:spPr bwMode="auto">
          <a:xfrm>
            <a:off x="4999482" y="1747418"/>
            <a:ext cx="118872" cy="118872"/>
          </a:xfrm>
          <a:prstGeom prst="ellipse">
            <a:avLst/>
          </a:prstGeom>
          <a:solidFill>
            <a:srgbClr val="5B5BD6"/>
          </a:solidFill>
          <a:ln w="12700">
            <a:solidFill>
              <a:srgbClr val="5B5BD6"/>
            </a:solidFill>
            <a:prstDash val="solid"/>
          </a:ln>
        </p:spPr>
      </p:sp>
      <p:sp>
        <p:nvSpPr>
          <p:cNvPr id="1661235074" name="circle-116"/>
          <p:cNvSpPr/>
          <p:nvPr/>
        </p:nvSpPr>
        <p:spPr bwMode="auto">
          <a:xfrm>
            <a:off x="4901184" y="1872234"/>
            <a:ext cx="118872" cy="118872"/>
          </a:xfrm>
          <a:prstGeom prst="ellipse">
            <a:avLst/>
          </a:prstGeom>
          <a:solidFill>
            <a:srgbClr val="5B5BD6"/>
          </a:solidFill>
          <a:ln w="12700">
            <a:solidFill>
              <a:srgbClr val="5B5BD6"/>
            </a:solidFill>
            <a:prstDash val="solid"/>
          </a:ln>
        </p:spPr>
      </p:sp>
      <p:sp>
        <p:nvSpPr>
          <p:cNvPr id="1017285270" name="circle-117"/>
          <p:cNvSpPr/>
          <p:nvPr/>
        </p:nvSpPr>
        <p:spPr bwMode="auto">
          <a:xfrm>
            <a:off x="5215738" y="1680210"/>
            <a:ext cx="118872" cy="118872"/>
          </a:xfrm>
          <a:prstGeom prst="ellipse">
            <a:avLst/>
          </a:prstGeom>
          <a:solidFill>
            <a:srgbClr val="5B5BD6"/>
          </a:solidFill>
          <a:ln w="12700">
            <a:solidFill>
              <a:srgbClr val="5B5BD6"/>
            </a:solidFill>
            <a:prstDash val="solid"/>
          </a:ln>
        </p:spPr>
      </p:sp>
      <p:sp>
        <p:nvSpPr>
          <p:cNvPr id="257841114" name="circle-118"/>
          <p:cNvSpPr/>
          <p:nvPr/>
        </p:nvSpPr>
        <p:spPr bwMode="auto">
          <a:xfrm>
            <a:off x="4272077" y="2227478"/>
            <a:ext cx="118872" cy="118872"/>
          </a:xfrm>
          <a:prstGeom prst="ellipse">
            <a:avLst/>
          </a:prstGeom>
          <a:solidFill>
            <a:srgbClr val="F59E0B"/>
          </a:solidFill>
          <a:ln w="12700">
            <a:solidFill>
              <a:srgbClr val="F59E0B"/>
            </a:solidFill>
            <a:prstDash val="solid"/>
          </a:ln>
        </p:spPr>
      </p:sp>
      <p:sp>
        <p:nvSpPr>
          <p:cNvPr id="826387448" name="circle-119"/>
          <p:cNvSpPr/>
          <p:nvPr/>
        </p:nvSpPr>
        <p:spPr bwMode="auto">
          <a:xfrm>
            <a:off x="4507992" y="2352294"/>
            <a:ext cx="118872" cy="118872"/>
          </a:xfrm>
          <a:prstGeom prst="ellipse">
            <a:avLst/>
          </a:prstGeom>
          <a:solidFill>
            <a:srgbClr val="F59E0B"/>
          </a:solidFill>
          <a:ln w="12700">
            <a:solidFill>
              <a:srgbClr val="F59E0B"/>
            </a:solidFill>
            <a:prstDash val="solid"/>
          </a:ln>
        </p:spPr>
      </p:sp>
      <p:sp>
        <p:nvSpPr>
          <p:cNvPr id="1583946752" name="circle-120"/>
          <p:cNvSpPr/>
          <p:nvPr/>
        </p:nvSpPr>
        <p:spPr bwMode="auto">
          <a:xfrm>
            <a:off x="4390034" y="2448306"/>
            <a:ext cx="118872" cy="118872"/>
          </a:xfrm>
          <a:prstGeom prst="ellipse">
            <a:avLst/>
          </a:prstGeom>
          <a:solidFill>
            <a:srgbClr val="F59E0B"/>
          </a:solidFill>
          <a:ln w="12700">
            <a:solidFill>
              <a:srgbClr val="F59E0B"/>
            </a:solidFill>
            <a:prstDash val="solid"/>
          </a:ln>
        </p:spPr>
      </p:sp>
      <p:sp>
        <p:nvSpPr>
          <p:cNvPr id="717479996" name="circle-121"/>
          <p:cNvSpPr/>
          <p:nvPr/>
        </p:nvSpPr>
        <p:spPr bwMode="auto">
          <a:xfrm>
            <a:off x="4665269" y="2246681"/>
            <a:ext cx="118872" cy="118872"/>
          </a:xfrm>
          <a:prstGeom prst="ellipse">
            <a:avLst/>
          </a:prstGeom>
          <a:solidFill>
            <a:srgbClr val="F59E0B"/>
          </a:solidFill>
          <a:ln w="12700">
            <a:solidFill>
              <a:srgbClr val="F59E0B"/>
            </a:solidFill>
            <a:prstDash val="solid"/>
          </a:ln>
        </p:spPr>
      </p:sp>
      <p:sp>
        <p:nvSpPr>
          <p:cNvPr id="805389613" name="text-122"/>
          <p:cNvSpPr txBox="1"/>
          <p:nvPr/>
        </p:nvSpPr>
        <p:spPr bwMode="auto">
          <a:xfrm>
            <a:off x="3451860" y="2834640"/>
            <a:ext cx="2240280" cy="320040"/>
          </a:xfrm>
          <a:prstGeom prst="rect">
            <a:avLst/>
          </a:prstGeom>
          <a:noFill/>
          <a:ln/>
        </p:spPr>
        <p:txBody>
          <a:bodyPr wrap="square" lIns="0" tIns="0" rIns="0" bIns="0" rtlCol="0" anchor="t"/>
          <a:lstStyle/>
          <a:p>
            <a:pPr marL="0" indent="0">
              <a:buNone/>
              <a:defRPr/>
            </a:pPr>
            <a:r>
              <a:rPr lang="en-US" sz="1700" b="1">
                <a:solidFill>
                  <a:schemeClr val="tx1"/>
                </a:solidFill>
              </a:rPr>
              <a:t>Clustering</a:t>
            </a:r>
            <a:endParaRPr lang="en-US" sz="1700"/>
          </a:p>
        </p:txBody>
      </p:sp>
      <p:sp>
        <p:nvSpPr>
          <p:cNvPr id="464325769" name="text-123"/>
          <p:cNvSpPr txBox="1"/>
          <p:nvPr/>
        </p:nvSpPr>
        <p:spPr bwMode="auto">
          <a:xfrm>
            <a:off x="3451860" y="3200400"/>
            <a:ext cx="2240280" cy="502920"/>
          </a:xfrm>
          <a:prstGeom prst="rect">
            <a:avLst/>
          </a:prstGeom>
          <a:noFill/>
          <a:ln/>
        </p:spPr>
        <p:txBody>
          <a:bodyPr wrap="square" lIns="0" tIns="0" rIns="0" bIns="0" rtlCol="0" anchor="t"/>
          <a:lstStyle/>
          <a:p>
            <a:pPr marL="0" indent="0">
              <a:buNone/>
              <a:defRPr/>
            </a:pPr>
            <a:r>
              <a:rPr lang="en-US" sz="1400">
                <a:solidFill>
                  <a:schemeClr val="tx1"/>
                </a:solidFill>
              </a:rPr>
              <a:t>Group similar items without labels</a:t>
            </a:r>
            <a:endParaRPr lang="en-US" sz="1400"/>
          </a:p>
        </p:txBody>
      </p:sp>
      <p:sp>
        <p:nvSpPr>
          <p:cNvPr id="574014580" name="text-124"/>
          <p:cNvSpPr txBox="1"/>
          <p:nvPr/>
        </p:nvSpPr>
        <p:spPr bwMode="auto">
          <a:xfrm>
            <a:off x="3451860" y="3886200"/>
            <a:ext cx="2240280" cy="502920"/>
          </a:xfrm>
          <a:prstGeom prst="rect">
            <a:avLst/>
          </a:prstGeom>
          <a:noFill/>
          <a:ln/>
        </p:spPr>
        <p:txBody>
          <a:bodyPr wrap="square" lIns="0" tIns="0" rIns="0" bIns="0" rtlCol="0" anchor="t"/>
          <a:lstStyle/>
          <a:p>
            <a:pPr marL="0" indent="0">
              <a:buNone/>
              <a:defRPr/>
            </a:pPr>
            <a:r>
              <a:rPr lang="en-US" sz="1400" b="1">
                <a:solidFill>
                  <a:schemeClr val="accent1"/>
                </a:solidFill>
              </a:rPr>
              <a:t>e.g. </a:t>
            </a:r>
            <a:r>
              <a:rPr lang="en-US" sz="1400">
                <a:solidFill>
                  <a:schemeClr val="accent1"/>
                </a:solidFill>
              </a:rPr>
              <a:t>Customer segments</a:t>
            </a:r>
            <a:endParaRPr lang="en-US" sz="1400"/>
          </a:p>
        </p:txBody>
      </p:sp>
      <p:sp>
        <p:nvSpPr>
          <p:cNvPr id="1441270933" name="card-125"/>
          <p:cNvSpPr/>
          <p:nvPr/>
        </p:nvSpPr>
        <p:spPr bwMode="auto">
          <a:xfrm>
            <a:off x="6080760" y="1280160"/>
            <a:ext cx="2606040" cy="3291840"/>
          </a:xfrm>
          <a:prstGeom prst="roundRect">
            <a:avLst>
              <a:gd name="adj" fmla="val 3509"/>
            </a:avLst>
          </a:prstGeom>
          <a:solidFill>
            <a:schemeClr val="bg2"/>
          </a:solidFill>
          <a:ln w="12700">
            <a:solidFill>
              <a:schemeClr val="bg2"/>
            </a:solidFill>
            <a:prstDash val="solid"/>
          </a:ln>
        </p:spPr>
      </p:sp>
      <p:sp>
        <p:nvSpPr>
          <p:cNvPr id="650843792" name="plot-126"/>
          <p:cNvSpPr/>
          <p:nvPr/>
        </p:nvSpPr>
        <p:spPr bwMode="auto">
          <a:xfrm>
            <a:off x="6263640" y="1463040"/>
            <a:ext cx="2240280" cy="1234440"/>
          </a:xfrm>
          <a:prstGeom prst="roundRect">
            <a:avLst>
              <a:gd name="adj" fmla="val 4444"/>
            </a:avLst>
          </a:prstGeom>
          <a:solidFill>
            <a:srgbClr val="FFFFFF"/>
          </a:solidFill>
          <a:ln w="12700">
            <a:solidFill>
              <a:srgbClr val="FFFFFF"/>
            </a:solidFill>
            <a:prstDash val="solid"/>
          </a:ln>
        </p:spPr>
      </p:sp>
      <p:sp>
        <p:nvSpPr>
          <p:cNvPr id="472541780" name="circle-127"/>
          <p:cNvSpPr/>
          <p:nvPr/>
        </p:nvSpPr>
        <p:spPr bwMode="auto">
          <a:xfrm>
            <a:off x="6454750" y="2323490"/>
            <a:ext cx="118872" cy="118872"/>
          </a:xfrm>
          <a:prstGeom prst="ellipse">
            <a:avLst/>
          </a:prstGeom>
          <a:solidFill>
            <a:srgbClr val="2F6FED"/>
          </a:solidFill>
          <a:ln w="12700">
            <a:solidFill>
              <a:srgbClr val="2F6FED"/>
            </a:solidFill>
            <a:prstDash val="solid"/>
          </a:ln>
        </p:spPr>
      </p:sp>
      <p:sp>
        <p:nvSpPr>
          <p:cNvPr id="146727282" name="circle-128"/>
          <p:cNvSpPr/>
          <p:nvPr/>
        </p:nvSpPr>
        <p:spPr bwMode="auto">
          <a:xfrm>
            <a:off x="6651346" y="2208276"/>
            <a:ext cx="118872" cy="118872"/>
          </a:xfrm>
          <a:prstGeom prst="ellipse">
            <a:avLst/>
          </a:prstGeom>
          <a:solidFill>
            <a:srgbClr val="2F6FED"/>
          </a:solidFill>
          <a:ln w="12700">
            <a:solidFill>
              <a:srgbClr val="2F6FED"/>
            </a:solidFill>
            <a:prstDash val="solid"/>
          </a:ln>
        </p:spPr>
      </p:sp>
      <p:sp>
        <p:nvSpPr>
          <p:cNvPr id="1041691779" name="circle-129"/>
          <p:cNvSpPr/>
          <p:nvPr/>
        </p:nvSpPr>
        <p:spPr bwMode="auto">
          <a:xfrm>
            <a:off x="6828282" y="2227478"/>
            <a:ext cx="118872" cy="118872"/>
          </a:xfrm>
          <a:prstGeom prst="ellipse">
            <a:avLst/>
          </a:prstGeom>
          <a:solidFill>
            <a:srgbClr val="2F6FED"/>
          </a:solidFill>
          <a:ln w="12700">
            <a:solidFill>
              <a:srgbClr val="2F6FED"/>
            </a:solidFill>
            <a:prstDash val="solid"/>
          </a:ln>
        </p:spPr>
      </p:sp>
      <p:sp>
        <p:nvSpPr>
          <p:cNvPr id="505768705" name="circle-130"/>
          <p:cNvSpPr/>
          <p:nvPr/>
        </p:nvSpPr>
        <p:spPr bwMode="auto">
          <a:xfrm>
            <a:off x="7024878" y="2064258"/>
            <a:ext cx="118872" cy="118872"/>
          </a:xfrm>
          <a:prstGeom prst="ellipse">
            <a:avLst/>
          </a:prstGeom>
          <a:solidFill>
            <a:srgbClr val="2F6FED"/>
          </a:solidFill>
          <a:ln w="12700">
            <a:solidFill>
              <a:srgbClr val="2F6FED"/>
            </a:solidFill>
            <a:prstDash val="solid"/>
          </a:ln>
        </p:spPr>
      </p:sp>
      <p:sp>
        <p:nvSpPr>
          <p:cNvPr id="1431704952" name="circle-131"/>
          <p:cNvSpPr/>
          <p:nvPr/>
        </p:nvSpPr>
        <p:spPr bwMode="auto">
          <a:xfrm>
            <a:off x="7221474" y="2016252"/>
            <a:ext cx="118872" cy="118872"/>
          </a:xfrm>
          <a:prstGeom prst="ellipse">
            <a:avLst/>
          </a:prstGeom>
          <a:solidFill>
            <a:srgbClr val="2F6FED"/>
          </a:solidFill>
          <a:ln w="12700">
            <a:solidFill>
              <a:srgbClr val="2F6FED"/>
            </a:solidFill>
            <a:prstDash val="solid"/>
          </a:ln>
        </p:spPr>
      </p:sp>
      <p:sp>
        <p:nvSpPr>
          <p:cNvPr id="1390711487" name="circle-132"/>
          <p:cNvSpPr/>
          <p:nvPr/>
        </p:nvSpPr>
        <p:spPr bwMode="auto">
          <a:xfrm>
            <a:off x="7418070" y="1901038"/>
            <a:ext cx="118872" cy="118872"/>
          </a:xfrm>
          <a:prstGeom prst="ellipse">
            <a:avLst/>
          </a:prstGeom>
          <a:solidFill>
            <a:srgbClr val="2F6FED"/>
          </a:solidFill>
          <a:ln w="12700">
            <a:solidFill>
              <a:srgbClr val="2F6FED"/>
            </a:solidFill>
            <a:prstDash val="solid"/>
          </a:ln>
        </p:spPr>
      </p:sp>
      <p:sp>
        <p:nvSpPr>
          <p:cNvPr id="1956087691" name="circle-133"/>
          <p:cNvSpPr/>
          <p:nvPr/>
        </p:nvSpPr>
        <p:spPr bwMode="auto">
          <a:xfrm>
            <a:off x="7634326" y="1920240"/>
            <a:ext cx="118872" cy="118872"/>
          </a:xfrm>
          <a:prstGeom prst="ellipse">
            <a:avLst/>
          </a:prstGeom>
          <a:solidFill>
            <a:srgbClr val="2F6FED"/>
          </a:solidFill>
          <a:ln w="12700">
            <a:solidFill>
              <a:srgbClr val="2F6FED"/>
            </a:solidFill>
            <a:prstDash val="solid"/>
          </a:ln>
        </p:spPr>
      </p:sp>
      <p:sp>
        <p:nvSpPr>
          <p:cNvPr id="269850393" name="circle-134"/>
          <p:cNvSpPr/>
          <p:nvPr/>
        </p:nvSpPr>
        <p:spPr bwMode="auto">
          <a:xfrm>
            <a:off x="7830922" y="1747418"/>
            <a:ext cx="118872" cy="118872"/>
          </a:xfrm>
          <a:prstGeom prst="ellipse">
            <a:avLst/>
          </a:prstGeom>
          <a:solidFill>
            <a:srgbClr val="2F6FED"/>
          </a:solidFill>
          <a:ln w="12700">
            <a:solidFill>
              <a:srgbClr val="2F6FED"/>
            </a:solidFill>
            <a:prstDash val="solid"/>
          </a:ln>
        </p:spPr>
      </p:sp>
      <p:sp>
        <p:nvSpPr>
          <p:cNvPr id="2105108840" name="circle-135"/>
          <p:cNvSpPr/>
          <p:nvPr/>
        </p:nvSpPr>
        <p:spPr bwMode="auto">
          <a:xfrm>
            <a:off x="8027518" y="1728216"/>
            <a:ext cx="118872" cy="118872"/>
          </a:xfrm>
          <a:prstGeom prst="ellipse">
            <a:avLst/>
          </a:prstGeom>
          <a:solidFill>
            <a:srgbClr val="2F6FED"/>
          </a:solidFill>
          <a:ln w="12700">
            <a:solidFill>
              <a:srgbClr val="2F6FED"/>
            </a:solidFill>
            <a:prstDash val="solid"/>
          </a:ln>
        </p:spPr>
      </p:sp>
      <p:sp>
        <p:nvSpPr>
          <p:cNvPr id="552795106" name="circle-136"/>
          <p:cNvSpPr/>
          <p:nvPr/>
        </p:nvSpPr>
        <p:spPr bwMode="auto">
          <a:xfrm>
            <a:off x="8184794" y="1593799"/>
            <a:ext cx="118872" cy="118872"/>
          </a:xfrm>
          <a:prstGeom prst="ellipse">
            <a:avLst/>
          </a:prstGeom>
          <a:solidFill>
            <a:srgbClr val="2F6FED"/>
          </a:solidFill>
          <a:ln w="12700">
            <a:solidFill>
              <a:srgbClr val="2F6FED"/>
            </a:solidFill>
            <a:prstDash val="solid"/>
          </a:ln>
        </p:spPr>
      </p:sp>
      <p:sp>
        <p:nvSpPr>
          <p:cNvPr id="1558240473" name="line-137"/>
          <p:cNvSpPr/>
          <p:nvPr/>
        </p:nvSpPr>
        <p:spPr bwMode="auto">
          <a:xfrm flipV="1">
            <a:off x="6446520" y="1627632"/>
            <a:ext cx="1874520" cy="886968"/>
          </a:xfrm>
          <a:prstGeom prst="line">
            <a:avLst/>
          </a:prstGeom>
          <a:noFill/>
          <a:ln w="25400">
            <a:solidFill>
              <a:srgbClr val="D93C41"/>
            </a:solidFill>
            <a:prstDash val="solid"/>
          </a:ln>
        </p:spPr>
      </p:sp>
      <p:sp>
        <p:nvSpPr>
          <p:cNvPr id="1944585266" name="text-138"/>
          <p:cNvSpPr txBox="1"/>
          <p:nvPr/>
        </p:nvSpPr>
        <p:spPr bwMode="auto">
          <a:xfrm>
            <a:off x="6263640" y="2834640"/>
            <a:ext cx="2240280" cy="320040"/>
          </a:xfrm>
          <a:prstGeom prst="rect">
            <a:avLst/>
          </a:prstGeom>
          <a:noFill/>
          <a:ln/>
        </p:spPr>
        <p:txBody>
          <a:bodyPr wrap="square" lIns="0" tIns="0" rIns="0" bIns="0" rtlCol="0" anchor="t"/>
          <a:lstStyle/>
          <a:p>
            <a:pPr marL="0" indent="0">
              <a:buNone/>
              <a:defRPr/>
            </a:pPr>
            <a:r>
              <a:rPr lang="en-US" sz="1700" b="1">
                <a:solidFill>
                  <a:schemeClr val="tx1"/>
                </a:solidFill>
              </a:rPr>
              <a:t>Regression</a:t>
            </a:r>
            <a:endParaRPr lang="en-US" sz="1700"/>
          </a:p>
        </p:txBody>
      </p:sp>
      <p:sp>
        <p:nvSpPr>
          <p:cNvPr id="445747738" name="text-139"/>
          <p:cNvSpPr txBox="1"/>
          <p:nvPr/>
        </p:nvSpPr>
        <p:spPr bwMode="auto">
          <a:xfrm>
            <a:off x="6263640" y="3200400"/>
            <a:ext cx="2240280" cy="502920"/>
          </a:xfrm>
          <a:prstGeom prst="rect">
            <a:avLst/>
          </a:prstGeom>
          <a:noFill/>
          <a:ln/>
        </p:spPr>
        <p:txBody>
          <a:bodyPr wrap="square" lIns="0" tIns="0" rIns="0" bIns="0" rtlCol="0" anchor="t"/>
          <a:lstStyle/>
          <a:p>
            <a:pPr marL="0" indent="0">
              <a:buNone/>
              <a:defRPr/>
            </a:pPr>
            <a:r>
              <a:rPr lang="en-US" sz="1400">
                <a:solidFill>
                  <a:schemeClr val="tx1"/>
                </a:solidFill>
              </a:rPr>
              <a:t>Predict a number</a:t>
            </a:r>
            <a:endParaRPr lang="en-US" sz="1400"/>
          </a:p>
        </p:txBody>
      </p:sp>
      <p:sp>
        <p:nvSpPr>
          <p:cNvPr id="733219779" name="text-140"/>
          <p:cNvSpPr txBox="1"/>
          <p:nvPr/>
        </p:nvSpPr>
        <p:spPr bwMode="auto">
          <a:xfrm>
            <a:off x="6263640" y="3886200"/>
            <a:ext cx="2240280" cy="502920"/>
          </a:xfrm>
          <a:prstGeom prst="rect">
            <a:avLst/>
          </a:prstGeom>
          <a:noFill/>
          <a:ln/>
        </p:spPr>
        <p:txBody>
          <a:bodyPr wrap="square" lIns="0" tIns="0" rIns="0" bIns="0" rtlCol="0" anchor="t"/>
          <a:lstStyle/>
          <a:p>
            <a:pPr marL="0" indent="0">
              <a:buNone/>
              <a:defRPr/>
            </a:pPr>
            <a:r>
              <a:rPr lang="en-US" sz="1400" b="1">
                <a:solidFill>
                  <a:schemeClr val="accent1"/>
                </a:solidFill>
              </a:rPr>
              <a:t>e.g. </a:t>
            </a:r>
            <a:r>
              <a:rPr lang="en-US" sz="1400">
                <a:solidFill>
                  <a:schemeClr val="accent1"/>
                </a:solidFill>
              </a:rPr>
              <a:t>Next year's house price</a:t>
            </a:r>
            <a:endParaRPr lang="en-US" sz="1400"/>
          </a:p>
        </p:txBody>
      </p:sp>
      <p:sp>
        <p:nvSpPr>
          <p:cNvPr id="1686472925" name="Slide Number Placeholder 0"/>
          <p:cNvSpPr>
            <a:spLocks noGrp="1"/>
          </p:cNvSpPr>
          <p:nvPr>
            <p:ph type="sldNum" sz="quarter" idx="4294967295"/>
          </p:nvPr>
        </p:nvSpPr>
        <p:spPr bwMode="auto">
          <a:xfrm>
            <a:off x="8229600" y="4800600"/>
            <a:ext cx="457200" cy="228600"/>
          </a:xfrm>
          <a:prstGeom prst="rect">
            <a:avLst/>
          </a:prstGeom>
        </p:spPr>
        <p:txBody>
          <a:bodyPr/>
          <a:lstStyle>
            <a:lvl1pPr>
              <a:defRPr sz="1000">
                <a:solidFill>
                  <a:schemeClr val="accent5"/>
                </a:solidFill>
              </a:defRPr>
            </a:lvl1pPr>
          </a:lstStyle>
          <a:p>
            <a:pPr algn="r">
              <a:defRPr/>
            </a:pPr>
            <a:fld id="{F7021451-1387-4CA6-816F-3879F97B5CBC}" type="slidenum">
              <a:rPr lang="en-US" b="0"/>
              <a:t>7</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8">
    <p:spTree>
      <p:nvGrpSpPr>
        <p:cNvPr id="1" name=""/>
        <p:cNvGrpSpPr/>
        <p:nvPr/>
      </p:nvGrpSpPr>
      <p:grpSpPr bwMode="auto">
        <a:xfrm>
          <a:off x="0" y="0"/>
          <a:ext cx="0" cy="0"/>
          <a:chOff x="0" y="0"/>
          <a:chExt cx="0" cy="0"/>
        </a:xfrm>
      </p:grpSpPr>
      <p:sp>
        <p:nvSpPr>
          <p:cNvPr id="1598532860" name="Text 0"/>
          <p:cNvSpPr/>
          <p:nvPr>
            <p:ph type="title" idx="100" hasCustomPrompt="1"/>
          </p:nvPr>
        </p:nvSpPr>
        <p:spPr bwMode="auto">
          <a:xfrm>
            <a:off x="457200" y="274320"/>
            <a:ext cx="8229600" cy="731520"/>
          </a:xfrm>
          <a:prstGeom prst="rect">
            <a:avLst/>
          </a:prstGeom>
          <a:noFill/>
          <a:ln/>
        </p:spPr>
        <p:txBody>
          <a:bodyPr wrap="square" lIns="0" tIns="0" rIns="0" bIns="0" rtlCol="0" anchor="ctr"/>
          <a:lstStyle/>
          <a:p>
            <a:pPr marL="0" indent="0" algn="l">
              <a:buNone/>
              <a:defRPr/>
            </a:pPr>
            <a:r>
              <a:rPr lang="en-US" sz="3000" b="1">
                <a:solidFill>
                  <a:schemeClr val="tx2"/>
                </a:solidFill>
              </a:rPr>
              <a:t>Three types of learning</a:t>
            </a:r>
            <a:endParaRPr lang="en-US" sz="3000"/>
          </a:p>
        </p:txBody>
      </p:sp>
      <p:sp>
        <p:nvSpPr>
          <p:cNvPr id="477955271" name="card-141"/>
          <p:cNvSpPr/>
          <p:nvPr/>
        </p:nvSpPr>
        <p:spPr bwMode="auto">
          <a:xfrm>
            <a:off x="457200" y="1234440"/>
            <a:ext cx="2606040" cy="3108960"/>
          </a:xfrm>
          <a:prstGeom prst="roundRect">
            <a:avLst>
              <a:gd name="adj" fmla="val 3509"/>
            </a:avLst>
          </a:prstGeom>
          <a:solidFill>
            <a:schemeClr val="bg2"/>
          </a:solidFill>
          <a:ln w="12700">
            <a:solidFill>
              <a:schemeClr val="bg2"/>
            </a:solidFill>
            <a:prstDash val="solid"/>
          </a:ln>
        </p:spPr>
      </p:sp>
      <p:sp>
        <p:nvSpPr>
          <p:cNvPr id="1245771741" name="circle-142"/>
          <p:cNvSpPr/>
          <p:nvPr/>
        </p:nvSpPr>
        <p:spPr bwMode="auto">
          <a:xfrm>
            <a:off x="685800" y="1417320"/>
            <a:ext cx="548640" cy="548640"/>
          </a:xfrm>
          <a:prstGeom prst="ellipse">
            <a:avLst/>
          </a:prstGeom>
          <a:solidFill>
            <a:srgbClr val="2F6FED"/>
          </a:solidFill>
          <a:ln w="12700">
            <a:solidFill>
              <a:srgbClr val="2F6FED"/>
            </a:solidFill>
            <a:prstDash val="solid"/>
          </a:ln>
        </p:spPr>
      </p:sp>
      <p:pic>
        <p:nvPicPr>
          <p:cNvPr id="2120833880" name="icon-143" descr="preencoded.png"/>
          <p:cNvPicPr>
            <a:picLocks noChangeAspect="1"/>
          </p:cNvPicPr>
          <p:nvPr/>
        </p:nvPicPr>
        <p:blipFill rotWithShape="1">
          <a:blip r:embed="rId3"/>
          <a:stretch/>
        </p:blipFill>
        <p:spPr bwMode="auto">
          <a:xfrm>
            <a:off x="839418" y="1570939"/>
            <a:ext cx="241402" cy="241402"/>
          </a:xfrm>
          <a:prstGeom prst="rect">
            <a:avLst/>
          </a:prstGeom>
        </p:spPr>
      </p:pic>
      <p:sp>
        <p:nvSpPr>
          <p:cNvPr id="1461012246" name="text-144"/>
          <p:cNvSpPr txBox="1"/>
          <p:nvPr/>
        </p:nvSpPr>
        <p:spPr bwMode="auto">
          <a:xfrm>
            <a:off x="1371600" y="1536192"/>
            <a:ext cx="1645920" cy="320040"/>
          </a:xfrm>
          <a:prstGeom prst="rect">
            <a:avLst/>
          </a:prstGeom>
          <a:noFill/>
          <a:ln/>
        </p:spPr>
        <p:txBody>
          <a:bodyPr wrap="square" lIns="0" tIns="0" rIns="0" bIns="0" rtlCol="0" anchor="t"/>
          <a:lstStyle/>
          <a:p>
            <a:pPr marL="0" indent="0">
              <a:buNone/>
              <a:defRPr/>
            </a:pPr>
            <a:r>
              <a:rPr lang="en-US" sz="1700" b="1">
                <a:solidFill>
                  <a:schemeClr val="tx1"/>
                </a:solidFill>
              </a:rPr>
              <a:t>Supervised</a:t>
            </a:r>
            <a:endParaRPr lang="en-US" sz="1700"/>
          </a:p>
        </p:txBody>
      </p:sp>
      <p:sp>
        <p:nvSpPr>
          <p:cNvPr id="2087640493" name="text-145"/>
          <p:cNvSpPr txBox="1"/>
          <p:nvPr/>
        </p:nvSpPr>
        <p:spPr bwMode="auto">
          <a:xfrm>
            <a:off x="685800" y="2148840"/>
            <a:ext cx="2194560" cy="2377440"/>
          </a:xfrm>
          <a:prstGeom prst="rect">
            <a:avLst/>
          </a:prstGeom>
          <a:noFill/>
          <a:ln/>
        </p:spPr>
        <p:txBody>
          <a:bodyPr wrap="square" lIns="0" tIns="0" rIns="0" bIns="0" rtlCol="0" anchor="t"/>
          <a:lstStyle/>
          <a:p>
            <a:pPr marL="0" indent="0">
              <a:spcAft>
                <a:spcPts val="300"/>
              </a:spcAft>
              <a:buNone/>
              <a:defRPr/>
            </a:pPr>
            <a:r>
              <a:rPr lang="en-US" sz="1400" b="1">
                <a:solidFill>
                  <a:schemeClr val="accent5"/>
                </a:solidFill>
              </a:rPr>
              <a:t>Data</a:t>
            </a:r>
            <a:endParaRPr lang="en-US" sz="1400"/>
          </a:p>
          <a:p>
            <a:pPr marL="0" indent="0">
              <a:spcAft>
                <a:spcPts val="300"/>
              </a:spcAft>
              <a:buNone/>
              <a:defRPr/>
            </a:pPr>
            <a:r>
              <a:rPr lang="en-US" sz="1400">
                <a:solidFill>
                  <a:schemeClr val="tx1"/>
                </a:solidFill>
              </a:rPr>
              <a:t>Labelled examples</a:t>
            </a:r>
            <a:endParaRPr lang="en-US" sz="1400"/>
          </a:p>
          <a:p>
            <a:pPr marL="0" indent="0">
              <a:spcAft>
                <a:spcPts val="300"/>
              </a:spcAft>
              <a:buNone/>
              <a:defRPr/>
            </a:pPr>
            <a:r>
              <a:rPr lang="en-US" sz="1400" b="1">
                <a:solidFill>
                  <a:schemeClr val="accent5"/>
                </a:solidFill>
              </a:rPr>
              <a:t>Learns</a:t>
            </a:r>
            <a:endParaRPr lang="en-US" sz="1400"/>
          </a:p>
          <a:p>
            <a:pPr marL="0" indent="0">
              <a:spcAft>
                <a:spcPts val="300"/>
              </a:spcAft>
              <a:buNone/>
              <a:defRPr/>
            </a:pPr>
            <a:r>
              <a:rPr lang="en-US" sz="1400">
                <a:solidFill>
                  <a:schemeClr val="tx1"/>
                </a:solidFill>
              </a:rPr>
              <a:t>Maps inputs to known answers</a:t>
            </a:r>
            <a:endParaRPr lang="en-US" sz="1400"/>
          </a:p>
          <a:p>
            <a:pPr marL="0" indent="0">
              <a:spcAft>
                <a:spcPts val="300"/>
              </a:spcAft>
              <a:buNone/>
              <a:defRPr/>
            </a:pPr>
            <a:r>
              <a:rPr lang="en-US" sz="1400" b="1">
                <a:solidFill>
                  <a:schemeClr val="accent5"/>
                </a:solidFill>
              </a:rPr>
              <a:t>Examples</a:t>
            </a:r>
            <a:endParaRPr lang="en-US" sz="1400"/>
          </a:p>
          <a:p>
            <a:pPr marL="0" indent="0">
              <a:spcAft>
                <a:spcPts val="300"/>
              </a:spcAft>
              <a:buNone/>
              <a:defRPr/>
            </a:pPr>
            <a:r>
              <a:rPr lang="en-US" sz="1400">
                <a:solidFill>
                  <a:schemeClr val="tx1"/>
                </a:solidFill>
              </a:rPr>
              <a:t>Spam detection, price forecasts</a:t>
            </a:r>
            <a:endParaRPr lang="en-US" sz="1400"/>
          </a:p>
        </p:txBody>
      </p:sp>
      <p:sp>
        <p:nvSpPr>
          <p:cNvPr id="785342222" name="card-146"/>
          <p:cNvSpPr/>
          <p:nvPr/>
        </p:nvSpPr>
        <p:spPr bwMode="auto">
          <a:xfrm>
            <a:off x="3268980" y="1234440"/>
            <a:ext cx="2606040" cy="3108960"/>
          </a:xfrm>
          <a:prstGeom prst="roundRect">
            <a:avLst>
              <a:gd name="adj" fmla="val 3509"/>
            </a:avLst>
          </a:prstGeom>
          <a:solidFill>
            <a:schemeClr val="bg2"/>
          </a:solidFill>
          <a:ln w="12700">
            <a:solidFill>
              <a:schemeClr val="bg2"/>
            </a:solidFill>
            <a:prstDash val="solid"/>
          </a:ln>
        </p:spPr>
      </p:sp>
      <p:sp>
        <p:nvSpPr>
          <p:cNvPr id="346291975" name="circle-147"/>
          <p:cNvSpPr/>
          <p:nvPr/>
        </p:nvSpPr>
        <p:spPr bwMode="auto">
          <a:xfrm>
            <a:off x="3497580" y="1417320"/>
            <a:ext cx="548640" cy="548640"/>
          </a:xfrm>
          <a:prstGeom prst="ellipse">
            <a:avLst/>
          </a:prstGeom>
          <a:solidFill>
            <a:srgbClr val="5B5BD6"/>
          </a:solidFill>
          <a:ln w="12700">
            <a:solidFill>
              <a:srgbClr val="5B5BD6"/>
            </a:solidFill>
            <a:prstDash val="solid"/>
          </a:ln>
        </p:spPr>
      </p:sp>
      <p:pic>
        <p:nvPicPr>
          <p:cNvPr id="71476791" name="icon-148" descr="preencoded.png"/>
          <p:cNvPicPr>
            <a:picLocks noChangeAspect="1"/>
          </p:cNvPicPr>
          <p:nvPr/>
        </p:nvPicPr>
        <p:blipFill rotWithShape="1">
          <a:blip r:embed="rId4"/>
          <a:stretch/>
        </p:blipFill>
        <p:spPr bwMode="auto">
          <a:xfrm>
            <a:off x="3651199" y="1570939"/>
            <a:ext cx="241402" cy="241402"/>
          </a:xfrm>
          <a:prstGeom prst="rect">
            <a:avLst/>
          </a:prstGeom>
        </p:spPr>
      </p:pic>
      <p:sp>
        <p:nvSpPr>
          <p:cNvPr id="1400550296" name="text-149"/>
          <p:cNvSpPr txBox="1"/>
          <p:nvPr/>
        </p:nvSpPr>
        <p:spPr bwMode="auto">
          <a:xfrm>
            <a:off x="4183380" y="1536192"/>
            <a:ext cx="1645920" cy="320040"/>
          </a:xfrm>
          <a:prstGeom prst="rect">
            <a:avLst/>
          </a:prstGeom>
          <a:noFill/>
          <a:ln/>
        </p:spPr>
        <p:txBody>
          <a:bodyPr wrap="square" lIns="0" tIns="0" rIns="0" bIns="0" rtlCol="0" anchor="t"/>
          <a:lstStyle/>
          <a:p>
            <a:pPr marL="0" indent="0">
              <a:buNone/>
              <a:defRPr/>
            </a:pPr>
            <a:r>
              <a:rPr lang="en-US" sz="1700" b="1">
                <a:solidFill>
                  <a:schemeClr val="tx1"/>
                </a:solidFill>
              </a:rPr>
              <a:t>Unsupervised</a:t>
            </a:r>
            <a:endParaRPr lang="en-US" sz="1700"/>
          </a:p>
        </p:txBody>
      </p:sp>
      <p:sp>
        <p:nvSpPr>
          <p:cNvPr id="192951656" name="text-150"/>
          <p:cNvSpPr txBox="1"/>
          <p:nvPr/>
        </p:nvSpPr>
        <p:spPr bwMode="auto">
          <a:xfrm>
            <a:off x="3497580" y="2148840"/>
            <a:ext cx="2194560" cy="2377440"/>
          </a:xfrm>
          <a:prstGeom prst="rect">
            <a:avLst/>
          </a:prstGeom>
          <a:noFill/>
          <a:ln/>
        </p:spPr>
        <p:txBody>
          <a:bodyPr wrap="square" lIns="0" tIns="0" rIns="0" bIns="0" rtlCol="0" anchor="t"/>
          <a:lstStyle/>
          <a:p>
            <a:pPr marL="0" indent="0">
              <a:spcAft>
                <a:spcPts val="300"/>
              </a:spcAft>
              <a:buNone/>
              <a:defRPr/>
            </a:pPr>
            <a:r>
              <a:rPr lang="en-US" sz="1400" b="1">
                <a:solidFill>
                  <a:schemeClr val="accent5"/>
                </a:solidFill>
              </a:rPr>
              <a:t>Data</a:t>
            </a:r>
            <a:endParaRPr lang="en-US" sz="1400"/>
          </a:p>
          <a:p>
            <a:pPr marL="0" indent="0">
              <a:spcAft>
                <a:spcPts val="300"/>
              </a:spcAft>
              <a:buNone/>
              <a:defRPr/>
            </a:pPr>
            <a:r>
              <a:rPr lang="en-US" sz="1400">
                <a:solidFill>
                  <a:schemeClr val="tx1"/>
                </a:solidFill>
              </a:rPr>
              <a:t>Unlabelled data</a:t>
            </a:r>
            <a:endParaRPr lang="en-US" sz="1400"/>
          </a:p>
          <a:p>
            <a:pPr marL="0" indent="0">
              <a:spcAft>
                <a:spcPts val="300"/>
              </a:spcAft>
              <a:buNone/>
              <a:defRPr/>
            </a:pPr>
            <a:r>
              <a:rPr lang="en-US" sz="1400" b="1">
                <a:solidFill>
                  <a:schemeClr val="accent5"/>
                </a:solidFill>
              </a:rPr>
              <a:t>Learns</a:t>
            </a:r>
            <a:endParaRPr lang="en-US" sz="1400"/>
          </a:p>
          <a:p>
            <a:pPr marL="0" indent="0">
              <a:spcAft>
                <a:spcPts val="300"/>
              </a:spcAft>
              <a:buNone/>
              <a:defRPr/>
            </a:pPr>
            <a:r>
              <a:rPr lang="en-US" sz="1400">
                <a:solidFill>
                  <a:schemeClr val="tx1"/>
                </a:solidFill>
              </a:rPr>
              <a:t>Finds hidden structure</a:t>
            </a:r>
            <a:endParaRPr lang="en-US" sz="1400"/>
          </a:p>
          <a:p>
            <a:pPr marL="0" indent="0">
              <a:spcAft>
                <a:spcPts val="300"/>
              </a:spcAft>
              <a:buNone/>
              <a:defRPr/>
            </a:pPr>
            <a:r>
              <a:rPr lang="en-US" sz="1400" b="1">
                <a:solidFill>
                  <a:schemeClr val="accent5"/>
                </a:solidFill>
              </a:rPr>
              <a:t>Examples</a:t>
            </a:r>
            <a:endParaRPr lang="en-US" sz="1400"/>
          </a:p>
          <a:p>
            <a:pPr marL="0" indent="0">
              <a:spcAft>
                <a:spcPts val="300"/>
              </a:spcAft>
              <a:buNone/>
              <a:defRPr/>
            </a:pPr>
            <a:r>
              <a:rPr lang="en-US" sz="1400">
                <a:solidFill>
                  <a:schemeClr val="tx1"/>
                </a:solidFill>
              </a:rPr>
              <a:t>Customer segments, anomaly detection</a:t>
            </a:r>
            <a:endParaRPr lang="en-US" sz="1400"/>
          </a:p>
        </p:txBody>
      </p:sp>
      <p:sp>
        <p:nvSpPr>
          <p:cNvPr id="614136026" name="card-151"/>
          <p:cNvSpPr/>
          <p:nvPr/>
        </p:nvSpPr>
        <p:spPr bwMode="auto">
          <a:xfrm>
            <a:off x="6080760" y="1234440"/>
            <a:ext cx="2606040" cy="3108960"/>
          </a:xfrm>
          <a:prstGeom prst="roundRect">
            <a:avLst>
              <a:gd name="adj" fmla="val 3509"/>
            </a:avLst>
          </a:prstGeom>
          <a:solidFill>
            <a:schemeClr val="bg2"/>
          </a:solidFill>
          <a:ln w="12700">
            <a:solidFill>
              <a:schemeClr val="bg2"/>
            </a:solidFill>
            <a:prstDash val="solid"/>
          </a:ln>
        </p:spPr>
      </p:sp>
      <p:sp>
        <p:nvSpPr>
          <p:cNvPr id="150597632" name="circle-152"/>
          <p:cNvSpPr/>
          <p:nvPr/>
        </p:nvSpPr>
        <p:spPr bwMode="auto">
          <a:xfrm>
            <a:off x="6309360" y="1417320"/>
            <a:ext cx="548640" cy="548640"/>
          </a:xfrm>
          <a:prstGeom prst="ellipse">
            <a:avLst/>
          </a:prstGeom>
          <a:solidFill>
            <a:srgbClr val="0B8478"/>
          </a:solidFill>
          <a:ln w="12700">
            <a:solidFill>
              <a:srgbClr val="0B8478"/>
            </a:solidFill>
            <a:prstDash val="solid"/>
          </a:ln>
        </p:spPr>
      </p:sp>
      <p:pic>
        <p:nvPicPr>
          <p:cNvPr id="2038289515" name="icon-153" descr="preencoded.png"/>
          <p:cNvPicPr>
            <a:picLocks noChangeAspect="1"/>
          </p:cNvPicPr>
          <p:nvPr/>
        </p:nvPicPr>
        <p:blipFill rotWithShape="1">
          <a:blip r:embed="rId5"/>
          <a:stretch/>
        </p:blipFill>
        <p:spPr bwMode="auto">
          <a:xfrm>
            <a:off x="6462979" y="1570939"/>
            <a:ext cx="241402" cy="241402"/>
          </a:xfrm>
          <a:prstGeom prst="rect">
            <a:avLst/>
          </a:prstGeom>
        </p:spPr>
      </p:pic>
      <p:sp>
        <p:nvSpPr>
          <p:cNvPr id="2105578830" name="text-154"/>
          <p:cNvSpPr txBox="1"/>
          <p:nvPr/>
        </p:nvSpPr>
        <p:spPr bwMode="auto">
          <a:xfrm>
            <a:off x="6995160" y="1536192"/>
            <a:ext cx="1645920" cy="320040"/>
          </a:xfrm>
          <a:prstGeom prst="rect">
            <a:avLst/>
          </a:prstGeom>
          <a:noFill/>
          <a:ln/>
        </p:spPr>
        <p:txBody>
          <a:bodyPr wrap="square" lIns="0" tIns="0" rIns="0" bIns="0" rtlCol="0" anchor="t"/>
          <a:lstStyle/>
          <a:p>
            <a:pPr marL="0" indent="0">
              <a:buNone/>
              <a:defRPr/>
            </a:pPr>
            <a:r>
              <a:rPr lang="en-US" sz="1700" b="1">
                <a:solidFill>
                  <a:schemeClr val="tx1"/>
                </a:solidFill>
              </a:rPr>
              <a:t>Reinforcement</a:t>
            </a:r>
            <a:endParaRPr lang="en-US" sz="1700"/>
          </a:p>
        </p:txBody>
      </p:sp>
      <p:sp>
        <p:nvSpPr>
          <p:cNvPr id="1058334690" name="text-155"/>
          <p:cNvSpPr txBox="1"/>
          <p:nvPr/>
        </p:nvSpPr>
        <p:spPr bwMode="auto">
          <a:xfrm>
            <a:off x="6309360" y="2148840"/>
            <a:ext cx="2194560" cy="2377440"/>
          </a:xfrm>
          <a:prstGeom prst="rect">
            <a:avLst/>
          </a:prstGeom>
          <a:noFill/>
          <a:ln/>
        </p:spPr>
        <p:txBody>
          <a:bodyPr wrap="square" lIns="0" tIns="0" rIns="0" bIns="0" rtlCol="0" anchor="t"/>
          <a:lstStyle/>
          <a:p>
            <a:pPr marL="0" indent="0">
              <a:spcAft>
                <a:spcPts val="300"/>
              </a:spcAft>
              <a:buNone/>
              <a:defRPr/>
            </a:pPr>
            <a:r>
              <a:rPr lang="en-US" sz="1400" b="1">
                <a:solidFill>
                  <a:schemeClr val="accent5"/>
                </a:solidFill>
              </a:rPr>
              <a:t>Data</a:t>
            </a:r>
            <a:endParaRPr lang="en-US" sz="1400"/>
          </a:p>
          <a:p>
            <a:pPr marL="0" indent="0">
              <a:spcAft>
                <a:spcPts val="300"/>
              </a:spcAft>
              <a:buNone/>
              <a:defRPr/>
            </a:pPr>
            <a:r>
              <a:rPr lang="en-US" sz="1400">
                <a:solidFill>
                  <a:schemeClr val="tx1"/>
                </a:solidFill>
              </a:rPr>
              <a:t>Trial and reward</a:t>
            </a:r>
            <a:endParaRPr lang="en-US" sz="1400"/>
          </a:p>
          <a:p>
            <a:pPr marL="0" indent="0">
              <a:spcAft>
                <a:spcPts val="300"/>
              </a:spcAft>
              <a:buNone/>
              <a:defRPr/>
            </a:pPr>
            <a:r>
              <a:rPr lang="en-US" sz="1400" b="1">
                <a:solidFill>
                  <a:schemeClr val="accent5"/>
                </a:solidFill>
              </a:rPr>
              <a:t>Learns</a:t>
            </a:r>
            <a:endParaRPr lang="en-US" sz="1400"/>
          </a:p>
          <a:p>
            <a:pPr marL="0" indent="0">
              <a:spcAft>
                <a:spcPts val="300"/>
              </a:spcAft>
              <a:buNone/>
              <a:defRPr/>
            </a:pPr>
            <a:r>
              <a:rPr lang="en-US" sz="1400">
                <a:solidFill>
                  <a:schemeClr val="tx1"/>
                </a:solidFill>
              </a:rPr>
              <a:t>Learns actions that maximise reward</a:t>
            </a:r>
            <a:endParaRPr lang="en-US" sz="1400"/>
          </a:p>
          <a:p>
            <a:pPr marL="0" indent="0">
              <a:spcAft>
                <a:spcPts val="300"/>
              </a:spcAft>
              <a:buNone/>
              <a:defRPr/>
            </a:pPr>
            <a:r>
              <a:rPr lang="en-US" sz="1400" b="1">
                <a:solidFill>
                  <a:schemeClr val="accent5"/>
                </a:solidFill>
              </a:rPr>
              <a:t>Examples</a:t>
            </a:r>
            <a:endParaRPr lang="en-US" sz="1400"/>
          </a:p>
          <a:p>
            <a:pPr marL="0" indent="0">
              <a:spcAft>
                <a:spcPts val="300"/>
              </a:spcAft>
              <a:buNone/>
              <a:defRPr/>
            </a:pPr>
            <a:r>
              <a:rPr lang="en-US" sz="1400">
                <a:solidFill>
                  <a:schemeClr val="tx1"/>
                </a:solidFill>
              </a:rPr>
              <a:t>Game agents, robotics, self-driving</a:t>
            </a:r>
            <a:endParaRPr lang="en-US" sz="1400"/>
          </a:p>
        </p:txBody>
      </p:sp>
      <p:sp>
        <p:nvSpPr>
          <p:cNvPr id="1838889682" name="Slide Number Placeholder 0"/>
          <p:cNvSpPr>
            <a:spLocks noGrp="1"/>
          </p:cNvSpPr>
          <p:nvPr>
            <p:ph type="sldNum" sz="quarter" idx="4294967295"/>
          </p:nvPr>
        </p:nvSpPr>
        <p:spPr bwMode="auto">
          <a:xfrm>
            <a:off x="8229600" y="4800600"/>
            <a:ext cx="457200" cy="228600"/>
          </a:xfrm>
          <a:prstGeom prst="rect">
            <a:avLst/>
          </a:prstGeom>
        </p:spPr>
        <p:txBody>
          <a:bodyPr/>
          <a:lstStyle>
            <a:lvl1pPr>
              <a:defRPr sz="1000">
                <a:solidFill>
                  <a:schemeClr val="accent5"/>
                </a:solidFill>
              </a:defRPr>
            </a:lvl1pPr>
          </a:lstStyle>
          <a:p>
            <a:pPr algn="r">
              <a:defRPr/>
            </a:pPr>
            <a:fld id="{F7021451-1387-4CA6-816F-3879F97B5CBC}" type="slidenum">
              <a:rPr lang="en-US" b="0"/>
              <a:t>8</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9">
    <p:spTree>
      <p:nvGrpSpPr>
        <p:cNvPr id="1" name=""/>
        <p:cNvGrpSpPr/>
        <p:nvPr/>
      </p:nvGrpSpPr>
      <p:grpSpPr bwMode="auto">
        <a:xfrm>
          <a:off x="0" y="0"/>
          <a:ext cx="0" cy="0"/>
          <a:chOff x="0" y="0"/>
          <a:chExt cx="0" cy="0"/>
        </a:xfrm>
      </p:grpSpPr>
      <p:sp>
        <p:nvSpPr>
          <p:cNvPr id="760307391" name="text-156"/>
          <p:cNvSpPr txBox="1"/>
          <p:nvPr/>
        </p:nvSpPr>
        <p:spPr bwMode="auto">
          <a:xfrm>
            <a:off x="822960" y="914400"/>
            <a:ext cx="2743200" cy="1097280"/>
          </a:xfrm>
          <a:prstGeom prst="rect">
            <a:avLst/>
          </a:prstGeom>
          <a:noFill/>
          <a:ln/>
        </p:spPr>
        <p:txBody>
          <a:bodyPr wrap="square" lIns="0" tIns="0" rIns="0" bIns="0" rtlCol="0" anchor="t"/>
          <a:lstStyle/>
          <a:p>
            <a:pPr marL="0" indent="0">
              <a:buNone/>
              <a:defRPr/>
            </a:pPr>
            <a:r>
              <a:rPr lang="en-US" sz="7200" b="1">
                <a:solidFill>
                  <a:schemeClr val="accent2"/>
                </a:solidFill>
              </a:rPr>
              <a:t>02</a:t>
            </a:r>
            <a:endParaRPr lang="en-US" sz="7200"/>
          </a:p>
        </p:txBody>
      </p:sp>
      <p:sp>
        <p:nvSpPr>
          <p:cNvPr id="483023955" name="text-157"/>
          <p:cNvSpPr txBox="1"/>
          <p:nvPr/>
        </p:nvSpPr>
        <p:spPr bwMode="auto">
          <a:xfrm>
            <a:off x="822960" y="2011680"/>
            <a:ext cx="5669280" cy="1188720"/>
          </a:xfrm>
          <a:prstGeom prst="rect">
            <a:avLst/>
          </a:prstGeom>
          <a:noFill/>
          <a:ln/>
        </p:spPr>
        <p:txBody>
          <a:bodyPr wrap="square" lIns="0" tIns="0" rIns="0" bIns="0" rtlCol="0" anchor="b"/>
          <a:lstStyle/>
          <a:p>
            <a:pPr marL="0" indent="0">
              <a:buNone/>
              <a:defRPr/>
            </a:pPr>
            <a:r>
              <a:rPr lang="en-US" sz="3600" b="1">
                <a:solidFill>
                  <a:schemeClr val="bg1"/>
                </a:solidFill>
                <a:latin typeface="Cambria"/>
                <a:ea typeface="Cambria"/>
                <a:cs typeface="Cambria"/>
              </a:rPr>
              <a:t>Deep learning</a:t>
            </a:r>
            <a:endParaRPr lang="en-US" sz="3600"/>
          </a:p>
        </p:txBody>
      </p:sp>
      <p:sp>
        <p:nvSpPr>
          <p:cNvPr id="595207146" name="text-158"/>
          <p:cNvSpPr txBox="1"/>
          <p:nvPr/>
        </p:nvSpPr>
        <p:spPr bwMode="auto">
          <a:xfrm>
            <a:off x="822960" y="3383280"/>
            <a:ext cx="5486400" cy="822960"/>
          </a:xfrm>
          <a:prstGeom prst="rect">
            <a:avLst/>
          </a:prstGeom>
          <a:noFill/>
          <a:ln/>
        </p:spPr>
        <p:txBody>
          <a:bodyPr wrap="square" lIns="0" tIns="0" rIns="0" bIns="0" rtlCol="0" anchor="t"/>
          <a:lstStyle/>
          <a:p>
            <a:pPr marL="0" indent="0">
              <a:buNone/>
              <a:defRPr/>
            </a:pPr>
            <a:r>
              <a:rPr lang="en-US" sz="1800">
                <a:solidFill>
                  <a:schemeClr val="bg2"/>
                </a:solidFill>
              </a:rPr>
              <a:t>Neural networks, how they learn, and convolutional networks</a:t>
            </a:r>
            <a:endParaRPr lang="en-US" sz="1800"/>
          </a:p>
        </p:txBody>
      </p:sp>
      <p:sp>
        <p:nvSpPr>
          <p:cNvPr id="716177950" name="circle-159"/>
          <p:cNvSpPr/>
          <p:nvPr/>
        </p:nvSpPr>
        <p:spPr bwMode="auto">
          <a:xfrm>
            <a:off x="6766560" y="1371600"/>
            <a:ext cx="1737360" cy="1737360"/>
          </a:xfrm>
          <a:prstGeom prst="ellipse">
            <a:avLst/>
          </a:prstGeom>
          <a:solidFill>
            <a:srgbClr val="0B8478"/>
          </a:solidFill>
          <a:ln w="12700">
            <a:solidFill>
              <a:srgbClr val="0B8478"/>
            </a:solidFill>
            <a:prstDash val="solid"/>
          </a:ln>
        </p:spPr>
      </p:sp>
      <p:pic>
        <p:nvPicPr>
          <p:cNvPr id="266752761" name="icon-160" descr="preencoded.png"/>
          <p:cNvPicPr>
            <a:picLocks noChangeAspect="1"/>
          </p:cNvPicPr>
          <p:nvPr/>
        </p:nvPicPr>
        <p:blipFill rotWithShape="1">
          <a:blip r:embed="rId3"/>
          <a:stretch/>
        </p:blipFill>
        <p:spPr bwMode="auto">
          <a:xfrm>
            <a:off x="7223760" y="1828800"/>
            <a:ext cx="822960" cy="82296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0">
    <p:spTree>
      <p:nvGrpSpPr>
        <p:cNvPr id="1" name=""/>
        <p:cNvGrpSpPr/>
        <p:nvPr/>
      </p:nvGrpSpPr>
      <p:grpSpPr bwMode="auto">
        <a:xfrm>
          <a:off x="0" y="0"/>
          <a:ext cx="0" cy="0"/>
          <a:chOff x="0" y="0"/>
          <a:chExt cx="0" cy="0"/>
        </a:xfrm>
      </p:grpSpPr>
      <p:sp>
        <p:nvSpPr>
          <p:cNvPr id="294101135" name="Text 0"/>
          <p:cNvSpPr/>
          <p:nvPr>
            <p:ph type="title" idx="100" hasCustomPrompt="1"/>
          </p:nvPr>
        </p:nvSpPr>
        <p:spPr bwMode="auto">
          <a:xfrm>
            <a:off x="457200" y="274320"/>
            <a:ext cx="8229600" cy="731520"/>
          </a:xfrm>
          <a:prstGeom prst="rect">
            <a:avLst/>
          </a:prstGeom>
          <a:noFill/>
          <a:ln/>
        </p:spPr>
        <p:txBody>
          <a:bodyPr wrap="square" lIns="0" tIns="0" rIns="0" bIns="0" rtlCol="0" anchor="ctr"/>
          <a:lstStyle/>
          <a:p>
            <a:pPr marL="0" indent="0" algn="l">
              <a:buNone/>
              <a:defRPr/>
            </a:pPr>
            <a:r>
              <a:rPr lang="en-US" sz="3000" b="1">
                <a:solidFill>
                  <a:schemeClr val="tx2"/>
                </a:solidFill>
              </a:rPr>
              <a:t>Why deep learning?</a:t>
            </a:r>
            <a:endParaRPr lang="en-US" sz="3000"/>
          </a:p>
        </p:txBody>
      </p:sp>
      <p:graphicFrame>
        <p:nvGraphicFramePr>
          <p:cNvPr id="863920499" name="table-161"/>
          <p:cNvGraphicFramePr>
            <a:graphicFrameLocks xmlns:a="http://schemas.openxmlformats.org/drawingml/2006/main" noGrp="1"/>
          </p:cNvGraphicFramePr>
          <p:nvPr/>
        </p:nvGraphicFramePr>
        <p:xfrm rot="0">
          <a:off x="457200" y="1280160"/>
          <a:ext cx="8229600" cy="914400"/>
        </p:xfrm>
        <a:graphic>
          <a:graphicData uri="http://schemas.openxmlformats.org/drawingml/2006/table">
            <a:tbl>
              <a:tblPr firstRow="0" firstCol="0" lastRow="0" lastCol="0" bandRow="0" bandCol="0"/>
              <a:tblGrid>
                <a:gridCol w="1737360"/>
                <a:gridCol w="3108960"/>
                <a:gridCol w="3383280"/>
              </a:tblGrid>
              <a:tr h="548640">
                <a:tc>
                  <a:txBody>
                    <a:bodyPr/>
                    <a:p>
                      <a:pPr marL="0" indent="0" algn="l">
                        <a:buNone/>
                        <a:defRPr/>
                      </a:pPr>
                      <a:endParaRPr lang="en-US" sz="1500"/>
                    </a:p>
                  </a:txBody>
                  <a:tcPr marL="109728" marR="109728" marT="0" marB="0" anchor="ctr">
                    <a:lnL w="12700" algn="ctr">
                      <a:solidFill>
                        <a:srgbClr val="FFFFFF"/>
                      </a:solidFill>
                    </a:lnL>
                    <a:lnR w="12700" algn="ctr">
                      <a:solidFill>
                        <a:srgbClr val="FFFFFF"/>
                      </a:solidFill>
                    </a:lnR>
                    <a:lnT w="12700" algn="ctr">
                      <a:solidFill>
                        <a:srgbClr val="FFFFFF"/>
                      </a:solidFill>
                    </a:lnT>
                    <a:lnB w="12700" algn="ctr">
                      <a:solidFill>
                        <a:srgbClr val="FFFFFF"/>
                      </a:solidFill>
                    </a:lnB>
                    <a:solidFill>
                      <a:srgbClr val="12203F"/>
                    </a:solidFill>
                  </a:tcPr>
                </a:tc>
                <a:tc>
                  <a:txBody>
                    <a:bodyPr/>
                    <a:p>
                      <a:pPr marL="0" indent="0" algn="l">
                        <a:buNone/>
                        <a:defRPr/>
                      </a:pPr>
                      <a:r>
                        <a:rPr lang="en-US" sz="1500" b="1">
                          <a:solidFill>
                            <a:srgbClr val="FFFFFF"/>
                          </a:solidFill>
                        </a:rPr>
                        <a:t>Traditional ML</a:t>
                      </a:r>
                      <a:endParaRPr lang="en-US" sz="1500"/>
                    </a:p>
                  </a:txBody>
                  <a:tcPr marL="109728" marR="109728" marT="0" marB="0" anchor="ctr">
                    <a:lnL w="12700" algn="ctr">
                      <a:solidFill>
                        <a:srgbClr val="FFFFFF"/>
                      </a:solidFill>
                    </a:lnL>
                    <a:lnR w="12700" algn="ctr">
                      <a:solidFill>
                        <a:srgbClr val="FFFFFF"/>
                      </a:solidFill>
                    </a:lnR>
                    <a:lnT w="12700" algn="ctr">
                      <a:solidFill>
                        <a:srgbClr val="FFFFFF"/>
                      </a:solidFill>
                    </a:lnT>
                    <a:lnB w="12700" algn="ctr">
                      <a:solidFill>
                        <a:srgbClr val="FFFFFF"/>
                      </a:solidFill>
                    </a:lnB>
                    <a:solidFill>
                      <a:srgbClr val="12203F"/>
                    </a:solidFill>
                  </a:tcPr>
                </a:tc>
                <a:tc>
                  <a:txBody>
                    <a:bodyPr/>
                    <a:p>
                      <a:pPr marL="0" indent="0" algn="l">
                        <a:buNone/>
                        <a:defRPr/>
                      </a:pPr>
                      <a:r>
                        <a:rPr lang="en-US" sz="1500" b="1">
                          <a:solidFill>
                            <a:srgbClr val="FFFFFF"/>
                          </a:solidFill>
                        </a:rPr>
                        <a:t>Deep learning</a:t>
                      </a:r>
                      <a:endParaRPr lang="en-US" sz="1500"/>
                    </a:p>
                  </a:txBody>
                  <a:tcPr marL="109728" marR="109728" marT="0" marB="0" anchor="ctr">
                    <a:lnL w="12700" algn="ctr">
                      <a:solidFill>
                        <a:srgbClr val="FFFFFF"/>
                      </a:solidFill>
                    </a:lnL>
                    <a:lnR w="12700" algn="ctr">
                      <a:solidFill>
                        <a:srgbClr val="FFFFFF"/>
                      </a:solidFill>
                    </a:lnR>
                    <a:lnT w="12700" algn="ctr">
                      <a:solidFill>
                        <a:srgbClr val="FFFFFF"/>
                      </a:solidFill>
                    </a:lnT>
                    <a:lnB w="12700" algn="ctr">
                      <a:solidFill>
                        <a:srgbClr val="FFFFFF"/>
                      </a:solidFill>
                    </a:lnB>
                    <a:solidFill>
                      <a:srgbClr val="12203F"/>
                    </a:solidFill>
                  </a:tcPr>
                </a:tc>
              </a:tr>
              <a:tr h="548640">
                <a:tc>
                  <a:txBody>
                    <a:bodyPr/>
                    <a:p>
                      <a:pPr marL="0" indent="0">
                        <a:buNone/>
                        <a:defRPr/>
                      </a:pPr>
                      <a:r>
                        <a:rPr lang="en-US" sz="1500" b="1">
                          <a:solidFill>
                            <a:srgbClr val="0F172A"/>
                          </a:solidFill>
                        </a:rPr>
                        <a:t>Features</a:t>
                      </a:r>
                      <a:endParaRPr lang="en-US" sz="1500"/>
                    </a:p>
                  </a:txBody>
                  <a:tcPr marL="109728" marR="109728" marT="0" marB="0" anchor="ctr">
                    <a:lnL w="12700" algn="ctr">
                      <a:solidFill>
                        <a:srgbClr val="FFFFFF"/>
                      </a:solidFill>
                    </a:lnL>
                    <a:lnR w="12700" algn="ctr">
                      <a:solidFill>
                        <a:srgbClr val="FFFFFF"/>
                      </a:solidFill>
                    </a:lnR>
                    <a:lnT w="12700" algn="ctr">
                      <a:solidFill>
                        <a:srgbClr val="FFFFFF"/>
                      </a:solidFill>
                    </a:lnT>
                    <a:lnB w="12700" algn="ctr">
                      <a:solidFill>
                        <a:srgbClr val="FFFFFF"/>
                      </a:solidFill>
                    </a:lnB>
                    <a:solidFill>
                      <a:srgbClr val="F1F5F9"/>
                    </a:solidFill>
                  </a:tcPr>
                </a:tc>
                <a:tc>
                  <a:txBody>
                    <a:bodyPr/>
                    <a:p>
                      <a:pPr marL="0" indent="0">
                        <a:buNone/>
                        <a:defRPr/>
                      </a:pPr>
                      <a:r>
                        <a:rPr lang="en-US" sz="1500">
                          <a:solidFill>
                            <a:srgbClr val="0F172A"/>
                          </a:solidFill>
                        </a:rPr>
                        <a:t>Engineered by hand</a:t>
                      </a:r>
                      <a:endParaRPr lang="en-US" sz="1500"/>
                    </a:p>
                  </a:txBody>
                  <a:tcPr marL="109728" marR="109728" marT="0" marB="0" anchor="ctr">
                    <a:lnL w="12700" algn="ctr">
                      <a:solidFill>
                        <a:srgbClr val="FFFFFF"/>
                      </a:solidFill>
                    </a:lnL>
                    <a:lnR w="12700" algn="ctr">
                      <a:solidFill>
                        <a:srgbClr val="FFFFFF"/>
                      </a:solidFill>
                    </a:lnR>
                    <a:lnT w="12700" algn="ctr">
                      <a:solidFill>
                        <a:srgbClr val="FFFFFF"/>
                      </a:solidFill>
                    </a:lnT>
                    <a:lnB w="12700" algn="ctr">
                      <a:solidFill>
                        <a:srgbClr val="FFFFFF"/>
                      </a:solidFill>
                    </a:lnB>
                    <a:solidFill>
                      <a:srgbClr val="FFFFFF"/>
                    </a:solidFill>
                  </a:tcPr>
                </a:tc>
                <a:tc>
                  <a:txBody>
                    <a:bodyPr/>
                    <a:p>
                      <a:pPr marL="0" indent="0">
                        <a:buNone/>
                        <a:defRPr/>
                      </a:pPr>
                      <a:r>
                        <a:rPr lang="en-US" sz="1500">
                          <a:solidFill>
                            <a:srgbClr val="0F172A"/>
                          </a:solidFill>
                        </a:rPr>
                        <a:t>Learned automatically</a:t>
                      </a:r>
                      <a:endParaRPr lang="en-US" sz="1500"/>
                    </a:p>
                  </a:txBody>
                  <a:tcPr marL="109728" marR="109728" marT="0" marB="0" anchor="ctr">
                    <a:lnL w="12700" algn="ctr">
                      <a:solidFill>
                        <a:srgbClr val="FFFFFF"/>
                      </a:solidFill>
                    </a:lnL>
                    <a:lnR w="12700" algn="ctr">
                      <a:solidFill>
                        <a:srgbClr val="FFFFFF"/>
                      </a:solidFill>
                    </a:lnR>
                    <a:lnT w="12700" algn="ctr">
                      <a:solidFill>
                        <a:srgbClr val="FFFFFF"/>
                      </a:solidFill>
                    </a:lnT>
                    <a:lnB w="12700" algn="ctr">
                      <a:solidFill>
                        <a:srgbClr val="FFFFFF"/>
                      </a:solidFill>
                    </a:lnB>
                    <a:solidFill>
                      <a:srgbClr val="FFFFFF"/>
                    </a:solidFill>
                  </a:tcPr>
                </a:tc>
              </a:tr>
              <a:tr h="548640">
                <a:tc>
                  <a:txBody>
                    <a:bodyPr/>
                    <a:p>
                      <a:pPr marL="0" indent="0">
                        <a:buNone/>
                        <a:defRPr/>
                      </a:pPr>
                      <a:r>
                        <a:rPr lang="en-US" sz="1500" b="1">
                          <a:solidFill>
                            <a:srgbClr val="0F172A"/>
                          </a:solidFill>
                        </a:rPr>
                        <a:t>Best with</a:t>
                      </a:r>
                      <a:endParaRPr lang="en-US" sz="1500"/>
                    </a:p>
                  </a:txBody>
                  <a:tcPr marL="109728" marR="109728" marT="0" marB="0" anchor="ctr">
                    <a:lnL w="12700" algn="ctr">
                      <a:solidFill>
                        <a:srgbClr val="FFFFFF"/>
                      </a:solidFill>
                    </a:lnL>
                    <a:lnR w="12700" algn="ctr">
                      <a:solidFill>
                        <a:srgbClr val="FFFFFF"/>
                      </a:solidFill>
                    </a:lnR>
                    <a:lnT w="12700" algn="ctr">
                      <a:solidFill>
                        <a:srgbClr val="FFFFFF"/>
                      </a:solidFill>
                    </a:lnT>
                    <a:lnB w="12700" algn="ctr">
                      <a:solidFill>
                        <a:srgbClr val="FFFFFF"/>
                      </a:solidFill>
                    </a:lnB>
                    <a:solidFill>
                      <a:srgbClr val="F1F5F9"/>
                    </a:solidFill>
                  </a:tcPr>
                </a:tc>
                <a:tc>
                  <a:txBody>
                    <a:bodyPr/>
                    <a:p>
                      <a:pPr marL="0" indent="0">
                        <a:buNone/>
                        <a:defRPr/>
                      </a:pPr>
                      <a:r>
                        <a:rPr lang="en-US" sz="1500">
                          <a:solidFill>
                            <a:srgbClr val="0F172A"/>
                          </a:solidFill>
                        </a:rPr>
                        <a:t>Small, structured (tabular) data</a:t>
                      </a:r>
                      <a:endParaRPr lang="en-US" sz="1500"/>
                    </a:p>
                  </a:txBody>
                  <a:tcPr marL="109728" marR="109728" marT="0" marB="0" anchor="ctr">
                    <a:lnL w="12700" algn="ctr">
                      <a:solidFill>
                        <a:srgbClr val="FFFFFF"/>
                      </a:solidFill>
                    </a:lnL>
                    <a:lnR w="12700" algn="ctr">
                      <a:solidFill>
                        <a:srgbClr val="FFFFFF"/>
                      </a:solidFill>
                    </a:lnR>
                    <a:lnT w="12700" algn="ctr">
                      <a:solidFill>
                        <a:srgbClr val="FFFFFF"/>
                      </a:solidFill>
                    </a:lnT>
                    <a:lnB w="12700" algn="ctr">
                      <a:solidFill>
                        <a:srgbClr val="FFFFFF"/>
                      </a:solidFill>
                    </a:lnB>
                    <a:solidFill>
                      <a:srgbClr val="F1F5F9"/>
                    </a:solidFill>
                  </a:tcPr>
                </a:tc>
                <a:tc>
                  <a:txBody>
                    <a:bodyPr/>
                    <a:p>
                      <a:pPr marL="0" indent="0">
                        <a:buNone/>
                        <a:defRPr/>
                      </a:pPr>
                      <a:r>
                        <a:rPr lang="en-US" sz="1500">
                          <a:solidFill>
                            <a:srgbClr val="0F172A"/>
                          </a:solidFill>
                        </a:rPr>
                        <a:t>Images, audio and text</a:t>
                      </a:r>
                      <a:endParaRPr lang="en-US" sz="1500"/>
                    </a:p>
                  </a:txBody>
                  <a:tcPr marL="109728" marR="109728" marT="0" marB="0" anchor="ctr">
                    <a:lnL w="12700" algn="ctr">
                      <a:solidFill>
                        <a:srgbClr val="FFFFFF"/>
                      </a:solidFill>
                    </a:lnL>
                    <a:lnR w="12700" algn="ctr">
                      <a:solidFill>
                        <a:srgbClr val="FFFFFF"/>
                      </a:solidFill>
                    </a:lnR>
                    <a:lnT w="12700" algn="ctr">
                      <a:solidFill>
                        <a:srgbClr val="FFFFFF"/>
                      </a:solidFill>
                    </a:lnT>
                    <a:lnB w="12700" algn="ctr">
                      <a:solidFill>
                        <a:srgbClr val="FFFFFF"/>
                      </a:solidFill>
                    </a:lnB>
                    <a:solidFill>
                      <a:srgbClr val="F1F5F9"/>
                    </a:solidFill>
                  </a:tcPr>
                </a:tc>
              </a:tr>
              <a:tr h="548640">
                <a:tc>
                  <a:txBody>
                    <a:bodyPr/>
                    <a:p>
                      <a:pPr marL="0" indent="0">
                        <a:buNone/>
                        <a:defRPr/>
                      </a:pPr>
                      <a:r>
                        <a:rPr lang="en-US" sz="1500" b="1">
                          <a:solidFill>
                            <a:srgbClr val="0F172A"/>
                          </a:solidFill>
                        </a:rPr>
                        <a:t>Data needed</a:t>
                      </a:r>
                      <a:endParaRPr lang="en-US" sz="1500"/>
                    </a:p>
                  </a:txBody>
                  <a:tcPr marL="109728" marR="109728" marT="0" marB="0" anchor="ctr">
                    <a:lnL w="12700" algn="ctr">
                      <a:solidFill>
                        <a:srgbClr val="FFFFFF"/>
                      </a:solidFill>
                    </a:lnL>
                    <a:lnR w="12700" algn="ctr">
                      <a:solidFill>
                        <a:srgbClr val="FFFFFF"/>
                      </a:solidFill>
                    </a:lnR>
                    <a:lnT w="12700" algn="ctr">
                      <a:solidFill>
                        <a:srgbClr val="FFFFFF"/>
                      </a:solidFill>
                    </a:lnT>
                    <a:lnB w="12700" algn="ctr">
                      <a:solidFill>
                        <a:srgbClr val="FFFFFF"/>
                      </a:solidFill>
                    </a:lnB>
                    <a:solidFill>
                      <a:srgbClr val="F1F5F9"/>
                    </a:solidFill>
                  </a:tcPr>
                </a:tc>
                <a:tc>
                  <a:txBody>
                    <a:bodyPr/>
                    <a:p>
                      <a:pPr marL="0" indent="0">
                        <a:buNone/>
                        <a:defRPr/>
                      </a:pPr>
                      <a:r>
                        <a:rPr lang="en-US" sz="1500">
                          <a:solidFill>
                            <a:srgbClr val="0F172A"/>
                          </a:solidFill>
                        </a:rPr>
                        <a:t>Less</a:t>
                      </a:r>
                      <a:endParaRPr lang="en-US" sz="1500"/>
                    </a:p>
                  </a:txBody>
                  <a:tcPr marL="109728" marR="109728" marT="0" marB="0" anchor="ctr">
                    <a:lnL w="12700" algn="ctr">
                      <a:solidFill>
                        <a:srgbClr val="FFFFFF"/>
                      </a:solidFill>
                    </a:lnL>
                    <a:lnR w="12700" algn="ctr">
                      <a:solidFill>
                        <a:srgbClr val="FFFFFF"/>
                      </a:solidFill>
                    </a:lnR>
                    <a:lnT w="12700" algn="ctr">
                      <a:solidFill>
                        <a:srgbClr val="FFFFFF"/>
                      </a:solidFill>
                    </a:lnT>
                    <a:lnB w="12700" algn="ctr">
                      <a:solidFill>
                        <a:srgbClr val="FFFFFF"/>
                      </a:solidFill>
                    </a:lnB>
                    <a:solidFill>
                      <a:srgbClr val="FFFFFF"/>
                    </a:solidFill>
                  </a:tcPr>
                </a:tc>
                <a:tc>
                  <a:txBody>
                    <a:bodyPr/>
                    <a:p>
                      <a:pPr marL="0" indent="0">
                        <a:buNone/>
                        <a:defRPr/>
                      </a:pPr>
                      <a:r>
                        <a:rPr lang="en-US" sz="1500">
                          <a:solidFill>
                            <a:srgbClr val="0F172A"/>
                          </a:solidFill>
                        </a:rPr>
                        <a:t>A lot</a:t>
                      </a:r>
                      <a:endParaRPr lang="en-US" sz="1500"/>
                    </a:p>
                  </a:txBody>
                  <a:tcPr marL="109728" marR="109728" marT="0" marB="0" anchor="ctr">
                    <a:lnL w="12700" algn="ctr">
                      <a:solidFill>
                        <a:srgbClr val="FFFFFF"/>
                      </a:solidFill>
                    </a:lnL>
                    <a:lnR w="12700" algn="ctr">
                      <a:solidFill>
                        <a:srgbClr val="FFFFFF"/>
                      </a:solidFill>
                    </a:lnR>
                    <a:lnT w="12700" algn="ctr">
                      <a:solidFill>
                        <a:srgbClr val="FFFFFF"/>
                      </a:solidFill>
                    </a:lnT>
                    <a:lnB w="12700" algn="ctr">
                      <a:solidFill>
                        <a:srgbClr val="FFFFFF"/>
                      </a:solidFill>
                    </a:lnB>
                    <a:solidFill>
                      <a:srgbClr val="FFFFFF"/>
                    </a:solidFill>
                  </a:tcPr>
                </a:tc>
              </a:tr>
              <a:tr h="548640">
                <a:tc>
                  <a:txBody>
                    <a:bodyPr/>
                    <a:p>
                      <a:pPr marL="0" indent="0">
                        <a:buNone/>
                        <a:defRPr/>
                      </a:pPr>
                      <a:r>
                        <a:rPr lang="en-US" sz="1500" b="1">
                          <a:solidFill>
                            <a:srgbClr val="0F172A"/>
                          </a:solidFill>
                        </a:rPr>
                        <a:t>Compute</a:t>
                      </a:r>
                      <a:endParaRPr lang="en-US" sz="1500"/>
                    </a:p>
                  </a:txBody>
                  <a:tcPr marL="109728" marR="109728" marT="0" marB="0" anchor="ctr">
                    <a:lnL w="12700" algn="ctr">
                      <a:solidFill>
                        <a:srgbClr val="FFFFFF"/>
                      </a:solidFill>
                    </a:lnL>
                    <a:lnR w="12700" algn="ctr">
                      <a:solidFill>
                        <a:srgbClr val="FFFFFF"/>
                      </a:solidFill>
                    </a:lnR>
                    <a:lnT w="12700" algn="ctr">
                      <a:solidFill>
                        <a:srgbClr val="FFFFFF"/>
                      </a:solidFill>
                    </a:lnT>
                    <a:lnB w="12700" algn="ctr">
                      <a:solidFill>
                        <a:srgbClr val="FFFFFF"/>
                      </a:solidFill>
                    </a:lnB>
                    <a:solidFill>
                      <a:srgbClr val="F1F5F9"/>
                    </a:solidFill>
                  </a:tcPr>
                </a:tc>
                <a:tc>
                  <a:txBody>
                    <a:bodyPr/>
                    <a:p>
                      <a:pPr marL="0" indent="0">
                        <a:buNone/>
                        <a:defRPr/>
                      </a:pPr>
                      <a:r>
                        <a:rPr lang="en-US" sz="1500">
                          <a:solidFill>
                            <a:srgbClr val="0F172A"/>
                          </a:solidFill>
                        </a:rPr>
                        <a:t>Light</a:t>
                      </a:r>
                      <a:endParaRPr lang="en-US" sz="1500"/>
                    </a:p>
                  </a:txBody>
                  <a:tcPr marL="109728" marR="109728" marT="0" marB="0" anchor="ctr">
                    <a:lnL w="12700" algn="ctr">
                      <a:solidFill>
                        <a:srgbClr val="FFFFFF"/>
                      </a:solidFill>
                    </a:lnL>
                    <a:lnR w="12700" algn="ctr">
                      <a:solidFill>
                        <a:srgbClr val="FFFFFF"/>
                      </a:solidFill>
                    </a:lnR>
                    <a:lnT w="12700" algn="ctr">
                      <a:solidFill>
                        <a:srgbClr val="FFFFFF"/>
                      </a:solidFill>
                    </a:lnT>
                    <a:lnB w="12700" algn="ctr">
                      <a:solidFill>
                        <a:srgbClr val="FFFFFF"/>
                      </a:solidFill>
                    </a:lnB>
                    <a:solidFill>
                      <a:srgbClr val="F1F5F9"/>
                    </a:solidFill>
                  </a:tcPr>
                </a:tc>
                <a:tc>
                  <a:txBody>
                    <a:bodyPr/>
                    <a:p>
                      <a:pPr marL="0" indent="0">
                        <a:buNone/>
                        <a:defRPr/>
                      </a:pPr>
                      <a:r>
                        <a:rPr lang="en-US" sz="1500">
                          <a:solidFill>
                            <a:srgbClr val="0F172A"/>
                          </a:solidFill>
                        </a:rPr>
                        <a:t>Heavy (GPUs)</a:t>
                      </a:r>
                      <a:endParaRPr lang="en-US" sz="1500"/>
                    </a:p>
                  </a:txBody>
                  <a:tcPr marL="109728" marR="109728" marT="0" marB="0" anchor="ctr">
                    <a:lnL w="12700" algn="ctr">
                      <a:solidFill>
                        <a:srgbClr val="FFFFFF"/>
                      </a:solidFill>
                    </a:lnL>
                    <a:lnR w="12700" algn="ctr">
                      <a:solidFill>
                        <a:srgbClr val="FFFFFF"/>
                      </a:solidFill>
                    </a:lnR>
                    <a:lnT w="12700" algn="ctr">
                      <a:solidFill>
                        <a:srgbClr val="FFFFFF"/>
                      </a:solidFill>
                    </a:lnT>
                    <a:lnB w="12700" algn="ctr">
                      <a:solidFill>
                        <a:srgbClr val="FFFFFF"/>
                      </a:solidFill>
                    </a:lnB>
                    <a:solidFill>
                      <a:srgbClr val="F1F5F9"/>
                    </a:solidFill>
                  </a:tcPr>
                </a:tc>
              </a:tr>
            </a:tbl>
          </a:graphicData>
        </a:graphic>
      </p:graphicFrame>
      <p:sp>
        <p:nvSpPr>
          <p:cNvPr id="534485134" name="card-162"/>
          <p:cNvSpPr/>
          <p:nvPr/>
        </p:nvSpPr>
        <p:spPr bwMode="auto">
          <a:xfrm>
            <a:off x="457200" y="4114800"/>
            <a:ext cx="8229600" cy="548640"/>
          </a:xfrm>
          <a:prstGeom prst="roundRect">
            <a:avLst>
              <a:gd name="adj" fmla="val 16667"/>
            </a:avLst>
          </a:prstGeom>
          <a:solidFill>
            <a:schemeClr val="accent1"/>
          </a:solidFill>
          <a:ln w="12700">
            <a:solidFill>
              <a:schemeClr val="accent1"/>
            </a:solidFill>
            <a:prstDash val="solid"/>
          </a:ln>
        </p:spPr>
      </p:sp>
      <p:sp>
        <p:nvSpPr>
          <p:cNvPr id="95601145" name="text-163"/>
          <p:cNvSpPr txBox="1"/>
          <p:nvPr/>
        </p:nvSpPr>
        <p:spPr bwMode="auto">
          <a:xfrm>
            <a:off x="685800" y="4114800"/>
            <a:ext cx="7772400" cy="548640"/>
          </a:xfrm>
          <a:prstGeom prst="rect">
            <a:avLst/>
          </a:prstGeom>
          <a:noFill/>
          <a:ln/>
        </p:spPr>
        <p:txBody>
          <a:bodyPr wrap="square" lIns="0" tIns="0" rIns="0" bIns="0" rtlCol="0" anchor="ctr"/>
          <a:lstStyle/>
          <a:p>
            <a:pPr marL="0" indent="0">
              <a:buNone/>
              <a:defRPr/>
            </a:pPr>
            <a:r>
              <a:rPr lang="en-US" sz="1600" b="1">
                <a:solidFill>
                  <a:schemeClr val="bg1"/>
                </a:solidFill>
              </a:rPr>
              <a:t>Trade-off: higher accuracy on complex data, at the cost of data and compute.</a:t>
            </a:r>
            <a:endParaRPr lang="en-US" sz="1600"/>
          </a:p>
        </p:txBody>
      </p:sp>
      <p:sp>
        <p:nvSpPr>
          <p:cNvPr id="759698084" name="Slide Number Placeholder 0"/>
          <p:cNvSpPr>
            <a:spLocks noGrp="1"/>
          </p:cNvSpPr>
          <p:nvPr>
            <p:ph type="sldNum" sz="quarter" idx="4294967295"/>
          </p:nvPr>
        </p:nvSpPr>
        <p:spPr bwMode="auto">
          <a:xfrm>
            <a:off x="8229600" y="4800600"/>
            <a:ext cx="457200" cy="228600"/>
          </a:xfrm>
          <a:prstGeom prst="rect">
            <a:avLst/>
          </a:prstGeom>
        </p:spPr>
        <p:txBody>
          <a:bodyPr/>
          <a:lstStyle>
            <a:lvl1pPr>
              <a:defRPr sz="1000">
                <a:solidFill>
                  <a:schemeClr val="accent5"/>
                </a:solidFill>
              </a:defRPr>
            </a:lvl1pPr>
          </a:lstStyle>
          <a:p>
            <a:pPr algn="r">
              <a:defRPr/>
            </a:pPr>
            <a:fld id="{F7021451-1387-4CA6-816F-3879F97B5CBC}" type="slidenum">
              <a:rPr lang="en-US" b="0"/>
              <a:t>10</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1">
    <p:spTree>
      <p:nvGrpSpPr>
        <p:cNvPr id="1" name=""/>
        <p:cNvGrpSpPr/>
        <p:nvPr/>
      </p:nvGrpSpPr>
      <p:grpSpPr bwMode="auto">
        <a:xfrm>
          <a:off x="0" y="0"/>
          <a:ext cx="0" cy="0"/>
          <a:chOff x="0" y="0"/>
          <a:chExt cx="0" cy="0"/>
        </a:xfrm>
      </p:grpSpPr>
      <p:sp>
        <p:nvSpPr>
          <p:cNvPr id="255954568" name="Text 0"/>
          <p:cNvSpPr/>
          <p:nvPr>
            <p:ph type="title" idx="100" hasCustomPrompt="1"/>
          </p:nvPr>
        </p:nvSpPr>
        <p:spPr bwMode="auto">
          <a:xfrm>
            <a:off x="457200" y="274320"/>
            <a:ext cx="8229600" cy="731520"/>
          </a:xfrm>
          <a:prstGeom prst="rect">
            <a:avLst/>
          </a:prstGeom>
          <a:noFill/>
          <a:ln/>
        </p:spPr>
        <p:txBody>
          <a:bodyPr wrap="square" lIns="0" tIns="0" rIns="0" bIns="0" rtlCol="0" anchor="ctr"/>
          <a:lstStyle/>
          <a:p>
            <a:pPr marL="0" indent="0" algn="l">
              <a:buNone/>
              <a:defRPr/>
            </a:pPr>
            <a:r>
              <a:rPr lang="en-US" sz="3000" b="1">
                <a:solidFill>
                  <a:schemeClr val="tx2"/>
                </a:solidFill>
              </a:rPr>
              <a:t>Artificial neural network</a:t>
            </a:r>
            <a:endParaRPr lang="en-US" sz="3000"/>
          </a:p>
        </p:txBody>
      </p:sp>
      <p:sp>
        <p:nvSpPr>
          <p:cNvPr id="1910756360" name="line-164"/>
          <p:cNvSpPr/>
          <p:nvPr/>
        </p:nvSpPr>
        <p:spPr bwMode="auto">
          <a:xfrm flipV="1">
            <a:off x="914400" y="1792224"/>
            <a:ext cx="1371600" cy="301752"/>
          </a:xfrm>
          <a:prstGeom prst="line">
            <a:avLst/>
          </a:prstGeom>
          <a:noFill/>
          <a:ln w="9525">
            <a:solidFill>
              <a:srgbClr val="CBD5E1"/>
            </a:solidFill>
            <a:prstDash val="solid"/>
          </a:ln>
        </p:spPr>
      </p:sp>
      <p:sp>
        <p:nvSpPr>
          <p:cNvPr id="569684847" name="line-165"/>
          <p:cNvSpPr/>
          <p:nvPr/>
        </p:nvSpPr>
        <p:spPr bwMode="auto">
          <a:xfrm>
            <a:off x="914400" y="2093976"/>
            <a:ext cx="1371600" cy="301752"/>
          </a:xfrm>
          <a:prstGeom prst="line">
            <a:avLst/>
          </a:prstGeom>
          <a:noFill/>
          <a:ln w="9525">
            <a:solidFill>
              <a:srgbClr val="CBD5E1"/>
            </a:solidFill>
            <a:prstDash val="solid"/>
          </a:ln>
        </p:spPr>
      </p:sp>
      <p:sp>
        <p:nvSpPr>
          <p:cNvPr id="51390428" name="line-166"/>
          <p:cNvSpPr/>
          <p:nvPr/>
        </p:nvSpPr>
        <p:spPr bwMode="auto">
          <a:xfrm>
            <a:off x="914400" y="2093976"/>
            <a:ext cx="1371600" cy="905256"/>
          </a:xfrm>
          <a:prstGeom prst="line">
            <a:avLst/>
          </a:prstGeom>
          <a:noFill/>
          <a:ln w="9525">
            <a:solidFill>
              <a:srgbClr val="CBD5E1"/>
            </a:solidFill>
            <a:prstDash val="solid"/>
          </a:ln>
        </p:spPr>
      </p:sp>
      <p:sp>
        <p:nvSpPr>
          <p:cNvPr id="2113676411" name="line-167"/>
          <p:cNvSpPr/>
          <p:nvPr/>
        </p:nvSpPr>
        <p:spPr bwMode="auto">
          <a:xfrm>
            <a:off x="914400" y="2093976"/>
            <a:ext cx="1371600" cy="1508759"/>
          </a:xfrm>
          <a:prstGeom prst="line">
            <a:avLst/>
          </a:prstGeom>
          <a:noFill/>
          <a:ln w="9525">
            <a:solidFill>
              <a:srgbClr val="CBD5E1"/>
            </a:solidFill>
            <a:prstDash val="solid"/>
          </a:ln>
        </p:spPr>
      </p:sp>
      <p:sp>
        <p:nvSpPr>
          <p:cNvPr id="1254148146" name="line-168"/>
          <p:cNvSpPr/>
          <p:nvPr/>
        </p:nvSpPr>
        <p:spPr bwMode="auto">
          <a:xfrm flipV="1">
            <a:off x="914400" y="1792224"/>
            <a:ext cx="1371600" cy="905256"/>
          </a:xfrm>
          <a:prstGeom prst="line">
            <a:avLst/>
          </a:prstGeom>
          <a:noFill/>
          <a:ln w="9525">
            <a:solidFill>
              <a:srgbClr val="CBD5E1"/>
            </a:solidFill>
            <a:prstDash val="solid"/>
          </a:ln>
        </p:spPr>
      </p:sp>
      <p:sp>
        <p:nvSpPr>
          <p:cNvPr id="2061054672" name="line-169"/>
          <p:cNvSpPr/>
          <p:nvPr/>
        </p:nvSpPr>
        <p:spPr bwMode="auto">
          <a:xfrm flipV="1">
            <a:off x="914400" y="2395728"/>
            <a:ext cx="1371600" cy="301752"/>
          </a:xfrm>
          <a:prstGeom prst="line">
            <a:avLst/>
          </a:prstGeom>
          <a:noFill/>
          <a:ln w="9525">
            <a:solidFill>
              <a:srgbClr val="CBD5E1"/>
            </a:solidFill>
            <a:prstDash val="solid"/>
          </a:ln>
        </p:spPr>
      </p:sp>
      <p:sp>
        <p:nvSpPr>
          <p:cNvPr id="1790409971" name="line-170"/>
          <p:cNvSpPr/>
          <p:nvPr/>
        </p:nvSpPr>
        <p:spPr bwMode="auto">
          <a:xfrm>
            <a:off x="914400" y="2697480"/>
            <a:ext cx="1371600" cy="301752"/>
          </a:xfrm>
          <a:prstGeom prst="line">
            <a:avLst/>
          </a:prstGeom>
          <a:noFill/>
          <a:ln w="9525">
            <a:solidFill>
              <a:srgbClr val="CBD5E1"/>
            </a:solidFill>
            <a:prstDash val="solid"/>
          </a:ln>
        </p:spPr>
      </p:sp>
      <p:sp>
        <p:nvSpPr>
          <p:cNvPr id="618231156" name="line-171"/>
          <p:cNvSpPr/>
          <p:nvPr/>
        </p:nvSpPr>
        <p:spPr bwMode="auto">
          <a:xfrm>
            <a:off x="914400" y="2697480"/>
            <a:ext cx="1371600" cy="905256"/>
          </a:xfrm>
          <a:prstGeom prst="line">
            <a:avLst/>
          </a:prstGeom>
          <a:noFill/>
          <a:ln w="9525">
            <a:solidFill>
              <a:srgbClr val="CBD5E1"/>
            </a:solidFill>
            <a:prstDash val="solid"/>
          </a:ln>
        </p:spPr>
      </p:sp>
      <p:sp>
        <p:nvSpPr>
          <p:cNvPr id="582624961" name="line-172"/>
          <p:cNvSpPr/>
          <p:nvPr/>
        </p:nvSpPr>
        <p:spPr bwMode="auto">
          <a:xfrm flipV="1">
            <a:off x="914400" y="1792224"/>
            <a:ext cx="1371600" cy="1508759"/>
          </a:xfrm>
          <a:prstGeom prst="line">
            <a:avLst/>
          </a:prstGeom>
          <a:noFill/>
          <a:ln w="9525">
            <a:solidFill>
              <a:srgbClr val="CBD5E1"/>
            </a:solidFill>
            <a:prstDash val="solid"/>
          </a:ln>
        </p:spPr>
      </p:sp>
      <p:sp>
        <p:nvSpPr>
          <p:cNvPr id="56181185" name="line-173"/>
          <p:cNvSpPr/>
          <p:nvPr/>
        </p:nvSpPr>
        <p:spPr bwMode="auto">
          <a:xfrm flipV="1">
            <a:off x="914400" y="2395728"/>
            <a:ext cx="1371600" cy="905256"/>
          </a:xfrm>
          <a:prstGeom prst="line">
            <a:avLst/>
          </a:prstGeom>
          <a:noFill/>
          <a:ln w="9525">
            <a:solidFill>
              <a:srgbClr val="CBD5E1"/>
            </a:solidFill>
            <a:prstDash val="solid"/>
          </a:ln>
        </p:spPr>
      </p:sp>
      <p:sp>
        <p:nvSpPr>
          <p:cNvPr id="1260881593" name="line-174"/>
          <p:cNvSpPr/>
          <p:nvPr/>
        </p:nvSpPr>
        <p:spPr bwMode="auto">
          <a:xfrm flipV="1">
            <a:off x="914400" y="2999232"/>
            <a:ext cx="1371600" cy="301752"/>
          </a:xfrm>
          <a:prstGeom prst="line">
            <a:avLst/>
          </a:prstGeom>
          <a:noFill/>
          <a:ln w="9525">
            <a:solidFill>
              <a:srgbClr val="CBD5E1"/>
            </a:solidFill>
            <a:prstDash val="solid"/>
          </a:ln>
        </p:spPr>
      </p:sp>
      <p:sp>
        <p:nvSpPr>
          <p:cNvPr id="1865462150" name="line-175"/>
          <p:cNvSpPr/>
          <p:nvPr/>
        </p:nvSpPr>
        <p:spPr bwMode="auto">
          <a:xfrm>
            <a:off x="914400" y="3300984"/>
            <a:ext cx="1371600" cy="301752"/>
          </a:xfrm>
          <a:prstGeom prst="line">
            <a:avLst/>
          </a:prstGeom>
          <a:noFill/>
          <a:ln w="9525">
            <a:solidFill>
              <a:srgbClr val="CBD5E1"/>
            </a:solidFill>
            <a:prstDash val="solid"/>
          </a:ln>
        </p:spPr>
      </p:sp>
      <p:sp>
        <p:nvSpPr>
          <p:cNvPr id="151967185" name="line-176"/>
          <p:cNvSpPr/>
          <p:nvPr/>
        </p:nvSpPr>
        <p:spPr bwMode="auto">
          <a:xfrm>
            <a:off x="2286000" y="1792224"/>
            <a:ext cx="1371600" cy="0"/>
          </a:xfrm>
          <a:prstGeom prst="line">
            <a:avLst/>
          </a:prstGeom>
          <a:noFill/>
          <a:ln w="9525">
            <a:solidFill>
              <a:srgbClr val="CBD5E1"/>
            </a:solidFill>
            <a:prstDash val="solid"/>
          </a:ln>
        </p:spPr>
      </p:sp>
      <p:sp>
        <p:nvSpPr>
          <p:cNvPr id="1173270079" name="line-177"/>
          <p:cNvSpPr/>
          <p:nvPr/>
        </p:nvSpPr>
        <p:spPr bwMode="auto">
          <a:xfrm>
            <a:off x="2286000" y="1792224"/>
            <a:ext cx="1371600" cy="603504"/>
          </a:xfrm>
          <a:prstGeom prst="line">
            <a:avLst/>
          </a:prstGeom>
          <a:noFill/>
          <a:ln w="9525">
            <a:solidFill>
              <a:srgbClr val="CBD5E1"/>
            </a:solidFill>
            <a:prstDash val="solid"/>
          </a:ln>
        </p:spPr>
      </p:sp>
      <p:sp>
        <p:nvSpPr>
          <p:cNvPr id="380075690" name="line-178"/>
          <p:cNvSpPr/>
          <p:nvPr/>
        </p:nvSpPr>
        <p:spPr bwMode="auto">
          <a:xfrm>
            <a:off x="2286000" y="1792224"/>
            <a:ext cx="1371600" cy="1207008"/>
          </a:xfrm>
          <a:prstGeom prst="line">
            <a:avLst/>
          </a:prstGeom>
          <a:noFill/>
          <a:ln w="9525">
            <a:solidFill>
              <a:srgbClr val="CBD5E1"/>
            </a:solidFill>
            <a:prstDash val="solid"/>
          </a:ln>
        </p:spPr>
      </p:sp>
      <p:sp>
        <p:nvSpPr>
          <p:cNvPr id="1236514146" name="line-179"/>
          <p:cNvSpPr/>
          <p:nvPr/>
        </p:nvSpPr>
        <p:spPr bwMode="auto">
          <a:xfrm>
            <a:off x="2286000" y="1792224"/>
            <a:ext cx="1371600" cy="1810512"/>
          </a:xfrm>
          <a:prstGeom prst="line">
            <a:avLst/>
          </a:prstGeom>
          <a:noFill/>
          <a:ln w="9525">
            <a:solidFill>
              <a:srgbClr val="CBD5E1"/>
            </a:solidFill>
            <a:prstDash val="solid"/>
          </a:ln>
        </p:spPr>
      </p:sp>
      <p:sp>
        <p:nvSpPr>
          <p:cNvPr id="2062355882" name="line-180"/>
          <p:cNvSpPr/>
          <p:nvPr/>
        </p:nvSpPr>
        <p:spPr bwMode="auto">
          <a:xfrm flipV="1">
            <a:off x="2286000" y="1792224"/>
            <a:ext cx="1371600" cy="603504"/>
          </a:xfrm>
          <a:prstGeom prst="line">
            <a:avLst/>
          </a:prstGeom>
          <a:noFill/>
          <a:ln w="9525">
            <a:solidFill>
              <a:srgbClr val="CBD5E1"/>
            </a:solidFill>
            <a:prstDash val="solid"/>
          </a:ln>
        </p:spPr>
      </p:sp>
      <p:sp>
        <p:nvSpPr>
          <p:cNvPr id="929721699" name="line-181"/>
          <p:cNvSpPr/>
          <p:nvPr/>
        </p:nvSpPr>
        <p:spPr bwMode="auto">
          <a:xfrm>
            <a:off x="2286000" y="2395728"/>
            <a:ext cx="1371600" cy="0"/>
          </a:xfrm>
          <a:prstGeom prst="line">
            <a:avLst/>
          </a:prstGeom>
          <a:noFill/>
          <a:ln w="9525">
            <a:solidFill>
              <a:srgbClr val="CBD5E1"/>
            </a:solidFill>
            <a:prstDash val="solid"/>
          </a:ln>
        </p:spPr>
      </p:sp>
      <p:sp>
        <p:nvSpPr>
          <p:cNvPr id="1566787705" name="line-182"/>
          <p:cNvSpPr/>
          <p:nvPr/>
        </p:nvSpPr>
        <p:spPr bwMode="auto">
          <a:xfrm>
            <a:off x="2286000" y="2395728"/>
            <a:ext cx="1371600" cy="603504"/>
          </a:xfrm>
          <a:prstGeom prst="line">
            <a:avLst/>
          </a:prstGeom>
          <a:noFill/>
          <a:ln w="9525">
            <a:solidFill>
              <a:srgbClr val="CBD5E1"/>
            </a:solidFill>
            <a:prstDash val="solid"/>
          </a:ln>
        </p:spPr>
      </p:sp>
      <p:sp>
        <p:nvSpPr>
          <p:cNvPr id="1624050363" name="line-183"/>
          <p:cNvSpPr/>
          <p:nvPr/>
        </p:nvSpPr>
        <p:spPr bwMode="auto">
          <a:xfrm>
            <a:off x="2286000" y="2395728"/>
            <a:ext cx="1371600" cy="1207008"/>
          </a:xfrm>
          <a:prstGeom prst="line">
            <a:avLst/>
          </a:prstGeom>
          <a:noFill/>
          <a:ln w="9525">
            <a:solidFill>
              <a:srgbClr val="CBD5E1"/>
            </a:solidFill>
            <a:prstDash val="solid"/>
          </a:ln>
        </p:spPr>
      </p:sp>
      <p:sp>
        <p:nvSpPr>
          <p:cNvPr id="1362495981" name="line-184"/>
          <p:cNvSpPr/>
          <p:nvPr/>
        </p:nvSpPr>
        <p:spPr bwMode="auto">
          <a:xfrm flipV="1">
            <a:off x="2286000" y="1792224"/>
            <a:ext cx="1371600" cy="1207008"/>
          </a:xfrm>
          <a:prstGeom prst="line">
            <a:avLst/>
          </a:prstGeom>
          <a:noFill/>
          <a:ln w="9525">
            <a:solidFill>
              <a:srgbClr val="CBD5E1"/>
            </a:solidFill>
            <a:prstDash val="solid"/>
          </a:ln>
        </p:spPr>
      </p:sp>
      <p:sp>
        <p:nvSpPr>
          <p:cNvPr id="1034093380" name="line-185"/>
          <p:cNvSpPr/>
          <p:nvPr/>
        </p:nvSpPr>
        <p:spPr bwMode="auto">
          <a:xfrm flipV="1">
            <a:off x="2286000" y="2395728"/>
            <a:ext cx="1371600" cy="603504"/>
          </a:xfrm>
          <a:prstGeom prst="line">
            <a:avLst/>
          </a:prstGeom>
          <a:noFill/>
          <a:ln w="9525">
            <a:solidFill>
              <a:srgbClr val="CBD5E1"/>
            </a:solidFill>
            <a:prstDash val="solid"/>
          </a:ln>
        </p:spPr>
      </p:sp>
      <p:sp>
        <p:nvSpPr>
          <p:cNvPr id="649795942" name="line-186"/>
          <p:cNvSpPr/>
          <p:nvPr/>
        </p:nvSpPr>
        <p:spPr bwMode="auto">
          <a:xfrm>
            <a:off x="2286000" y="2999232"/>
            <a:ext cx="1371600" cy="0"/>
          </a:xfrm>
          <a:prstGeom prst="line">
            <a:avLst/>
          </a:prstGeom>
          <a:noFill/>
          <a:ln w="9525">
            <a:solidFill>
              <a:srgbClr val="CBD5E1"/>
            </a:solidFill>
            <a:prstDash val="solid"/>
          </a:ln>
        </p:spPr>
      </p:sp>
      <p:sp>
        <p:nvSpPr>
          <p:cNvPr id="1214749280" name="line-187"/>
          <p:cNvSpPr/>
          <p:nvPr/>
        </p:nvSpPr>
        <p:spPr bwMode="auto">
          <a:xfrm>
            <a:off x="2286000" y="2999232"/>
            <a:ext cx="1371600" cy="603504"/>
          </a:xfrm>
          <a:prstGeom prst="line">
            <a:avLst/>
          </a:prstGeom>
          <a:noFill/>
          <a:ln w="9525">
            <a:solidFill>
              <a:srgbClr val="CBD5E1"/>
            </a:solidFill>
            <a:prstDash val="solid"/>
          </a:ln>
        </p:spPr>
      </p:sp>
      <p:sp>
        <p:nvSpPr>
          <p:cNvPr id="1685167314" name="line-188"/>
          <p:cNvSpPr/>
          <p:nvPr/>
        </p:nvSpPr>
        <p:spPr bwMode="auto">
          <a:xfrm flipV="1">
            <a:off x="2286000" y="1792224"/>
            <a:ext cx="1371600" cy="1810512"/>
          </a:xfrm>
          <a:prstGeom prst="line">
            <a:avLst/>
          </a:prstGeom>
          <a:noFill/>
          <a:ln w="9525">
            <a:solidFill>
              <a:srgbClr val="CBD5E1"/>
            </a:solidFill>
            <a:prstDash val="solid"/>
          </a:ln>
        </p:spPr>
      </p:sp>
      <p:sp>
        <p:nvSpPr>
          <p:cNvPr id="158350430" name="line-189"/>
          <p:cNvSpPr/>
          <p:nvPr/>
        </p:nvSpPr>
        <p:spPr bwMode="auto">
          <a:xfrm flipV="1">
            <a:off x="2286000" y="2395728"/>
            <a:ext cx="1371600" cy="1207008"/>
          </a:xfrm>
          <a:prstGeom prst="line">
            <a:avLst/>
          </a:prstGeom>
          <a:noFill/>
          <a:ln w="9525">
            <a:solidFill>
              <a:srgbClr val="CBD5E1"/>
            </a:solidFill>
            <a:prstDash val="solid"/>
          </a:ln>
        </p:spPr>
      </p:sp>
      <p:sp>
        <p:nvSpPr>
          <p:cNvPr id="645970189" name="line-190"/>
          <p:cNvSpPr/>
          <p:nvPr/>
        </p:nvSpPr>
        <p:spPr bwMode="auto">
          <a:xfrm flipV="1">
            <a:off x="2286000" y="2999232"/>
            <a:ext cx="1371600" cy="603504"/>
          </a:xfrm>
          <a:prstGeom prst="line">
            <a:avLst/>
          </a:prstGeom>
          <a:noFill/>
          <a:ln w="9525">
            <a:solidFill>
              <a:srgbClr val="CBD5E1"/>
            </a:solidFill>
            <a:prstDash val="solid"/>
          </a:ln>
        </p:spPr>
      </p:sp>
      <p:sp>
        <p:nvSpPr>
          <p:cNvPr id="743714156" name="line-191"/>
          <p:cNvSpPr/>
          <p:nvPr/>
        </p:nvSpPr>
        <p:spPr bwMode="auto">
          <a:xfrm>
            <a:off x="2286000" y="3602735"/>
            <a:ext cx="1371600" cy="0"/>
          </a:xfrm>
          <a:prstGeom prst="line">
            <a:avLst/>
          </a:prstGeom>
          <a:noFill/>
          <a:ln w="9525">
            <a:solidFill>
              <a:srgbClr val="CBD5E1"/>
            </a:solidFill>
            <a:prstDash val="solid"/>
          </a:ln>
        </p:spPr>
      </p:sp>
      <p:sp>
        <p:nvSpPr>
          <p:cNvPr id="1619098932" name="line-192"/>
          <p:cNvSpPr/>
          <p:nvPr/>
        </p:nvSpPr>
        <p:spPr bwMode="auto">
          <a:xfrm>
            <a:off x="3657600" y="1792224"/>
            <a:ext cx="1371600" cy="603504"/>
          </a:xfrm>
          <a:prstGeom prst="line">
            <a:avLst/>
          </a:prstGeom>
          <a:noFill/>
          <a:ln w="9525">
            <a:solidFill>
              <a:srgbClr val="CBD5E1"/>
            </a:solidFill>
            <a:prstDash val="solid"/>
          </a:ln>
        </p:spPr>
      </p:sp>
      <p:sp>
        <p:nvSpPr>
          <p:cNvPr id="1621185429" name="line-193"/>
          <p:cNvSpPr/>
          <p:nvPr/>
        </p:nvSpPr>
        <p:spPr bwMode="auto">
          <a:xfrm>
            <a:off x="3657600" y="1792224"/>
            <a:ext cx="1371600" cy="1207008"/>
          </a:xfrm>
          <a:prstGeom prst="line">
            <a:avLst/>
          </a:prstGeom>
          <a:noFill/>
          <a:ln w="9525">
            <a:solidFill>
              <a:srgbClr val="CBD5E1"/>
            </a:solidFill>
            <a:prstDash val="solid"/>
          </a:ln>
        </p:spPr>
      </p:sp>
      <p:sp>
        <p:nvSpPr>
          <p:cNvPr id="1032756148" name="line-194"/>
          <p:cNvSpPr/>
          <p:nvPr/>
        </p:nvSpPr>
        <p:spPr bwMode="auto">
          <a:xfrm>
            <a:off x="3657600" y="2395728"/>
            <a:ext cx="1371600" cy="0"/>
          </a:xfrm>
          <a:prstGeom prst="line">
            <a:avLst/>
          </a:prstGeom>
          <a:noFill/>
          <a:ln w="9525">
            <a:solidFill>
              <a:srgbClr val="CBD5E1"/>
            </a:solidFill>
            <a:prstDash val="solid"/>
          </a:ln>
        </p:spPr>
      </p:sp>
      <p:sp>
        <p:nvSpPr>
          <p:cNvPr id="506224343" name="line-195"/>
          <p:cNvSpPr/>
          <p:nvPr/>
        </p:nvSpPr>
        <p:spPr bwMode="auto">
          <a:xfrm>
            <a:off x="3657600" y="2395728"/>
            <a:ext cx="1371600" cy="603504"/>
          </a:xfrm>
          <a:prstGeom prst="line">
            <a:avLst/>
          </a:prstGeom>
          <a:noFill/>
          <a:ln w="9525">
            <a:solidFill>
              <a:srgbClr val="CBD5E1"/>
            </a:solidFill>
            <a:prstDash val="solid"/>
          </a:ln>
        </p:spPr>
      </p:sp>
      <p:sp>
        <p:nvSpPr>
          <p:cNvPr id="1767319155" name="line-196"/>
          <p:cNvSpPr/>
          <p:nvPr/>
        </p:nvSpPr>
        <p:spPr bwMode="auto">
          <a:xfrm flipV="1">
            <a:off x="3657600" y="2395728"/>
            <a:ext cx="1371600" cy="603504"/>
          </a:xfrm>
          <a:prstGeom prst="line">
            <a:avLst/>
          </a:prstGeom>
          <a:noFill/>
          <a:ln w="9525">
            <a:solidFill>
              <a:srgbClr val="CBD5E1"/>
            </a:solidFill>
            <a:prstDash val="solid"/>
          </a:ln>
        </p:spPr>
      </p:sp>
      <p:sp>
        <p:nvSpPr>
          <p:cNvPr id="482398910" name="line-197"/>
          <p:cNvSpPr/>
          <p:nvPr/>
        </p:nvSpPr>
        <p:spPr bwMode="auto">
          <a:xfrm>
            <a:off x="3657600" y="2999232"/>
            <a:ext cx="1371600" cy="0"/>
          </a:xfrm>
          <a:prstGeom prst="line">
            <a:avLst/>
          </a:prstGeom>
          <a:noFill/>
          <a:ln w="9525">
            <a:solidFill>
              <a:srgbClr val="CBD5E1"/>
            </a:solidFill>
            <a:prstDash val="solid"/>
          </a:ln>
        </p:spPr>
      </p:sp>
      <p:sp>
        <p:nvSpPr>
          <p:cNvPr id="1588328523" name="line-198"/>
          <p:cNvSpPr/>
          <p:nvPr/>
        </p:nvSpPr>
        <p:spPr bwMode="auto">
          <a:xfrm flipV="1">
            <a:off x="3657600" y="2395728"/>
            <a:ext cx="1371600" cy="1207008"/>
          </a:xfrm>
          <a:prstGeom prst="line">
            <a:avLst/>
          </a:prstGeom>
          <a:noFill/>
          <a:ln w="9525">
            <a:solidFill>
              <a:srgbClr val="CBD5E1"/>
            </a:solidFill>
            <a:prstDash val="solid"/>
          </a:ln>
        </p:spPr>
      </p:sp>
      <p:sp>
        <p:nvSpPr>
          <p:cNvPr id="1645489935" name="line-199"/>
          <p:cNvSpPr/>
          <p:nvPr/>
        </p:nvSpPr>
        <p:spPr bwMode="auto">
          <a:xfrm flipV="1">
            <a:off x="3657600" y="2999232"/>
            <a:ext cx="1371600" cy="603504"/>
          </a:xfrm>
          <a:prstGeom prst="line">
            <a:avLst/>
          </a:prstGeom>
          <a:noFill/>
          <a:ln w="9525">
            <a:solidFill>
              <a:srgbClr val="CBD5E1"/>
            </a:solidFill>
            <a:prstDash val="solid"/>
          </a:ln>
        </p:spPr>
      </p:sp>
      <p:sp>
        <p:nvSpPr>
          <p:cNvPr id="2104320574" name="circle-200"/>
          <p:cNvSpPr/>
          <p:nvPr/>
        </p:nvSpPr>
        <p:spPr bwMode="auto">
          <a:xfrm>
            <a:off x="740664" y="1920240"/>
            <a:ext cx="347472" cy="347472"/>
          </a:xfrm>
          <a:prstGeom prst="ellipse">
            <a:avLst/>
          </a:prstGeom>
          <a:solidFill>
            <a:srgbClr val="2F6FED"/>
          </a:solidFill>
          <a:ln w="12700">
            <a:solidFill>
              <a:srgbClr val="2F6FED"/>
            </a:solidFill>
            <a:prstDash val="solid"/>
          </a:ln>
        </p:spPr>
      </p:sp>
      <p:sp>
        <p:nvSpPr>
          <p:cNvPr id="993757774" name="circle-201"/>
          <p:cNvSpPr/>
          <p:nvPr/>
        </p:nvSpPr>
        <p:spPr bwMode="auto">
          <a:xfrm>
            <a:off x="740664" y="2523744"/>
            <a:ext cx="347472" cy="347472"/>
          </a:xfrm>
          <a:prstGeom prst="ellipse">
            <a:avLst/>
          </a:prstGeom>
          <a:solidFill>
            <a:srgbClr val="2F6FED"/>
          </a:solidFill>
          <a:ln w="12700">
            <a:solidFill>
              <a:srgbClr val="2F6FED"/>
            </a:solidFill>
            <a:prstDash val="solid"/>
          </a:ln>
        </p:spPr>
      </p:sp>
      <p:sp>
        <p:nvSpPr>
          <p:cNvPr id="290157410" name="circle-202"/>
          <p:cNvSpPr/>
          <p:nvPr/>
        </p:nvSpPr>
        <p:spPr bwMode="auto">
          <a:xfrm>
            <a:off x="740664" y="3127248"/>
            <a:ext cx="347472" cy="347472"/>
          </a:xfrm>
          <a:prstGeom prst="ellipse">
            <a:avLst/>
          </a:prstGeom>
          <a:solidFill>
            <a:srgbClr val="2F6FED"/>
          </a:solidFill>
          <a:ln w="12700">
            <a:solidFill>
              <a:srgbClr val="2F6FED"/>
            </a:solidFill>
            <a:prstDash val="solid"/>
          </a:ln>
        </p:spPr>
      </p:sp>
      <p:sp>
        <p:nvSpPr>
          <p:cNvPr id="687416130" name="circle-203"/>
          <p:cNvSpPr/>
          <p:nvPr/>
        </p:nvSpPr>
        <p:spPr bwMode="auto">
          <a:xfrm>
            <a:off x="2112264" y="1618488"/>
            <a:ext cx="347472" cy="347472"/>
          </a:xfrm>
          <a:prstGeom prst="ellipse">
            <a:avLst/>
          </a:prstGeom>
          <a:solidFill>
            <a:srgbClr val="5B5BD6"/>
          </a:solidFill>
          <a:ln w="12700">
            <a:solidFill>
              <a:srgbClr val="5B5BD6"/>
            </a:solidFill>
            <a:prstDash val="solid"/>
          </a:ln>
        </p:spPr>
      </p:sp>
      <p:sp>
        <p:nvSpPr>
          <p:cNvPr id="261117113" name="circle-204"/>
          <p:cNvSpPr/>
          <p:nvPr/>
        </p:nvSpPr>
        <p:spPr bwMode="auto">
          <a:xfrm>
            <a:off x="2112264" y="2221992"/>
            <a:ext cx="347472" cy="347472"/>
          </a:xfrm>
          <a:prstGeom prst="ellipse">
            <a:avLst/>
          </a:prstGeom>
          <a:solidFill>
            <a:srgbClr val="5B5BD6"/>
          </a:solidFill>
          <a:ln w="12700">
            <a:solidFill>
              <a:srgbClr val="5B5BD6"/>
            </a:solidFill>
            <a:prstDash val="solid"/>
          </a:ln>
        </p:spPr>
      </p:sp>
      <p:sp>
        <p:nvSpPr>
          <p:cNvPr id="1618959793" name="circle-205"/>
          <p:cNvSpPr/>
          <p:nvPr/>
        </p:nvSpPr>
        <p:spPr bwMode="auto">
          <a:xfrm>
            <a:off x="2112264" y="2825496"/>
            <a:ext cx="347472" cy="347472"/>
          </a:xfrm>
          <a:prstGeom prst="ellipse">
            <a:avLst/>
          </a:prstGeom>
          <a:solidFill>
            <a:srgbClr val="5B5BD6"/>
          </a:solidFill>
          <a:ln w="12700">
            <a:solidFill>
              <a:srgbClr val="5B5BD6"/>
            </a:solidFill>
            <a:prstDash val="solid"/>
          </a:ln>
        </p:spPr>
      </p:sp>
      <p:sp>
        <p:nvSpPr>
          <p:cNvPr id="1325828159" name="circle-206"/>
          <p:cNvSpPr/>
          <p:nvPr/>
        </p:nvSpPr>
        <p:spPr bwMode="auto">
          <a:xfrm>
            <a:off x="2112264" y="3429000"/>
            <a:ext cx="347472" cy="347472"/>
          </a:xfrm>
          <a:prstGeom prst="ellipse">
            <a:avLst/>
          </a:prstGeom>
          <a:solidFill>
            <a:srgbClr val="5B5BD6"/>
          </a:solidFill>
          <a:ln w="12700">
            <a:solidFill>
              <a:srgbClr val="5B5BD6"/>
            </a:solidFill>
            <a:prstDash val="solid"/>
          </a:ln>
        </p:spPr>
      </p:sp>
      <p:sp>
        <p:nvSpPr>
          <p:cNvPr id="30572816" name="circle-207"/>
          <p:cNvSpPr/>
          <p:nvPr/>
        </p:nvSpPr>
        <p:spPr bwMode="auto">
          <a:xfrm>
            <a:off x="3483864" y="1618488"/>
            <a:ext cx="347472" cy="347472"/>
          </a:xfrm>
          <a:prstGeom prst="ellipse">
            <a:avLst/>
          </a:prstGeom>
          <a:solidFill>
            <a:srgbClr val="5B5BD6"/>
          </a:solidFill>
          <a:ln w="12700">
            <a:solidFill>
              <a:srgbClr val="5B5BD6"/>
            </a:solidFill>
            <a:prstDash val="solid"/>
          </a:ln>
        </p:spPr>
      </p:sp>
      <p:sp>
        <p:nvSpPr>
          <p:cNvPr id="321091709" name="circle-208"/>
          <p:cNvSpPr/>
          <p:nvPr/>
        </p:nvSpPr>
        <p:spPr bwMode="auto">
          <a:xfrm>
            <a:off x="3483864" y="2221992"/>
            <a:ext cx="347472" cy="347472"/>
          </a:xfrm>
          <a:prstGeom prst="ellipse">
            <a:avLst/>
          </a:prstGeom>
          <a:solidFill>
            <a:srgbClr val="5B5BD6"/>
          </a:solidFill>
          <a:ln w="12700">
            <a:solidFill>
              <a:srgbClr val="5B5BD6"/>
            </a:solidFill>
            <a:prstDash val="solid"/>
          </a:ln>
        </p:spPr>
      </p:sp>
      <p:sp>
        <p:nvSpPr>
          <p:cNvPr id="653156079" name="circle-209"/>
          <p:cNvSpPr/>
          <p:nvPr/>
        </p:nvSpPr>
        <p:spPr bwMode="auto">
          <a:xfrm>
            <a:off x="3483864" y="2825496"/>
            <a:ext cx="347472" cy="347472"/>
          </a:xfrm>
          <a:prstGeom prst="ellipse">
            <a:avLst/>
          </a:prstGeom>
          <a:solidFill>
            <a:srgbClr val="5B5BD6"/>
          </a:solidFill>
          <a:ln w="12700">
            <a:solidFill>
              <a:srgbClr val="5B5BD6"/>
            </a:solidFill>
            <a:prstDash val="solid"/>
          </a:ln>
        </p:spPr>
      </p:sp>
      <p:sp>
        <p:nvSpPr>
          <p:cNvPr id="723425759" name="circle-210"/>
          <p:cNvSpPr/>
          <p:nvPr/>
        </p:nvSpPr>
        <p:spPr bwMode="auto">
          <a:xfrm>
            <a:off x="3483864" y="3429000"/>
            <a:ext cx="347472" cy="347472"/>
          </a:xfrm>
          <a:prstGeom prst="ellipse">
            <a:avLst/>
          </a:prstGeom>
          <a:solidFill>
            <a:srgbClr val="5B5BD6"/>
          </a:solidFill>
          <a:ln w="12700">
            <a:solidFill>
              <a:srgbClr val="5B5BD6"/>
            </a:solidFill>
            <a:prstDash val="solid"/>
          </a:ln>
        </p:spPr>
      </p:sp>
      <p:sp>
        <p:nvSpPr>
          <p:cNvPr id="93920438" name="circle-211"/>
          <p:cNvSpPr/>
          <p:nvPr/>
        </p:nvSpPr>
        <p:spPr bwMode="auto">
          <a:xfrm>
            <a:off x="4855464" y="2221992"/>
            <a:ext cx="347472" cy="347472"/>
          </a:xfrm>
          <a:prstGeom prst="ellipse">
            <a:avLst/>
          </a:prstGeom>
          <a:solidFill>
            <a:srgbClr val="0B8478"/>
          </a:solidFill>
          <a:ln w="12700">
            <a:solidFill>
              <a:srgbClr val="0B8478"/>
            </a:solidFill>
            <a:prstDash val="solid"/>
          </a:ln>
        </p:spPr>
      </p:sp>
      <p:sp>
        <p:nvSpPr>
          <p:cNvPr id="434455900" name="circle-212"/>
          <p:cNvSpPr/>
          <p:nvPr/>
        </p:nvSpPr>
        <p:spPr bwMode="auto">
          <a:xfrm>
            <a:off x="4855464" y="2825496"/>
            <a:ext cx="347472" cy="347472"/>
          </a:xfrm>
          <a:prstGeom prst="ellipse">
            <a:avLst/>
          </a:prstGeom>
          <a:solidFill>
            <a:srgbClr val="0B8478"/>
          </a:solidFill>
          <a:ln w="12700">
            <a:solidFill>
              <a:srgbClr val="0B8478"/>
            </a:solidFill>
            <a:prstDash val="solid"/>
          </a:ln>
        </p:spPr>
      </p:sp>
      <p:sp>
        <p:nvSpPr>
          <p:cNvPr id="1398757306" name="text-213"/>
          <p:cNvSpPr txBox="1"/>
          <p:nvPr/>
        </p:nvSpPr>
        <p:spPr bwMode="auto">
          <a:xfrm>
            <a:off x="457200" y="4160519"/>
            <a:ext cx="914400" cy="274320"/>
          </a:xfrm>
          <a:prstGeom prst="rect">
            <a:avLst/>
          </a:prstGeom>
          <a:noFill/>
          <a:ln/>
        </p:spPr>
        <p:txBody>
          <a:bodyPr wrap="square" lIns="0" tIns="0" rIns="0" bIns="0" rtlCol="0" anchor="t"/>
          <a:lstStyle/>
          <a:p>
            <a:pPr marL="0" indent="0" algn="ctr">
              <a:buNone/>
              <a:defRPr/>
            </a:pPr>
            <a:r>
              <a:rPr lang="en-US" sz="1400" b="1">
                <a:solidFill>
                  <a:schemeClr val="accent5"/>
                </a:solidFill>
              </a:rPr>
              <a:t>Input</a:t>
            </a:r>
            <a:endParaRPr lang="en-US" sz="1400"/>
          </a:p>
        </p:txBody>
      </p:sp>
      <p:sp>
        <p:nvSpPr>
          <p:cNvPr id="1056705203" name="text-214"/>
          <p:cNvSpPr txBox="1"/>
          <p:nvPr/>
        </p:nvSpPr>
        <p:spPr bwMode="auto">
          <a:xfrm>
            <a:off x="2286000" y="4160519"/>
            <a:ext cx="1371600" cy="274320"/>
          </a:xfrm>
          <a:prstGeom prst="rect">
            <a:avLst/>
          </a:prstGeom>
          <a:noFill/>
          <a:ln/>
        </p:spPr>
        <p:txBody>
          <a:bodyPr wrap="square" lIns="0" tIns="0" rIns="0" bIns="0" rtlCol="0" anchor="t"/>
          <a:lstStyle/>
          <a:p>
            <a:pPr marL="0" indent="0" algn="ctr">
              <a:buNone/>
              <a:defRPr/>
            </a:pPr>
            <a:r>
              <a:rPr lang="en-US" sz="1400" b="1">
                <a:solidFill>
                  <a:schemeClr val="accent5"/>
                </a:solidFill>
              </a:rPr>
              <a:t>Hidden layers</a:t>
            </a:r>
            <a:endParaRPr lang="en-US" sz="1400"/>
          </a:p>
        </p:txBody>
      </p:sp>
      <p:sp>
        <p:nvSpPr>
          <p:cNvPr id="1430824972" name="text-215"/>
          <p:cNvSpPr txBox="1"/>
          <p:nvPr/>
        </p:nvSpPr>
        <p:spPr bwMode="auto">
          <a:xfrm>
            <a:off x="4572000" y="4160519"/>
            <a:ext cx="914400" cy="274320"/>
          </a:xfrm>
          <a:prstGeom prst="rect">
            <a:avLst/>
          </a:prstGeom>
          <a:noFill/>
          <a:ln/>
        </p:spPr>
        <p:txBody>
          <a:bodyPr wrap="square" lIns="0" tIns="0" rIns="0" bIns="0" rtlCol="0" anchor="t"/>
          <a:lstStyle/>
          <a:p>
            <a:pPr marL="0" indent="0" algn="ctr">
              <a:buNone/>
              <a:defRPr/>
            </a:pPr>
            <a:r>
              <a:rPr lang="en-US" sz="1400" b="1">
                <a:solidFill>
                  <a:schemeClr val="accent5"/>
                </a:solidFill>
              </a:rPr>
              <a:t>Output</a:t>
            </a:r>
            <a:endParaRPr lang="en-US" sz="1400"/>
          </a:p>
        </p:txBody>
      </p:sp>
      <p:sp>
        <p:nvSpPr>
          <p:cNvPr id="1302809072" name="text-216"/>
          <p:cNvSpPr txBox="1"/>
          <p:nvPr/>
        </p:nvSpPr>
        <p:spPr bwMode="auto">
          <a:xfrm>
            <a:off x="5943600" y="1280160"/>
            <a:ext cx="2743200" cy="320040"/>
          </a:xfrm>
          <a:prstGeom prst="rect">
            <a:avLst/>
          </a:prstGeom>
          <a:noFill/>
          <a:ln/>
        </p:spPr>
        <p:txBody>
          <a:bodyPr wrap="square" lIns="0" tIns="0" rIns="0" bIns="0" rtlCol="0" anchor="t"/>
          <a:lstStyle/>
          <a:p>
            <a:pPr marL="0" indent="0">
              <a:buNone/>
              <a:defRPr/>
            </a:pPr>
            <a:r>
              <a:rPr lang="en-US" sz="1700" b="1">
                <a:solidFill>
                  <a:schemeClr val="tx1"/>
                </a:solidFill>
              </a:rPr>
              <a:t>One neuron</a:t>
            </a:r>
            <a:endParaRPr lang="en-US" sz="1700"/>
          </a:p>
        </p:txBody>
      </p:sp>
      <p:sp>
        <p:nvSpPr>
          <p:cNvPr id="509830895" name="card-217"/>
          <p:cNvSpPr/>
          <p:nvPr/>
        </p:nvSpPr>
        <p:spPr bwMode="auto">
          <a:xfrm>
            <a:off x="5943600" y="1691640"/>
            <a:ext cx="2743200" cy="822960"/>
          </a:xfrm>
          <a:prstGeom prst="roundRect">
            <a:avLst>
              <a:gd name="adj" fmla="val 11111"/>
            </a:avLst>
          </a:prstGeom>
          <a:solidFill>
            <a:schemeClr val="bg2"/>
          </a:solidFill>
          <a:ln w="12700">
            <a:solidFill>
              <a:schemeClr val="bg2"/>
            </a:solidFill>
            <a:prstDash val="solid"/>
          </a:ln>
        </p:spPr>
      </p:sp>
      <p:sp>
        <p:nvSpPr>
          <p:cNvPr id="589972189" name="text-218"/>
          <p:cNvSpPr txBox="1"/>
          <p:nvPr/>
        </p:nvSpPr>
        <p:spPr bwMode="auto">
          <a:xfrm>
            <a:off x="5943600" y="1691640"/>
            <a:ext cx="2743200" cy="822960"/>
          </a:xfrm>
          <a:prstGeom prst="rect">
            <a:avLst/>
          </a:prstGeom>
          <a:noFill/>
          <a:ln/>
        </p:spPr>
        <p:txBody>
          <a:bodyPr wrap="square" lIns="0" tIns="0" rIns="0" bIns="0" rtlCol="0" anchor="ctr"/>
          <a:lstStyle/>
          <a:p>
            <a:pPr marL="0" indent="0" algn="ctr">
              <a:buNone/>
              <a:defRPr/>
            </a:pPr>
            <a:r>
              <a:rPr lang="en-US" sz="1600" b="1">
                <a:solidFill>
                  <a:schemeClr val="tx2"/>
                </a:solidFill>
              </a:rPr>
              <a:t>y = f(w₁x₁ + w₂x₂ + … + b)</a:t>
            </a:r>
            <a:endParaRPr lang="en-US" sz="1600"/>
          </a:p>
        </p:txBody>
      </p:sp>
      <p:sp>
        <p:nvSpPr>
          <p:cNvPr id="1152303818" name="text-219"/>
          <p:cNvSpPr txBox="1"/>
          <p:nvPr/>
        </p:nvSpPr>
        <p:spPr bwMode="auto">
          <a:xfrm>
            <a:off x="5943600" y="2743200"/>
            <a:ext cx="2743200" cy="1737360"/>
          </a:xfrm>
          <a:prstGeom prst="rect">
            <a:avLst/>
          </a:prstGeom>
          <a:noFill/>
          <a:ln/>
        </p:spPr>
        <p:txBody>
          <a:bodyPr wrap="square" lIns="0" tIns="0" rIns="0" bIns="0" rtlCol="0" anchor="t"/>
          <a:lstStyle/>
          <a:p>
            <a:pPr marL="0" indent="0">
              <a:spcAft>
                <a:spcPts val="800"/>
              </a:spcAft>
              <a:buNone/>
              <a:defRPr/>
            </a:pPr>
            <a:r>
              <a:rPr lang="en-US" sz="1400" b="1">
                <a:solidFill>
                  <a:schemeClr val="accent3"/>
                </a:solidFill>
              </a:rPr>
              <a:t>w </a:t>
            </a:r>
            <a:r>
              <a:rPr lang="en-US" sz="1400">
                <a:solidFill>
                  <a:schemeClr val="tx1"/>
                </a:solidFill>
              </a:rPr>
              <a:t>weights: learned strength of each input</a:t>
            </a:r>
            <a:endParaRPr lang="en-US" sz="1400"/>
          </a:p>
          <a:p>
            <a:pPr marL="0" indent="0">
              <a:spcAft>
                <a:spcPts val="800"/>
              </a:spcAft>
              <a:buNone/>
              <a:defRPr/>
            </a:pPr>
            <a:r>
              <a:rPr lang="en-US" sz="1400" b="1">
                <a:solidFill>
                  <a:schemeClr val="accent3"/>
                </a:solidFill>
              </a:rPr>
              <a:t>b </a:t>
            </a:r>
            <a:r>
              <a:rPr lang="en-US" sz="1400">
                <a:solidFill>
                  <a:schemeClr val="tx1"/>
                </a:solidFill>
              </a:rPr>
              <a:t>bias: shifts the threshold</a:t>
            </a:r>
            <a:endParaRPr lang="en-US" sz="1400"/>
          </a:p>
          <a:p>
            <a:pPr marL="0" indent="0">
              <a:spcAft>
                <a:spcPts val="800"/>
              </a:spcAft>
              <a:buNone/>
              <a:defRPr/>
            </a:pPr>
            <a:r>
              <a:rPr lang="en-US" sz="1400" b="1">
                <a:solidFill>
                  <a:schemeClr val="accent3"/>
                </a:solidFill>
              </a:rPr>
              <a:t>f </a:t>
            </a:r>
            <a:r>
              <a:rPr lang="en-US" sz="1400">
                <a:solidFill>
                  <a:schemeClr val="tx1"/>
                </a:solidFill>
              </a:rPr>
              <a:t>activation: adds non-linearity</a:t>
            </a:r>
            <a:endParaRPr lang="en-US" sz="1400"/>
          </a:p>
        </p:txBody>
      </p:sp>
      <p:sp>
        <p:nvSpPr>
          <p:cNvPr id="1200121521" name="Slide Number Placeholder 0"/>
          <p:cNvSpPr>
            <a:spLocks noGrp="1"/>
          </p:cNvSpPr>
          <p:nvPr>
            <p:ph type="sldNum" sz="quarter" idx="4294967295"/>
          </p:nvPr>
        </p:nvSpPr>
        <p:spPr bwMode="auto">
          <a:xfrm>
            <a:off x="8229600" y="4800600"/>
            <a:ext cx="457200" cy="228600"/>
          </a:xfrm>
          <a:prstGeom prst="rect">
            <a:avLst/>
          </a:prstGeom>
        </p:spPr>
        <p:txBody>
          <a:bodyPr/>
          <a:lstStyle>
            <a:lvl1pPr>
              <a:defRPr sz="1000">
                <a:solidFill>
                  <a:schemeClr val="accent5"/>
                </a:solidFill>
              </a:defRPr>
            </a:lvl1pPr>
          </a:lstStyle>
          <a:p>
            <a:pPr algn="r">
              <a:defRPr/>
            </a:pPr>
            <a:fld id="{F7021451-1387-4CA6-816F-3879F97B5CBC}" type="slidenum">
              <a:rPr lang="en-US" b="0"/>
              <a:t>11</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2">
    <p:spTree>
      <p:nvGrpSpPr>
        <p:cNvPr id="1" name=""/>
        <p:cNvGrpSpPr/>
        <p:nvPr/>
      </p:nvGrpSpPr>
      <p:grpSpPr bwMode="auto">
        <a:xfrm>
          <a:off x="0" y="0"/>
          <a:ext cx="0" cy="0"/>
          <a:chOff x="0" y="0"/>
          <a:chExt cx="0" cy="0"/>
        </a:xfrm>
      </p:grpSpPr>
      <p:sp>
        <p:nvSpPr>
          <p:cNvPr id="1941972026" name="Text 0"/>
          <p:cNvSpPr/>
          <p:nvPr>
            <p:ph type="title" idx="100" hasCustomPrompt="1"/>
          </p:nvPr>
        </p:nvSpPr>
        <p:spPr bwMode="auto">
          <a:xfrm>
            <a:off x="457200" y="274320"/>
            <a:ext cx="8229600" cy="731520"/>
          </a:xfrm>
          <a:prstGeom prst="rect">
            <a:avLst/>
          </a:prstGeom>
          <a:noFill/>
          <a:ln/>
        </p:spPr>
        <p:txBody>
          <a:bodyPr wrap="square" lIns="0" tIns="0" rIns="0" bIns="0" rtlCol="0" anchor="ctr"/>
          <a:lstStyle/>
          <a:p>
            <a:pPr marL="0" indent="0" algn="l">
              <a:buNone/>
              <a:defRPr/>
            </a:pPr>
            <a:r>
              <a:rPr lang="en-US" sz="3000" b="1">
                <a:solidFill>
                  <a:schemeClr val="tx2"/>
                </a:solidFill>
              </a:rPr>
              <a:t>How a network learns</a:t>
            </a:r>
            <a:endParaRPr lang="en-US" sz="3000"/>
          </a:p>
        </p:txBody>
      </p:sp>
      <p:sp>
        <p:nvSpPr>
          <p:cNvPr id="329090058" name="box-220"/>
          <p:cNvSpPr/>
          <p:nvPr/>
        </p:nvSpPr>
        <p:spPr bwMode="auto">
          <a:xfrm>
            <a:off x="457200" y="1280160"/>
            <a:ext cx="1783080" cy="685800"/>
          </a:xfrm>
          <a:prstGeom prst="roundRect">
            <a:avLst>
              <a:gd name="adj" fmla="val 10667"/>
            </a:avLst>
          </a:prstGeom>
          <a:solidFill>
            <a:srgbClr val="2F6FED"/>
          </a:solidFill>
          <a:ln w="12700">
            <a:solidFill>
              <a:srgbClr val="2F6FED"/>
            </a:solidFill>
            <a:prstDash val="solid"/>
          </a:ln>
        </p:spPr>
      </p:sp>
      <p:sp>
        <p:nvSpPr>
          <p:cNvPr id="849783212" name="text-221"/>
          <p:cNvSpPr txBox="1"/>
          <p:nvPr/>
        </p:nvSpPr>
        <p:spPr bwMode="auto">
          <a:xfrm>
            <a:off x="530352" y="1280160"/>
            <a:ext cx="1636776" cy="685800"/>
          </a:xfrm>
          <a:prstGeom prst="rect">
            <a:avLst/>
          </a:prstGeom>
          <a:noFill/>
          <a:ln/>
        </p:spPr>
        <p:txBody>
          <a:bodyPr wrap="square" lIns="0" tIns="0" rIns="0" bIns="0" rtlCol="0" anchor="ctr"/>
          <a:lstStyle/>
          <a:p>
            <a:pPr marL="0" indent="0" algn="ctr">
              <a:buNone/>
              <a:defRPr/>
            </a:pPr>
            <a:r>
              <a:rPr lang="en-US" sz="1500" b="1">
                <a:solidFill>
                  <a:schemeClr val="bg1"/>
                </a:solidFill>
              </a:rPr>
              <a:t>Input data</a:t>
            </a:r>
            <a:endParaRPr lang="en-US" sz="1500"/>
          </a:p>
        </p:txBody>
      </p:sp>
      <p:sp>
        <p:nvSpPr>
          <p:cNvPr id="1418835287" name="arrow-222"/>
          <p:cNvSpPr/>
          <p:nvPr/>
        </p:nvSpPr>
        <p:spPr bwMode="auto">
          <a:xfrm>
            <a:off x="2331720" y="1623060"/>
            <a:ext cx="228600" cy="0"/>
          </a:xfrm>
          <a:prstGeom prst="line">
            <a:avLst/>
          </a:prstGeom>
          <a:noFill/>
          <a:ln w="25400">
            <a:solidFill>
              <a:schemeClr val="accent5"/>
            </a:solidFill>
            <a:prstDash val="solid"/>
            <a:tailEnd type="triangle"/>
          </a:ln>
        </p:spPr>
      </p:sp>
      <p:sp>
        <p:nvSpPr>
          <p:cNvPr id="1860674649" name="box-223"/>
          <p:cNvSpPr/>
          <p:nvPr/>
        </p:nvSpPr>
        <p:spPr bwMode="auto">
          <a:xfrm>
            <a:off x="2606040" y="1280160"/>
            <a:ext cx="1783080" cy="685800"/>
          </a:xfrm>
          <a:prstGeom prst="roundRect">
            <a:avLst>
              <a:gd name="adj" fmla="val 10667"/>
            </a:avLst>
          </a:prstGeom>
          <a:solidFill>
            <a:srgbClr val="5B5BD6"/>
          </a:solidFill>
          <a:ln w="12700">
            <a:solidFill>
              <a:srgbClr val="5B5BD6"/>
            </a:solidFill>
            <a:prstDash val="solid"/>
          </a:ln>
        </p:spPr>
      </p:sp>
      <p:sp>
        <p:nvSpPr>
          <p:cNvPr id="344340712" name="text-224"/>
          <p:cNvSpPr txBox="1"/>
          <p:nvPr/>
        </p:nvSpPr>
        <p:spPr bwMode="auto">
          <a:xfrm>
            <a:off x="2679192" y="1280160"/>
            <a:ext cx="1636776" cy="685800"/>
          </a:xfrm>
          <a:prstGeom prst="rect">
            <a:avLst/>
          </a:prstGeom>
          <a:noFill/>
          <a:ln/>
        </p:spPr>
        <p:txBody>
          <a:bodyPr wrap="square" lIns="0" tIns="0" rIns="0" bIns="0" rtlCol="0" anchor="ctr"/>
          <a:lstStyle/>
          <a:p>
            <a:pPr marL="0" indent="0" algn="ctr">
              <a:buNone/>
              <a:defRPr/>
            </a:pPr>
            <a:r>
              <a:rPr lang="en-US" sz="1500" b="1">
                <a:solidFill>
                  <a:schemeClr val="bg1"/>
                </a:solidFill>
              </a:rPr>
              <a:t>Model (weights)</a:t>
            </a:r>
            <a:endParaRPr lang="en-US" sz="1500"/>
          </a:p>
        </p:txBody>
      </p:sp>
      <p:sp>
        <p:nvSpPr>
          <p:cNvPr id="1404626941" name="arrow-225"/>
          <p:cNvSpPr/>
          <p:nvPr/>
        </p:nvSpPr>
        <p:spPr bwMode="auto">
          <a:xfrm>
            <a:off x="4480560" y="1623060"/>
            <a:ext cx="228600" cy="0"/>
          </a:xfrm>
          <a:prstGeom prst="line">
            <a:avLst/>
          </a:prstGeom>
          <a:noFill/>
          <a:ln w="25400">
            <a:solidFill>
              <a:schemeClr val="accent5"/>
            </a:solidFill>
            <a:prstDash val="solid"/>
            <a:tailEnd type="triangle"/>
          </a:ln>
        </p:spPr>
      </p:sp>
      <p:sp>
        <p:nvSpPr>
          <p:cNvPr id="1386626755" name="box-226"/>
          <p:cNvSpPr/>
          <p:nvPr/>
        </p:nvSpPr>
        <p:spPr bwMode="auto">
          <a:xfrm>
            <a:off x="4754880" y="1280160"/>
            <a:ext cx="1783080" cy="685800"/>
          </a:xfrm>
          <a:prstGeom prst="roundRect">
            <a:avLst>
              <a:gd name="adj" fmla="val 10667"/>
            </a:avLst>
          </a:prstGeom>
          <a:solidFill>
            <a:srgbClr val="5B5BD6"/>
          </a:solidFill>
          <a:ln w="12700">
            <a:solidFill>
              <a:srgbClr val="5B5BD6"/>
            </a:solidFill>
            <a:prstDash val="solid"/>
          </a:ln>
        </p:spPr>
      </p:sp>
      <p:sp>
        <p:nvSpPr>
          <p:cNvPr id="1025260416" name="text-227"/>
          <p:cNvSpPr txBox="1"/>
          <p:nvPr/>
        </p:nvSpPr>
        <p:spPr bwMode="auto">
          <a:xfrm>
            <a:off x="4828032" y="1280160"/>
            <a:ext cx="1636776" cy="685800"/>
          </a:xfrm>
          <a:prstGeom prst="rect">
            <a:avLst/>
          </a:prstGeom>
          <a:noFill/>
          <a:ln/>
        </p:spPr>
        <p:txBody>
          <a:bodyPr wrap="square" lIns="0" tIns="0" rIns="0" bIns="0" rtlCol="0" anchor="ctr"/>
          <a:lstStyle/>
          <a:p>
            <a:pPr marL="0" indent="0" algn="ctr">
              <a:buNone/>
              <a:defRPr/>
            </a:pPr>
            <a:r>
              <a:rPr lang="en-US" sz="1500" b="1">
                <a:solidFill>
                  <a:schemeClr val="bg1"/>
                </a:solidFill>
              </a:rPr>
              <a:t>Prediction</a:t>
            </a:r>
            <a:endParaRPr lang="en-US" sz="1500"/>
          </a:p>
        </p:txBody>
      </p:sp>
      <p:sp>
        <p:nvSpPr>
          <p:cNvPr id="1361675140" name="arrow-228"/>
          <p:cNvSpPr/>
          <p:nvPr/>
        </p:nvSpPr>
        <p:spPr bwMode="auto">
          <a:xfrm>
            <a:off x="6629400" y="1623060"/>
            <a:ext cx="228600" cy="0"/>
          </a:xfrm>
          <a:prstGeom prst="line">
            <a:avLst/>
          </a:prstGeom>
          <a:noFill/>
          <a:ln w="25400">
            <a:solidFill>
              <a:schemeClr val="accent5"/>
            </a:solidFill>
            <a:prstDash val="solid"/>
            <a:tailEnd type="triangle"/>
          </a:ln>
        </p:spPr>
      </p:sp>
      <p:sp>
        <p:nvSpPr>
          <p:cNvPr id="375711227" name="box-229"/>
          <p:cNvSpPr/>
          <p:nvPr/>
        </p:nvSpPr>
        <p:spPr bwMode="auto">
          <a:xfrm>
            <a:off x="6903720" y="1280160"/>
            <a:ext cx="1783080" cy="685800"/>
          </a:xfrm>
          <a:prstGeom prst="roundRect">
            <a:avLst>
              <a:gd name="adj" fmla="val 10667"/>
            </a:avLst>
          </a:prstGeom>
          <a:solidFill>
            <a:srgbClr val="D93C41"/>
          </a:solidFill>
          <a:ln w="12700">
            <a:solidFill>
              <a:srgbClr val="D93C41"/>
            </a:solidFill>
            <a:prstDash val="solid"/>
          </a:ln>
        </p:spPr>
      </p:sp>
      <p:sp>
        <p:nvSpPr>
          <p:cNvPr id="133739799" name="text-230"/>
          <p:cNvSpPr txBox="1"/>
          <p:nvPr/>
        </p:nvSpPr>
        <p:spPr bwMode="auto">
          <a:xfrm>
            <a:off x="6976872" y="1280160"/>
            <a:ext cx="1636776" cy="685800"/>
          </a:xfrm>
          <a:prstGeom prst="rect">
            <a:avLst/>
          </a:prstGeom>
          <a:noFill/>
          <a:ln/>
        </p:spPr>
        <p:txBody>
          <a:bodyPr wrap="square" lIns="0" tIns="0" rIns="0" bIns="0" rtlCol="0" anchor="ctr"/>
          <a:lstStyle/>
          <a:p>
            <a:pPr marL="0" indent="0" algn="ctr">
              <a:buNone/>
              <a:defRPr/>
            </a:pPr>
            <a:r>
              <a:rPr lang="en-US" sz="1500" b="1">
                <a:solidFill>
                  <a:schemeClr val="bg1"/>
                </a:solidFill>
              </a:rPr>
              <a:t>Loss vs target</a:t>
            </a:r>
            <a:endParaRPr lang="en-US" sz="1500"/>
          </a:p>
        </p:txBody>
      </p:sp>
      <p:sp>
        <p:nvSpPr>
          <p:cNvPr id="207940976" name="line-231"/>
          <p:cNvSpPr/>
          <p:nvPr/>
        </p:nvSpPr>
        <p:spPr bwMode="auto">
          <a:xfrm>
            <a:off x="7795260" y="1965960"/>
            <a:ext cx="0" cy="365760"/>
          </a:xfrm>
          <a:prstGeom prst="line">
            <a:avLst/>
          </a:prstGeom>
          <a:noFill/>
          <a:ln w="25400">
            <a:solidFill>
              <a:srgbClr val="D93C41"/>
            </a:solidFill>
            <a:prstDash val="solid"/>
          </a:ln>
        </p:spPr>
      </p:sp>
      <p:sp>
        <p:nvSpPr>
          <p:cNvPr id="1370028700" name="line-232"/>
          <p:cNvSpPr/>
          <p:nvPr/>
        </p:nvSpPr>
        <p:spPr bwMode="auto">
          <a:xfrm flipV="1">
            <a:off x="3177540" y="2331720"/>
            <a:ext cx="4617720" cy="0"/>
          </a:xfrm>
          <a:prstGeom prst="line">
            <a:avLst/>
          </a:prstGeom>
          <a:noFill/>
          <a:ln w="25400">
            <a:solidFill>
              <a:srgbClr val="D93C41"/>
            </a:solidFill>
            <a:prstDash val="solid"/>
          </a:ln>
        </p:spPr>
      </p:sp>
      <p:sp>
        <p:nvSpPr>
          <p:cNvPr id="2146557738" name="arrow-233"/>
          <p:cNvSpPr/>
          <p:nvPr/>
        </p:nvSpPr>
        <p:spPr bwMode="auto">
          <a:xfrm flipV="1">
            <a:off x="3177540" y="1984248"/>
            <a:ext cx="0" cy="347472"/>
          </a:xfrm>
          <a:prstGeom prst="line">
            <a:avLst/>
          </a:prstGeom>
          <a:noFill/>
          <a:ln w="25400">
            <a:solidFill>
              <a:srgbClr val="D93C41"/>
            </a:solidFill>
            <a:prstDash val="solid"/>
            <a:tailEnd type="triangle"/>
          </a:ln>
        </p:spPr>
      </p:sp>
      <p:sp>
        <p:nvSpPr>
          <p:cNvPr id="10894163" name="text-234"/>
          <p:cNvSpPr txBox="1"/>
          <p:nvPr/>
        </p:nvSpPr>
        <p:spPr bwMode="auto">
          <a:xfrm>
            <a:off x="3474720" y="2395728"/>
            <a:ext cx="4114800" cy="274320"/>
          </a:xfrm>
          <a:prstGeom prst="rect">
            <a:avLst/>
          </a:prstGeom>
          <a:noFill/>
          <a:ln/>
        </p:spPr>
        <p:txBody>
          <a:bodyPr wrap="square" lIns="0" tIns="0" rIns="0" bIns="0" rtlCol="0" anchor="t"/>
          <a:lstStyle/>
          <a:p>
            <a:pPr marL="0" indent="0" algn="ctr">
              <a:buNone/>
              <a:defRPr/>
            </a:pPr>
            <a:r>
              <a:rPr lang="en-US" sz="1400" b="1">
                <a:solidFill>
                  <a:schemeClr val="accent4"/>
                </a:solidFill>
              </a:rPr>
              <a:t>Update weights (gradient descent)</a:t>
            </a:r>
            <a:endParaRPr lang="en-US" sz="1400"/>
          </a:p>
        </p:txBody>
      </p:sp>
      <p:graphicFrame>
        <p:nvGraphicFramePr>
          <p:cNvPr id="868110937" name="Chart 0" descr=""/>
          <p:cNvGraphicFramePr>
            <a:graphicFrameLocks xmlns:a="http://schemas.openxmlformats.org/drawingml/2006/main"/>
          </p:cNvGraphicFramePr>
          <p:nvPr/>
        </p:nvGraphicFramePr>
        <p:xfrm rot="0">
          <a:off x="457200" y="2788920"/>
          <a:ext cx="4754880" cy="1965960"/>
        </p:xfrm>
        <a:graphic>
          <a:graphicData uri="http://schemas.openxmlformats.org/drawingml/2006/chart">
            <c:chart xmlns:c="http://schemas.openxmlformats.org/drawingml/2006/chart" xmlns:r="http://schemas.openxmlformats.org/officeDocument/2006/relationships" r:id="rId3"/>
          </a:graphicData>
        </a:graphic>
      </p:graphicFrame>
      <p:sp>
        <p:nvSpPr>
          <p:cNvPr id="1732652392" name="text-235"/>
          <p:cNvSpPr txBox="1"/>
          <p:nvPr/>
        </p:nvSpPr>
        <p:spPr bwMode="auto">
          <a:xfrm>
            <a:off x="5486400" y="2834640"/>
            <a:ext cx="3200400" cy="1828800"/>
          </a:xfrm>
          <a:prstGeom prst="rect">
            <a:avLst/>
          </a:prstGeom>
          <a:noFill/>
          <a:ln/>
        </p:spPr>
        <p:txBody>
          <a:bodyPr wrap="square" lIns="0" tIns="0" rIns="0" bIns="0" rtlCol="0" anchor="t"/>
          <a:lstStyle/>
          <a:p>
            <a:pPr marL="0" indent="0">
              <a:spcAft>
                <a:spcPts val="800"/>
              </a:spcAft>
              <a:buNone/>
              <a:defRPr/>
            </a:pPr>
            <a:r>
              <a:rPr lang="en-US" sz="1400" b="1">
                <a:solidFill>
                  <a:schemeClr val="accent4"/>
                </a:solidFill>
              </a:rPr>
              <a:t>Loss L </a:t>
            </a:r>
            <a:r>
              <a:rPr lang="en-US" sz="1400">
                <a:solidFill>
                  <a:schemeClr val="tx1"/>
                </a:solidFill>
              </a:rPr>
              <a:t>measures how wrong the predictions are</a:t>
            </a:r>
            <a:endParaRPr lang="en-US" sz="1400"/>
          </a:p>
          <a:p>
            <a:pPr marL="0" indent="0">
              <a:spcAft>
                <a:spcPts val="800"/>
              </a:spcAft>
              <a:buNone/>
              <a:defRPr/>
            </a:pPr>
            <a:r>
              <a:rPr lang="en-US" sz="1400" b="1">
                <a:solidFill>
                  <a:schemeClr val="accent4"/>
                </a:solidFill>
              </a:rPr>
              <a:t>Gradient descent </a:t>
            </a:r>
            <a:r>
              <a:rPr lang="en-US" sz="1400">
                <a:solidFill>
                  <a:schemeClr val="tx1"/>
                </a:solidFill>
              </a:rPr>
              <a:t>moves each weight downhill: w ← w − η · ∂L/∂w</a:t>
            </a:r>
            <a:endParaRPr lang="en-US" sz="1400"/>
          </a:p>
          <a:p>
            <a:pPr marL="0" indent="0">
              <a:spcAft>
                <a:spcPts val="800"/>
              </a:spcAft>
              <a:buNone/>
              <a:defRPr/>
            </a:pPr>
            <a:r>
              <a:rPr lang="en-US" sz="1400" b="1">
                <a:solidFill>
                  <a:schemeClr val="accent4"/>
                </a:solidFill>
              </a:rPr>
              <a:t>Repeat </a:t>
            </a:r>
            <a:r>
              <a:rPr lang="en-US" sz="1400">
                <a:solidFill>
                  <a:schemeClr val="tx1"/>
                </a:solidFill>
              </a:rPr>
              <a:t>until L stops decreasing</a:t>
            </a:r>
            <a:endParaRPr lang="en-US" sz="1400"/>
          </a:p>
        </p:txBody>
      </p:sp>
      <p:sp>
        <p:nvSpPr>
          <p:cNvPr id="346965177" name="Slide Number Placeholder 0"/>
          <p:cNvSpPr>
            <a:spLocks noGrp="1"/>
          </p:cNvSpPr>
          <p:nvPr>
            <p:ph type="sldNum" sz="quarter" idx="4294967295"/>
          </p:nvPr>
        </p:nvSpPr>
        <p:spPr bwMode="auto">
          <a:xfrm>
            <a:off x="8229600" y="4800600"/>
            <a:ext cx="457200" cy="228600"/>
          </a:xfrm>
          <a:prstGeom prst="rect">
            <a:avLst/>
          </a:prstGeom>
        </p:spPr>
        <p:txBody>
          <a:bodyPr/>
          <a:lstStyle>
            <a:lvl1pPr>
              <a:defRPr sz="1000">
                <a:solidFill>
                  <a:schemeClr val="accent5"/>
                </a:solidFill>
              </a:defRPr>
            </a:lvl1pPr>
          </a:lstStyle>
          <a:p>
            <a:pPr algn="r">
              <a:defRPr/>
            </a:pPr>
            <a:fld id="{F7021451-1387-4CA6-816F-3879F97B5CBC}" type="slidenum">
              <a:rPr lang="en-US" b="0"/>
              <a:t>12</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3">
    <p:spTree>
      <p:nvGrpSpPr>
        <p:cNvPr id="1" name=""/>
        <p:cNvGrpSpPr/>
        <p:nvPr/>
      </p:nvGrpSpPr>
      <p:grpSpPr bwMode="auto">
        <a:xfrm>
          <a:off x="0" y="0"/>
          <a:ext cx="0" cy="0"/>
          <a:chOff x="0" y="0"/>
          <a:chExt cx="0" cy="0"/>
        </a:xfrm>
      </p:grpSpPr>
      <p:sp>
        <p:nvSpPr>
          <p:cNvPr id="1644577957" name="Text 0"/>
          <p:cNvSpPr/>
          <p:nvPr>
            <p:ph type="title" idx="100" hasCustomPrompt="1"/>
          </p:nvPr>
        </p:nvSpPr>
        <p:spPr bwMode="auto">
          <a:xfrm>
            <a:off x="457200" y="274320"/>
            <a:ext cx="8229600" cy="731520"/>
          </a:xfrm>
          <a:prstGeom prst="rect">
            <a:avLst/>
          </a:prstGeom>
          <a:noFill/>
          <a:ln/>
        </p:spPr>
        <p:txBody>
          <a:bodyPr wrap="square" lIns="0" tIns="0" rIns="0" bIns="0" rtlCol="0" anchor="ctr"/>
          <a:lstStyle/>
          <a:p>
            <a:pPr marL="0" indent="0" algn="l">
              <a:buNone/>
              <a:defRPr/>
            </a:pPr>
            <a:r>
              <a:rPr lang="en-US" sz="3000" b="1">
                <a:solidFill>
                  <a:schemeClr val="tx2"/>
                </a:solidFill>
              </a:rPr>
              <a:t>Convolutional neural networks (CNNs)</a:t>
            </a:r>
            <a:endParaRPr lang="en-US" sz="3000"/>
          </a:p>
        </p:txBody>
      </p:sp>
      <p:sp>
        <p:nvSpPr>
          <p:cNvPr id="1547840969" name="box-236"/>
          <p:cNvSpPr/>
          <p:nvPr/>
        </p:nvSpPr>
        <p:spPr bwMode="auto">
          <a:xfrm>
            <a:off x="525780" y="1280160"/>
            <a:ext cx="1325880" cy="868680"/>
          </a:xfrm>
          <a:prstGeom prst="roundRect">
            <a:avLst>
              <a:gd name="adj" fmla="val 8421"/>
            </a:avLst>
          </a:prstGeom>
          <a:solidFill>
            <a:srgbClr val="2F6FED"/>
          </a:solidFill>
          <a:ln w="12700">
            <a:solidFill>
              <a:srgbClr val="2F6FED"/>
            </a:solidFill>
            <a:prstDash val="solid"/>
          </a:ln>
        </p:spPr>
      </p:sp>
      <p:sp>
        <p:nvSpPr>
          <p:cNvPr id="975727154" name="text-237"/>
          <p:cNvSpPr txBox="1"/>
          <p:nvPr/>
        </p:nvSpPr>
        <p:spPr bwMode="auto">
          <a:xfrm>
            <a:off x="598932" y="1280160"/>
            <a:ext cx="1179576" cy="868680"/>
          </a:xfrm>
          <a:prstGeom prst="rect">
            <a:avLst/>
          </a:prstGeom>
          <a:noFill/>
          <a:ln/>
        </p:spPr>
        <p:txBody>
          <a:bodyPr wrap="square" lIns="0" tIns="0" rIns="0" bIns="0" rtlCol="0" anchor="ctr"/>
          <a:lstStyle/>
          <a:p>
            <a:pPr marL="0" indent="0" algn="ctr">
              <a:buNone/>
              <a:defRPr/>
            </a:pPr>
            <a:r>
              <a:rPr lang="en-US" sz="1400" b="1">
                <a:solidFill>
                  <a:schemeClr val="bg1"/>
                </a:solidFill>
              </a:rPr>
              <a:t>Image</a:t>
            </a:r>
            <a:endParaRPr lang="en-US" sz="1400"/>
          </a:p>
        </p:txBody>
      </p:sp>
      <p:sp>
        <p:nvSpPr>
          <p:cNvPr id="1127011252" name="arrow-238"/>
          <p:cNvSpPr/>
          <p:nvPr/>
        </p:nvSpPr>
        <p:spPr bwMode="auto">
          <a:xfrm>
            <a:off x="1869948" y="1714500"/>
            <a:ext cx="329184" cy="0"/>
          </a:xfrm>
          <a:prstGeom prst="line">
            <a:avLst/>
          </a:prstGeom>
          <a:noFill/>
          <a:ln w="25400">
            <a:solidFill>
              <a:schemeClr val="accent5"/>
            </a:solidFill>
            <a:prstDash val="solid"/>
            <a:tailEnd type="triangle"/>
          </a:ln>
        </p:spPr>
      </p:sp>
      <p:sp>
        <p:nvSpPr>
          <p:cNvPr id="1892069890" name="box-239"/>
          <p:cNvSpPr/>
          <p:nvPr/>
        </p:nvSpPr>
        <p:spPr bwMode="auto">
          <a:xfrm>
            <a:off x="2217420" y="1280160"/>
            <a:ext cx="1325880" cy="868680"/>
          </a:xfrm>
          <a:prstGeom prst="roundRect">
            <a:avLst>
              <a:gd name="adj" fmla="val 8421"/>
            </a:avLst>
          </a:prstGeom>
          <a:solidFill>
            <a:srgbClr val="5B5BD6"/>
          </a:solidFill>
          <a:ln w="12700">
            <a:solidFill>
              <a:srgbClr val="5B5BD6"/>
            </a:solidFill>
            <a:prstDash val="solid"/>
          </a:ln>
        </p:spPr>
      </p:sp>
      <p:sp>
        <p:nvSpPr>
          <p:cNvPr id="744814712" name="text-240"/>
          <p:cNvSpPr txBox="1"/>
          <p:nvPr/>
        </p:nvSpPr>
        <p:spPr bwMode="auto">
          <a:xfrm>
            <a:off x="2290572" y="1280160"/>
            <a:ext cx="1179576" cy="868680"/>
          </a:xfrm>
          <a:prstGeom prst="rect">
            <a:avLst/>
          </a:prstGeom>
          <a:noFill/>
          <a:ln/>
        </p:spPr>
        <p:txBody>
          <a:bodyPr wrap="square" lIns="0" tIns="0" rIns="0" bIns="0" rtlCol="0" anchor="ctr"/>
          <a:lstStyle/>
          <a:p>
            <a:pPr marL="0" indent="0" algn="ctr">
              <a:buNone/>
              <a:defRPr/>
            </a:pPr>
            <a:r>
              <a:rPr lang="en-US" sz="1400" b="1">
                <a:solidFill>
                  <a:schemeClr val="bg1"/>
                </a:solidFill>
              </a:rPr>
              <a:t>Convolution + ReLU</a:t>
            </a:r>
            <a:endParaRPr lang="en-US" sz="1400"/>
          </a:p>
        </p:txBody>
      </p:sp>
      <p:sp>
        <p:nvSpPr>
          <p:cNvPr id="435401491" name="arrow-241"/>
          <p:cNvSpPr/>
          <p:nvPr/>
        </p:nvSpPr>
        <p:spPr bwMode="auto">
          <a:xfrm>
            <a:off x="3561588" y="1714500"/>
            <a:ext cx="329184" cy="0"/>
          </a:xfrm>
          <a:prstGeom prst="line">
            <a:avLst/>
          </a:prstGeom>
          <a:noFill/>
          <a:ln w="25400">
            <a:solidFill>
              <a:schemeClr val="accent5"/>
            </a:solidFill>
            <a:prstDash val="solid"/>
            <a:tailEnd type="triangle"/>
          </a:ln>
        </p:spPr>
      </p:sp>
      <p:sp>
        <p:nvSpPr>
          <p:cNvPr id="424539890" name="box-242"/>
          <p:cNvSpPr/>
          <p:nvPr/>
        </p:nvSpPr>
        <p:spPr bwMode="auto">
          <a:xfrm>
            <a:off x="3909060" y="1280160"/>
            <a:ext cx="1325880" cy="868680"/>
          </a:xfrm>
          <a:prstGeom prst="roundRect">
            <a:avLst>
              <a:gd name="adj" fmla="val 8421"/>
            </a:avLst>
          </a:prstGeom>
          <a:solidFill>
            <a:srgbClr val="5B5BD6"/>
          </a:solidFill>
          <a:ln w="12700">
            <a:solidFill>
              <a:srgbClr val="5B5BD6"/>
            </a:solidFill>
            <a:prstDash val="solid"/>
          </a:ln>
        </p:spPr>
      </p:sp>
      <p:sp>
        <p:nvSpPr>
          <p:cNvPr id="1695209014" name="text-243"/>
          <p:cNvSpPr txBox="1"/>
          <p:nvPr/>
        </p:nvSpPr>
        <p:spPr bwMode="auto">
          <a:xfrm>
            <a:off x="3982212" y="1280160"/>
            <a:ext cx="1179576" cy="868680"/>
          </a:xfrm>
          <a:prstGeom prst="rect">
            <a:avLst/>
          </a:prstGeom>
          <a:noFill/>
          <a:ln/>
        </p:spPr>
        <p:txBody>
          <a:bodyPr wrap="square" lIns="0" tIns="0" rIns="0" bIns="0" rtlCol="0" anchor="ctr"/>
          <a:lstStyle/>
          <a:p>
            <a:pPr marL="0" indent="0" algn="ctr">
              <a:buNone/>
              <a:defRPr/>
            </a:pPr>
            <a:r>
              <a:rPr lang="en-US" sz="1400" b="1">
                <a:solidFill>
                  <a:schemeClr val="bg1"/>
                </a:solidFill>
              </a:rPr>
              <a:t>Pooling</a:t>
            </a:r>
            <a:endParaRPr lang="en-US" sz="1400"/>
          </a:p>
        </p:txBody>
      </p:sp>
      <p:sp>
        <p:nvSpPr>
          <p:cNvPr id="887934082" name="arrow-244"/>
          <p:cNvSpPr/>
          <p:nvPr/>
        </p:nvSpPr>
        <p:spPr bwMode="auto">
          <a:xfrm>
            <a:off x="5253228" y="1714500"/>
            <a:ext cx="329184" cy="0"/>
          </a:xfrm>
          <a:prstGeom prst="line">
            <a:avLst/>
          </a:prstGeom>
          <a:noFill/>
          <a:ln w="25400">
            <a:solidFill>
              <a:schemeClr val="accent5"/>
            </a:solidFill>
            <a:prstDash val="solid"/>
            <a:tailEnd type="triangle"/>
          </a:ln>
        </p:spPr>
      </p:sp>
      <p:sp>
        <p:nvSpPr>
          <p:cNvPr id="1238475356" name="box-245"/>
          <p:cNvSpPr/>
          <p:nvPr/>
        </p:nvSpPr>
        <p:spPr bwMode="auto">
          <a:xfrm>
            <a:off x="5600700" y="1280160"/>
            <a:ext cx="1325880" cy="868680"/>
          </a:xfrm>
          <a:prstGeom prst="roundRect">
            <a:avLst>
              <a:gd name="adj" fmla="val 8421"/>
            </a:avLst>
          </a:prstGeom>
          <a:solidFill>
            <a:srgbClr val="5B5BD6"/>
          </a:solidFill>
          <a:ln w="12700">
            <a:solidFill>
              <a:srgbClr val="5B5BD6"/>
            </a:solidFill>
            <a:prstDash val="solid"/>
          </a:ln>
        </p:spPr>
      </p:sp>
      <p:sp>
        <p:nvSpPr>
          <p:cNvPr id="2006937768" name="text-246"/>
          <p:cNvSpPr txBox="1"/>
          <p:nvPr/>
        </p:nvSpPr>
        <p:spPr bwMode="auto">
          <a:xfrm>
            <a:off x="5673852" y="1280160"/>
            <a:ext cx="1179576" cy="868680"/>
          </a:xfrm>
          <a:prstGeom prst="rect">
            <a:avLst/>
          </a:prstGeom>
          <a:noFill/>
          <a:ln/>
        </p:spPr>
        <p:txBody>
          <a:bodyPr wrap="square" lIns="0" tIns="0" rIns="0" bIns="0" rtlCol="0" anchor="ctr"/>
          <a:lstStyle/>
          <a:p>
            <a:pPr marL="0" indent="0" algn="ctr">
              <a:buNone/>
              <a:defRPr/>
            </a:pPr>
            <a:r>
              <a:rPr lang="en-US" sz="1400" b="1">
                <a:solidFill>
                  <a:schemeClr val="bg1"/>
                </a:solidFill>
              </a:rPr>
              <a:t>Fully connected</a:t>
            </a:r>
            <a:endParaRPr lang="en-US" sz="1400"/>
          </a:p>
        </p:txBody>
      </p:sp>
      <p:sp>
        <p:nvSpPr>
          <p:cNvPr id="218866873" name="arrow-247"/>
          <p:cNvSpPr/>
          <p:nvPr/>
        </p:nvSpPr>
        <p:spPr bwMode="auto">
          <a:xfrm>
            <a:off x="6944868" y="1714500"/>
            <a:ext cx="329184" cy="0"/>
          </a:xfrm>
          <a:prstGeom prst="line">
            <a:avLst/>
          </a:prstGeom>
          <a:noFill/>
          <a:ln w="25400">
            <a:solidFill>
              <a:schemeClr val="accent5"/>
            </a:solidFill>
            <a:prstDash val="solid"/>
            <a:tailEnd type="triangle"/>
          </a:ln>
        </p:spPr>
      </p:sp>
      <p:sp>
        <p:nvSpPr>
          <p:cNvPr id="275726682" name="box-248"/>
          <p:cNvSpPr/>
          <p:nvPr/>
        </p:nvSpPr>
        <p:spPr bwMode="auto">
          <a:xfrm>
            <a:off x="7292340" y="1280160"/>
            <a:ext cx="1325880" cy="868680"/>
          </a:xfrm>
          <a:prstGeom prst="roundRect">
            <a:avLst>
              <a:gd name="adj" fmla="val 8421"/>
            </a:avLst>
          </a:prstGeom>
          <a:solidFill>
            <a:srgbClr val="0B8478"/>
          </a:solidFill>
          <a:ln w="12700">
            <a:solidFill>
              <a:srgbClr val="0B8478"/>
            </a:solidFill>
            <a:prstDash val="solid"/>
          </a:ln>
        </p:spPr>
      </p:sp>
      <p:sp>
        <p:nvSpPr>
          <p:cNvPr id="1121229746" name="text-249"/>
          <p:cNvSpPr txBox="1"/>
          <p:nvPr/>
        </p:nvSpPr>
        <p:spPr bwMode="auto">
          <a:xfrm>
            <a:off x="7365492" y="1280160"/>
            <a:ext cx="1179576" cy="868680"/>
          </a:xfrm>
          <a:prstGeom prst="rect">
            <a:avLst/>
          </a:prstGeom>
          <a:noFill/>
          <a:ln/>
        </p:spPr>
        <p:txBody>
          <a:bodyPr wrap="square" lIns="0" tIns="0" rIns="0" bIns="0" rtlCol="0" anchor="ctr"/>
          <a:lstStyle/>
          <a:p>
            <a:pPr marL="0" indent="0" algn="ctr">
              <a:buNone/>
              <a:defRPr/>
            </a:pPr>
            <a:r>
              <a:rPr lang="en-US" sz="1400" b="1">
                <a:solidFill>
                  <a:schemeClr val="bg1"/>
                </a:solidFill>
              </a:rPr>
              <a:t>Prediction</a:t>
            </a:r>
            <a:endParaRPr lang="en-US" sz="1400"/>
          </a:p>
        </p:txBody>
      </p:sp>
      <p:sp>
        <p:nvSpPr>
          <p:cNvPr id="344808748" name="text-250"/>
          <p:cNvSpPr txBox="1"/>
          <p:nvPr/>
        </p:nvSpPr>
        <p:spPr bwMode="auto">
          <a:xfrm>
            <a:off x="457200" y="2240280"/>
            <a:ext cx="8229600" cy="274320"/>
          </a:xfrm>
          <a:prstGeom prst="rect">
            <a:avLst/>
          </a:prstGeom>
          <a:noFill/>
          <a:ln/>
        </p:spPr>
        <p:txBody>
          <a:bodyPr wrap="square" lIns="0" tIns="0" rIns="0" bIns="0" rtlCol="0" anchor="t"/>
          <a:lstStyle/>
          <a:p>
            <a:pPr marL="0" indent="0" algn="ctr">
              <a:buNone/>
              <a:defRPr/>
            </a:pPr>
            <a:r>
              <a:rPr lang="en-US" sz="1400">
                <a:solidFill>
                  <a:schemeClr val="accent5"/>
                </a:solidFill>
              </a:rPr>
              <a:t>Repeated several times to build up features from edges to shapes to objects</a:t>
            </a:r>
            <a:endParaRPr lang="en-US" sz="1400"/>
          </a:p>
        </p:txBody>
      </p:sp>
      <p:sp>
        <p:nvSpPr>
          <p:cNvPr id="1702763956" name="card-251"/>
          <p:cNvSpPr/>
          <p:nvPr/>
        </p:nvSpPr>
        <p:spPr bwMode="auto">
          <a:xfrm>
            <a:off x="457200" y="2743200"/>
            <a:ext cx="2606040" cy="1554480"/>
          </a:xfrm>
          <a:prstGeom prst="roundRect">
            <a:avLst>
              <a:gd name="adj" fmla="val 5882"/>
            </a:avLst>
          </a:prstGeom>
          <a:solidFill>
            <a:schemeClr val="bg2"/>
          </a:solidFill>
          <a:ln w="12700">
            <a:solidFill>
              <a:schemeClr val="bg2"/>
            </a:solidFill>
            <a:prstDash val="solid"/>
          </a:ln>
        </p:spPr>
      </p:sp>
      <p:sp>
        <p:nvSpPr>
          <p:cNvPr id="1108269012" name="text-252"/>
          <p:cNvSpPr txBox="1"/>
          <p:nvPr/>
        </p:nvSpPr>
        <p:spPr bwMode="auto">
          <a:xfrm>
            <a:off x="685800" y="2926080"/>
            <a:ext cx="2194560" cy="320040"/>
          </a:xfrm>
          <a:prstGeom prst="rect">
            <a:avLst/>
          </a:prstGeom>
          <a:noFill/>
          <a:ln/>
        </p:spPr>
        <p:txBody>
          <a:bodyPr wrap="square" lIns="0" tIns="0" rIns="0" bIns="0" rtlCol="0" anchor="t"/>
          <a:lstStyle/>
          <a:p>
            <a:pPr marL="0" indent="0">
              <a:buNone/>
              <a:defRPr/>
            </a:pPr>
            <a:r>
              <a:rPr lang="en-US" sz="1700" b="1">
                <a:solidFill>
                  <a:schemeClr val="accent3"/>
                </a:solidFill>
              </a:rPr>
              <a:t>Convolution</a:t>
            </a:r>
            <a:endParaRPr lang="en-US" sz="1700"/>
          </a:p>
        </p:txBody>
      </p:sp>
      <p:sp>
        <p:nvSpPr>
          <p:cNvPr id="1512506616" name="text-253"/>
          <p:cNvSpPr txBox="1"/>
          <p:nvPr/>
        </p:nvSpPr>
        <p:spPr bwMode="auto">
          <a:xfrm>
            <a:off x="685800" y="3337560"/>
            <a:ext cx="2194560" cy="1097280"/>
          </a:xfrm>
          <a:prstGeom prst="rect">
            <a:avLst/>
          </a:prstGeom>
          <a:noFill/>
          <a:ln/>
        </p:spPr>
        <p:txBody>
          <a:bodyPr wrap="square" lIns="0" tIns="0" rIns="0" bIns="0" rtlCol="0" anchor="t"/>
          <a:lstStyle/>
          <a:p>
            <a:pPr marL="0" indent="0">
              <a:buNone/>
              <a:defRPr/>
            </a:pPr>
            <a:r>
              <a:rPr lang="en-US" sz="1400">
                <a:solidFill>
                  <a:schemeClr val="tx1"/>
                </a:solidFill>
              </a:rPr>
              <a:t>Slides small filters over the image to detect edges, textures and shapes.</a:t>
            </a:r>
            <a:endParaRPr lang="en-US" sz="1400"/>
          </a:p>
        </p:txBody>
      </p:sp>
      <p:sp>
        <p:nvSpPr>
          <p:cNvPr id="1865447758" name="card-254"/>
          <p:cNvSpPr/>
          <p:nvPr/>
        </p:nvSpPr>
        <p:spPr bwMode="auto">
          <a:xfrm>
            <a:off x="3268980" y="2743200"/>
            <a:ext cx="2606040" cy="1554480"/>
          </a:xfrm>
          <a:prstGeom prst="roundRect">
            <a:avLst>
              <a:gd name="adj" fmla="val 5882"/>
            </a:avLst>
          </a:prstGeom>
          <a:solidFill>
            <a:schemeClr val="bg2"/>
          </a:solidFill>
          <a:ln w="12700">
            <a:solidFill>
              <a:schemeClr val="bg2"/>
            </a:solidFill>
            <a:prstDash val="solid"/>
          </a:ln>
        </p:spPr>
      </p:sp>
      <p:sp>
        <p:nvSpPr>
          <p:cNvPr id="1114573436" name="text-255"/>
          <p:cNvSpPr txBox="1"/>
          <p:nvPr/>
        </p:nvSpPr>
        <p:spPr bwMode="auto">
          <a:xfrm>
            <a:off x="3497580" y="2926080"/>
            <a:ext cx="2194560" cy="320040"/>
          </a:xfrm>
          <a:prstGeom prst="rect">
            <a:avLst/>
          </a:prstGeom>
          <a:noFill/>
          <a:ln/>
        </p:spPr>
        <p:txBody>
          <a:bodyPr wrap="square" lIns="0" tIns="0" rIns="0" bIns="0" rtlCol="0" anchor="t"/>
          <a:lstStyle/>
          <a:p>
            <a:pPr marL="0" indent="0">
              <a:buNone/>
              <a:defRPr/>
            </a:pPr>
            <a:r>
              <a:rPr lang="en-US" sz="1700" b="1">
                <a:solidFill>
                  <a:schemeClr val="accent3"/>
                </a:solidFill>
              </a:rPr>
              <a:t>ReLU</a:t>
            </a:r>
            <a:endParaRPr lang="en-US" sz="1700"/>
          </a:p>
        </p:txBody>
      </p:sp>
      <p:sp>
        <p:nvSpPr>
          <p:cNvPr id="396073395" name="text-256"/>
          <p:cNvSpPr txBox="1"/>
          <p:nvPr/>
        </p:nvSpPr>
        <p:spPr bwMode="auto">
          <a:xfrm>
            <a:off x="3497580" y="3337560"/>
            <a:ext cx="2194560" cy="1097280"/>
          </a:xfrm>
          <a:prstGeom prst="rect">
            <a:avLst/>
          </a:prstGeom>
          <a:noFill/>
          <a:ln/>
        </p:spPr>
        <p:txBody>
          <a:bodyPr wrap="square" lIns="0" tIns="0" rIns="0" bIns="0" rtlCol="0" anchor="t"/>
          <a:lstStyle/>
          <a:p>
            <a:pPr marL="0" indent="0">
              <a:buNone/>
              <a:defRPr/>
            </a:pPr>
            <a:r>
              <a:rPr lang="en-US" sz="1400">
                <a:solidFill>
                  <a:schemeClr val="tx1"/>
                </a:solidFill>
              </a:rPr>
              <a:t>f(x) = max(0, x). Keeps positive signals and adds non-linearity.</a:t>
            </a:r>
            <a:endParaRPr lang="en-US" sz="1400"/>
          </a:p>
        </p:txBody>
      </p:sp>
      <p:sp>
        <p:nvSpPr>
          <p:cNvPr id="1679311312" name="card-257"/>
          <p:cNvSpPr/>
          <p:nvPr/>
        </p:nvSpPr>
        <p:spPr bwMode="auto">
          <a:xfrm>
            <a:off x="6080760" y="2743200"/>
            <a:ext cx="2606040" cy="1554480"/>
          </a:xfrm>
          <a:prstGeom prst="roundRect">
            <a:avLst>
              <a:gd name="adj" fmla="val 5882"/>
            </a:avLst>
          </a:prstGeom>
          <a:solidFill>
            <a:schemeClr val="bg2"/>
          </a:solidFill>
          <a:ln w="12700">
            <a:solidFill>
              <a:schemeClr val="bg2"/>
            </a:solidFill>
            <a:prstDash val="solid"/>
          </a:ln>
        </p:spPr>
      </p:sp>
      <p:sp>
        <p:nvSpPr>
          <p:cNvPr id="945699235" name="text-258"/>
          <p:cNvSpPr txBox="1"/>
          <p:nvPr/>
        </p:nvSpPr>
        <p:spPr bwMode="auto">
          <a:xfrm>
            <a:off x="6309360" y="2926080"/>
            <a:ext cx="2194560" cy="320040"/>
          </a:xfrm>
          <a:prstGeom prst="rect">
            <a:avLst/>
          </a:prstGeom>
          <a:noFill/>
          <a:ln/>
        </p:spPr>
        <p:txBody>
          <a:bodyPr wrap="square" lIns="0" tIns="0" rIns="0" bIns="0" rtlCol="0" anchor="t"/>
          <a:lstStyle/>
          <a:p>
            <a:pPr marL="0" indent="0">
              <a:buNone/>
              <a:defRPr/>
            </a:pPr>
            <a:r>
              <a:rPr lang="en-US" sz="1700" b="1">
                <a:solidFill>
                  <a:schemeClr val="accent3"/>
                </a:solidFill>
              </a:rPr>
              <a:t>Max pooling</a:t>
            </a:r>
            <a:endParaRPr lang="en-US" sz="1700"/>
          </a:p>
        </p:txBody>
      </p:sp>
      <p:sp>
        <p:nvSpPr>
          <p:cNvPr id="1150977453" name="text-259"/>
          <p:cNvSpPr txBox="1"/>
          <p:nvPr/>
        </p:nvSpPr>
        <p:spPr bwMode="auto">
          <a:xfrm>
            <a:off x="6309360" y="3337560"/>
            <a:ext cx="2194560" cy="1097280"/>
          </a:xfrm>
          <a:prstGeom prst="rect">
            <a:avLst/>
          </a:prstGeom>
          <a:noFill/>
          <a:ln/>
        </p:spPr>
        <p:txBody>
          <a:bodyPr wrap="square" lIns="0" tIns="0" rIns="0" bIns="0" rtlCol="0" anchor="t"/>
          <a:lstStyle/>
          <a:p>
            <a:pPr marL="0" indent="0">
              <a:buNone/>
              <a:defRPr/>
            </a:pPr>
            <a:r>
              <a:rPr lang="en-US" sz="1400">
                <a:solidFill>
                  <a:schemeClr val="tx1"/>
                </a:solidFill>
              </a:rPr>
              <a:t>Keeps the strongest value in each small window and shrinks the map.</a:t>
            </a:r>
            <a:endParaRPr lang="en-US" sz="1400"/>
          </a:p>
        </p:txBody>
      </p:sp>
      <p:sp>
        <p:nvSpPr>
          <p:cNvPr id="2071122138" name="Slide Number Placeholder 0"/>
          <p:cNvSpPr>
            <a:spLocks noGrp="1"/>
          </p:cNvSpPr>
          <p:nvPr>
            <p:ph type="sldNum" sz="quarter" idx="4294967295"/>
          </p:nvPr>
        </p:nvSpPr>
        <p:spPr bwMode="auto">
          <a:xfrm>
            <a:off x="8229600" y="4800600"/>
            <a:ext cx="457200" cy="228600"/>
          </a:xfrm>
          <a:prstGeom prst="rect">
            <a:avLst/>
          </a:prstGeom>
        </p:spPr>
        <p:txBody>
          <a:bodyPr/>
          <a:lstStyle>
            <a:lvl1pPr>
              <a:defRPr sz="1000">
                <a:solidFill>
                  <a:schemeClr val="accent5"/>
                </a:solidFill>
              </a:defRPr>
            </a:lvl1pPr>
          </a:lstStyle>
          <a:p>
            <a:pPr algn="r">
              <a:defRPr/>
            </a:pPr>
            <a:fld id="{F7021451-1387-4CA6-816F-3879F97B5CBC}" type="slidenum">
              <a:rPr lang="en-US" b="0"/>
              <a:t>13</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4">
    <p:spTree>
      <p:nvGrpSpPr>
        <p:cNvPr id="1" name=""/>
        <p:cNvGrpSpPr/>
        <p:nvPr/>
      </p:nvGrpSpPr>
      <p:grpSpPr bwMode="auto">
        <a:xfrm>
          <a:off x="0" y="0"/>
          <a:ext cx="0" cy="0"/>
          <a:chOff x="0" y="0"/>
          <a:chExt cx="0" cy="0"/>
        </a:xfrm>
      </p:grpSpPr>
      <p:sp>
        <p:nvSpPr>
          <p:cNvPr id="2000433540" name="Text 0"/>
          <p:cNvSpPr/>
          <p:nvPr>
            <p:ph type="title" idx="100" hasCustomPrompt="1"/>
          </p:nvPr>
        </p:nvSpPr>
        <p:spPr bwMode="auto">
          <a:xfrm>
            <a:off x="457200" y="274320"/>
            <a:ext cx="8229600" cy="731520"/>
          </a:xfrm>
          <a:prstGeom prst="rect">
            <a:avLst/>
          </a:prstGeom>
          <a:noFill/>
          <a:ln/>
        </p:spPr>
        <p:txBody>
          <a:bodyPr wrap="square" lIns="0" tIns="0" rIns="0" bIns="0" rtlCol="0" anchor="ctr"/>
          <a:lstStyle/>
          <a:p>
            <a:pPr marL="0" indent="0" algn="l">
              <a:buNone/>
              <a:defRPr/>
            </a:pPr>
            <a:r>
              <a:rPr lang="en-US" sz="3000" b="1">
                <a:solidFill>
                  <a:schemeClr val="tx2"/>
                </a:solidFill>
              </a:rPr>
              <a:t>Convolution by example</a:t>
            </a:r>
            <a:endParaRPr lang="en-US" sz="3000"/>
          </a:p>
        </p:txBody>
      </p:sp>
      <p:sp>
        <p:nvSpPr>
          <p:cNvPr id="991574460" name="cell-260"/>
          <p:cNvSpPr/>
          <p:nvPr/>
        </p:nvSpPr>
        <p:spPr bwMode="auto">
          <a:xfrm>
            <a:off x="548640" y="1463040"/>
            <a:ext cx="411480" cy="411480"/>
          </a:xfrm>
          <a:prstGeom prst="rect">
            <a:avLst/>
          </a:prstGeom>
          <a:solidFill>
            <a:srgbClr val="FDE7B0"/>
          </a:solidFill>
          <a:ln w="19050">
            <a:solidFill>
              <a:srgbClr val="FFFFFF"/>
            </a:solidFill>
            <a:prstDash val="solid"/>
          </a:ln>
        </p:spPr>
      </p:sp>
      <p:sp>
        <p:nvSpPr>
          <p:cNvPr id="1559019383" name="text-261"/>
          <p:cNvSpPr txBox="1"/>
          <p:nvPr/>
        </p:nvSpPr>
        <p:spPr bwMode="auto">
          <a:xfrm>
            <a:off x="548640" y="1463040"/>
            <a:ext cx="411480" cy="411480"/>
          </a:xfrm>
          <a:prstGeom prst="rect">
            <a:avLst/>
          </a:prstGeom>
          <a:noFill/>
          <a:ln/>
        </p:spPr>
        <p:txBody>
          <a:bodyPr wrap="square" lIns="0" tIns="0" rIns="0" bIns="0" rtlCol="0" anchor="ctr"/>
          <a:lstStyle/>
          <a:p>
            <a:pPr marL="0" indent="0" algn="ctr">
              <a:buNone/>
              <a:defRPr/>
            </a:pPr>
            <a:r>
              <a:rPr lang="en-US" sz="1400" b="1">
                <a:solidFill>
                  <a:schemeClr val="tx1"/>
                </a:solidFill>
              </a:rPr>
              <a:t>1</a:t>
            </a:r>
            <a:endParaRPr lang="en-US" sz="1400"/>
          </a:p>
        </p:txBody>
      </p:sp>
      <p:sp>
        <p:nvSpPr>
          <p:cNvPr id="2103232377" name="cell-262"/>
          <p:cNvSpPr/>
          <p:nvPr/>
        </p:nvSpPr>
        <p:spPr bwMode="auto">
          <a:xfrm>
            <a:off x="960120" y="1463040"/>
            <a:ext cx="411480" cy="411480"/>
          </a:xfrm>
          <a:prstGeom prst="rect">
            <a:avLst/>
          </a:prstGeom>
          <a:solidFill>
            <a:srgbClr val="FDE7B0"/>
          </a:solidFill>
          <a:ln w="19050">
            <a:solidFill>
              <a:srgbClr val="FFFFFF"/>
            </a:solidFill>
            <a:prstDash val="solid"/>
          </a:ln>
        </p:spPr>
      </p:sp>
      <p:sp>
        <p:nvSpPr>
          <p:cNvPr id="928403568" name="text-263"/>
          <p:cNvSpPr txBox="1"/>
          <p:nvPr/>
        </p:nvSpPr>
        <p:spPr bwMode="auto">
          <a:xfrm>
            <a:off x="960120" y="1463040"/>
            <a:ext cx="411480" cy="411480"/>
          </a:xfrm>
          <a:prstGeom prst="rect">
            <a:avLst/>
          </a:prstGeom>
          <a:noFill/>
          <a:ln/>
        </p:spPr>
        <p:txBody>
          <a:bodyPr wrap="square" lIns="0" tIns="0" rIns="0" bIns="0" rtlCol="0" anchor="ctr"/>
          <a:lstStyle/>
          <a:p>
            <a:pPr marL="0" indent="0" algn="ctr">
              <a:buNone/>
              <a:defRPr/>
            </a:pPr>
            <a:r>
              <a:rPr lang="en-US" sz="1400" b="1">
                <a:solidFill>
                  <a:schemeClr val="tx1"/>
                </a:solidFill>
              </a:rPr>
              <a:t>1</a:t>
            </a:r>
            <a:endParaRPr lang="en-US" sz="1400"/>
          </a:p>
        </p:txBody>
      </p:sp>
      <p:sp>
        <p:nvSpPr>
          <p:cNvPr id="644509579" name="cell-264"/>
          <p:cNvSpPr/>
          <p:nvPr/>
        </p:nvSpPr>
        <p:spPr bwMode="auto">
          <a:xfrm>
            <a:off x="1371600" y="1463040"/>
            <a:ext cx="411480" cy="411480"/>
          </a:xfrm>
          <a:prstGeom prst="rect">
            <a:avLst/>
          </a:prstGeom>
          <a:solidFill>
            <a:srgbClr val="FDE7B0"/>
          </a:solidFill>
          <a:ln w="19050">
            <a:solidFill>
              <a:srgbClr val="FFFFFF"/>
            </a:solidFill>
            <a:prstDash val="solid"/>
          </a:ln>
        </p:spPr>
      </p:sp>
      <p:sp>
        <p:nvSpPr>
          <p:cNvPr id="151311190" name="text-265"/>
          <p:cNvSpPr txBox="1"/>
          <p:nvPr/>
        </p:nvSpPr>
        <p:spPr bwMode="auto">
          <a:xfrm>
            <a:off x="1371600" y="1463040"/>
            <a:ext cx="411480" cy="411480"/>
          </a:xfrm>
          <a:prstGeom prst="rect">
            <a:avLst/>
          </a:prstGeom>
          <a:noFill/>
          <a:ln/>
        </p:spPr>
        <p:txBody>
          <a:bodyPr wrap="square" lIns="0" tIns="0" rIns="0" bIns="0" rtlCol="0" anchor="ctr"/>
          <a:lstStyle/>
          <a:p>
            <a:pPr marL="0" indent="0" algn="ctr">
              <a:buNone/>
              <a:defRPr/>
            </a:pPr>
            <a:r>
              <a:rPr lang="en-US" sz="1400" b="1">
                <a:solidFill>
                  <a:schemeClr val="tx1"/>
                </a:solidFill>
              </a:rPr>
              <a:t>1</a:t>
            </a:r>
            <a:endParaRPr lang="en-US" sz="1400"/>
          </a:p>
        </p:txBody>
      </p:sp>
      <p:sp>
        <p:nvSpPr>
          <p:cNvPr id="1269191856" name="cell-266"/>
          <p:cNvSpPr/>
          <p:nvPr/>
        </p:nvSpPr>
        <p:spPr bwMode="auto">
          <a:xfrm>
            <a:off x="1783080" y="1463040"/>
            <a:ext cx="411480" cy="411480"/>
          </a:xfrm>
          <a:prstGeom prst="rect">
            <a:avLst/>
          </a:prstGeom>
          <a:solidFill>
            <a:srgbClr val="DCE7FB"/>
          </a:solidFill>
          <a:ln w="19050">
            <a:solidFill>
              <a:srgbClr val="FFFFFF"/>
            </a:solidFill>
            <a:prstDash val="solid"/>
          </a:ln>
        </p:spPr>
      </p:sp>
      <p:sp>
        <p:nvSpPr>
          <p:cNvPr id="348271736" name="text-267"/>
          <p:cNvSpPr txBox="1"/>
          <p:nvPr/>
        </p:nvSpPr>
        <p:spPr bwMode="auto">
          <a:xfrm>
            <a:off x="1783080" y="1463040"/>
            <a:ext cx="411480" cy="411480"/>
          </a:xfrm>
          <a:prstGeom prst="rect">
            <a:avLst/>
          </a:prstGeom>
          <a:noFill/>
          <a:ln/>
        </p:spPr>
        <p:txBody>
          <a:bodyPr wrap="square" lIns="0" tIns="0" rIns="0" bIns="0" rtlCol="0" anchor="ctr"/>
          <a:lstStyle/>
          <a:p>
            <a:pPr marL="0" indent="0" algn="ctr">
              <a:buNone/>
              <a:defRPr/>
            </a:pPr>
            <a:r>
              <a:rPr lang="en-US" sz="1400" b="1">
                <a:solidFill>
                  <a:schemeClr val="tx1"/>
                </a:solidFill>
              </a:rPr>
              <a:t>0</a:t>
            </a:r>
            <a:endParaRPr lang="en-US" sz="1400"/>
          </a:p>
        </p:txBody>
      </p:sp>
      <p:sp>
        <p:nvSpPr>
          <p:cNvPr id="614605357" name="cell-268"/>
          <p:cNvSpPr/>
          <p:nvPr/>
        </p:nvSpPr>
        <p:spPr bwMode="auto">
          <a:xfrm>
            <a:off x="2194560" y="1463040"/>
            <a:ext cx="411480" cy="411480"/>
          </a:xfrm>
          <a:prstGeom prst="rect">
            <a:avLst/>
          </a:prstGeom>
          <a:solidFill>
            <a:srgbClr val="DCE7FB"/>
          </a:solidFill>
          <a:ln w="19050">
            <a:solidFill>
              <a:srgbClr val="FFFFFF"/>
            </a:solidFill>
            <a:prstDash val="solid"/>
          </a:ln>
        </p:spPr>
      </p:sp>
      <p:sp>
        <p:nvSpPr>
          <p:cNvPr id="1909694118" name="text-269"/>
          <p:cNvSpPr txBox="1"/>
          <p:nvPr/>
        </p:nvSpPr>
        <p:spPr bwMode="auto">
          <a:xfrm>
            <a:off x="2194560" y="1463040"/>
            <a:ext cx="411480" cy="411480"/>
          </a:xfrm>
          <a:prstGeom prst="rect">
            <a:avLst/>
          </a:prstGeom>
          <a:noFill/>
          <a:ln/>
        </p:spPr>
        <p:txBody>
          <a:bodyPr wrap="square" lIns="0" tIns="0" rIns="0" bIns="0" rtlCol="0" anchor="ctr"/>
          <a:lstStyle/>
          <a:p>
            <a:pPr marL="0" indent="0" algn="ctr">
              <a:buNone/>
              <a:defRPr/>
            </a:pPr>
            <a:r>
              <a:rPr lang="en-US" sz="1400" b="1">
                <a:solidFill>
                  <a:schemeClr val="tx1"/>
                </a:solidFill>
              </a:rPr>
              <a:t>0</a:t>
            </a:r>
            <a:endParaRPr lang="en-US" sz="1400"/>
          </a:p>
        </p:txBody>
      </p:sp>
      <p:sp>
        <p:nvSpPr>
          <p:cNvPr id="1722594071" name="cell-270"/>
          <p:cNvSpPr/>
          <p:nvPr/>
        </p:nvSpPr>
        <p:spPr bwMode="auto">
          <a:xfrm>
            <a:off x="548640" y="1874520"/>
            <a:ext cx="411480" cy="411480"/>
          </a:xfrm>
          <a:prstGeom prst="rect">
            <a:avLst/>
          </a:prstGeom>
          <a:solidFill>
            <a:srgbClr val="FDE7B0"/>
          </a:solidFill>
          <a:ln w="19050">
            <a:solidFill>
              <a:srgbClr val="FFFFFF"/>
            </a:solidFill>
            <a:prstDash val="solid"/>
          </a:ln>
        </p:spPr>
      </p:sp>
      <p:sp>
        <p:nvSpPr>
          <p:cNvPr id="1229019243" name="text-271"/>
          <p:cNvSpPr txBox="1"/>
          <p:nvPr/>
        </p:nvSpPr>
        <p:spPr bwMode="auto">
          <a:xfrm>
            <a:off x="548640" y="1874520"/>
            <a:ext cx="411480" cy="411480"/>
          </a:xfrm>
          <a:prstGeom prst="rect">
            <a:avLst/>
          </a:prstGeom>
          <a:noFill/>
          <a:ln/>
        </p:spPr>
        <p:txBody>
          <a:bodyPr wrap="square" lIns="0" tIns="0" rIns="0" bIns="0" rtlCol="0" anchor="ctr"/>
          <a:lstStyle/>
          <a:p>
            <a:pPr marL="0" indent="0" algn="ctr">
              <a:buNone/>
              <a:defRPr/>
            </a:pPr>
            <a:r>
              <a:rPr lang="en-US" sz="1400" b="1">
                <a:solidFill>
                  <a:schemeClr val="tx1"/>
                </a:solidFill>
              </a:rPr>
              <a:t>0</a:t>
            </a:r>
            <a:endParaRPr lang="en-US" sz="1400"/>
          </a:p>
        </p:txBody>
      </p:sp>
      <p:sp>
        <p:nvSpPr>
          <p:cNvPr id="635741241" name="cell-272"/>
          <p:cNvSpPr/>
          <p:nvPr/>
        </p:nvSpPr>
        <p:spPr bwMode="auto">
          <a:xfrm>
            <a:off x="960120" y="1874520"/>
            <a:ext cx="411480" cy="411480"/>
          </a:xfrm>
          <a:prstGeom prst="rect">
            <a:avLst/>
          </a:prstGeom>
          <a:solidFill>
            <a:srgbClr val="FDE7B0"/>
          </a:solidFill>
          <a:ln w="19050">
            <a:solidFill>
              <a:srgbClr val="FFFFFF"/>
            </a:solidFill>
            <a:prstDash val="solid"/>
          </a:ln>
        </p:spPr>
      </p:sp>
      <p:sp>
        <p:nvSpPr>
          <p:cNvPr id="832736044" name="text-273"/>
          <p:cNvSpPr txBox="1"/>
          <p:nvPr/>
        </p:nvSpPr>
        <p:spPr bwMode="auto">
          <a:xfrm>
            <a:off x="960120" y="1874520"/>
            <a:ext cx="411480" cy="411480"/>
          </a:xfrm>
          <a:prstGeom prst="rect">
            <a:avLst/>
          </a:prstGeom>
          <a:noFill/>
          <a:ln/>
        </p:spPr>
        <p:txBody>
          <a:bodyPr wrap="square" lIns="0" tIns="0" rIns="0" bIns="0" rtlCol="0" anchor="ctr"/>
          <a:lstStyle/>
          <a:p>
            <a:pPr marL="0" indent="0" algn="ctr">
              <a:buNone/>
              <a:defRPr/>
            </a:pPr>
            <a:r>
              <a:rPr lang="en-US" sz="1400" b="1">
                <a:solidFill>
                  <a:schemeClr val="tx1"/>
                </a:solidFill>
              </a:rPr>
              <a:t>1</a:t>
            </a:r>
            <a:endParaRPr lang="en-US" sz="1400"/>
          </a:p>
        </p:txBody>
      </p:sp>
      <p:sp>
        <p:nvSpPr>
          <p:cNvPr id="955662813" name="cell-274"/>
          <p:cNvSpPr/>
          <p:nvPr/>
        </p:nvSpPr>
        <p:spPr bwMode="auto">
          <a:xfrm>
            <a:off x="1371600" y="1874520"/>
            <a:ext cx="411480" cy="411480"/>
          </a:xfrm>
          <a:prstGeom prst="rect">
            <a:avLst/>
          </a:prstGeom>
          <a:solidFill>
            <a:srgbClr val="FDE7B0"/>
          </a:solidFill>
          <a:ln w="19050">
            <a:solidFill>
              <a:srgbClr val="FFFFFF"/>
            </a:solidFill>
            <a:prstDash val="solid"/>
          </a:ln>
        </p:spPr>
      </p:sp>
      <p:sp>
        <p:nvSpPr>
          <p:cNvPr id="2015476633" name="text-275"/>
          <p:cNvSpPr txBox="1"/>
          <p:nvPr/>
        </p:nvSpPr>
        <p:spPr bwMode="auto">
          <a:xfrm>
            <a:off x="1371600" y="1874520"/>
            <a:ext cx="411480" cy="411480"/>
          </a:xfrm>
          <a:prstGeom prst="rect">
            <a:avLst/>
          </a:prstGeom>
          <a:noFill/>
          <a:ln/>
        </p:spPr>
        <p:txBody>
          <a:bodyPr wrap="square" lIns="0" tIns="0" rIns="0" bIns="0" rtlCol="0" anchor="ctr"/>
          <a:lstStyle/>
          <a:p>
            <a:pPr marL="0" indent="0" algn="ctr">
              <a:buNone/>
              <a:defRPr/>
            </a:pPr>
            <a:r>
              <a:rPr lang="en-US" sz="1400" b="1">
                <a:solidFill>
                  <a:schemeClr val="tx1"/>
                </a:solidFill>
              </a:rPr>
              <a:t>1</a:t>
            </a:r>
            <a:endParaRPr lang="en-US" sz="1400"/>
          </a:p>
        </p:txBody>
      </p:sp>
      <p:sp>
        <p:nvSpPr>
          <p:cNvPr id="615589898" name="cell-276"/>
          <p:cNvSpPr/>
          <p:nvPr/>
        </p:nvSpPr>
        <p:spPr bwMode="auto">
          <a:xfrm>
            <a:off x="1783080" y="1874520"/>
            <a:ext cx="411480" cy="411480"/>
          </a:xfrm>
          <a:prstGeom prst="rect">
            <a:avLst/>
          </a:prstGeom>
          <a:solidFill>
            <a:srgbClr val="DCE7FB"/>
          </a:solidFill>
          <a:ln w="19050">
            <a:solidFill>
              <a:srgbClr val="FFFFFF"/>
            </a:solidFill>
            <a:prstDash val="solid"/>
          </a:ln>
        </p:spPr>
      </p:sp>
      <p:sp>
        <p:nvSpPr>
          <p:cNvPr id="1594326066" name="text-277"/>
          <p:cNvSpPr txBox="1"/>
          <p:nvPr/>
        </p:nvSpPr>
        <p:spPr bwMode="auto">
          <a:xfrm>
            <a:off x="1783080" y="1874520"/>
            <a:ext cx="411480" cy="411480"/>
          </a:xfrm>
          <a:prstGeom prst="rect">
            <a:avLst/>
          </a:prstGeom>
          <a:noFill/>
          <a:ln/>
        </p:spPr>
        <p:txBody>
          <a:bodyPr wrap="square" lIns="0" tIns="0" rIns="0" bIns="0" rtlCol="0" anchor="ctr"/>
          <a:lstStyle/>
          <a:p>
            <a:pPr marL="0" indent="0" algn="ctr">
              <a:buNone/>
              <a:defRPr/>
            </a:pPr>
            <a:r>
              <a:rPr lang="en-US" sz="1400" b="1">
                <a:solidFill>
                  <a:schemeClr val="tx1"/>
                </a:solidFill>
              </a:rPr>
              <a:t>1</a:t>
            </a:r>
            <a:endParaRPr lang="en-US" sz="1400"/>
          </a:p>
        </p:txBody>
      </p:sp>
      <p:sp>
        <p:nvSpPr>
          <p:cNvPr id="27602203" name="cell-278"/>
          <p:cNvSpPr/>
          <p:nvPr/>
        </p:nvSpPr>
        <p:spPr bwMode="auto">
          <a:xfrm>
            <a:off x="2194560" y="1874520"/>
            <a:ext cx="411480" cy="411480"/>
          </a:xfrm>
          <a:prstGeom prst="rect">
            <a:avLst/>
          </a:prstGeom>
          <a:solidFill>
            <a:srgbClr val="DCE7FB"/>
          </a:solidFill>
          <a:ln w="19050">
            <a:solidFill>
              <a:srgbClr val="FFFFFF"/>
            </a:solidFill>
            <a:prstDash val="solid"/>
          </a:ln>
        </p:spPr>
      </p:sp>
      <p:sp>
        <p:nvSpPr>
          <p:cNvPr id="98482753" name="text-279"/>
          <p:cNvSpPr txBox="1"/>
          <p:nvPr/>
        </p:nvSpPr>
        <p:spPr bwMode="auto">
          <a:xfrm>
            <a:off x="2194560" y="1874520"/>
            <a:ext cx="411480" cy="411480"/>
          </a:xfrm>
          <a:prstGeom prst="rect">
            <a:avLst/>
          </a:prstGeom>
          <a:noFill/>
          <a:ln/>
        </p:spPr>
        <p:txBody>
          <a:bodyPr wrap="square" lIns="0" tIns="0" rIns="0" bIns="0" rtlCol="0" anchor="ctr"/>
          <a:lstStyle/>
          <a:p>
            <a:pPr marL="0" indent="0" algn="ctr">
              <a:buNone/>
              <a:defRPr/>
            </a:pPr>
            <a:r>
              <a:rPr lang="en-US" sz="1400" b="1">
                <a:solidFill>
                  <a:schemeClr val="tx1"/>
                </a:solidFill>
              </a:rPr>
              <a:t>0</a:t>
            </a:r>
            <a:endParaRPr lang="en-US" sz="1400"/>
          </a:p>
        </p:txBody>
      </p:sp>
      <p:sp>
        <p:nvSpPr>
          <p:cNvPr id="1089038583" name="cell-280"/>
          <p:cNvSpPr/>
          <p:nvPr/>
        </p:nvSpPr>
        <p:spPr bwMode="auto">
          <a:xfrm>
            <a:off x="548640" y="2286000"/>
            <a:ext cx="411480" cy="411480"/>
          </a:xfrm>
          <a:prstGeom prst="rect">
            <a:avLst/>
          </a:prstGeom>
          <a:solidFill>
            <a:srgbClr val="FDE7B0"/>
          </a:solidFill>
          <a:ln w="19050">
            <a:solidFill>
              <a:srgbClr val="FFFFFF"/>
            </a:solidFill>
            <a:prstDash val="solid"/>
          </a:ln>
        </p:spPr>
      </p:sp>
      <p:sp>
        <p:nvSpPr>
          <p:cNvPr id="1689355927" name="text-281"/>
          <p:cNvSpPr txBox="1"/>
          <p:nvPr/>
        </p:nvSpPr>
        <p:spPr bwMode="auto">
          <a:xfrm>
            <a:off x="548640" y="2286000"/>
            <a:ext cx="411480" cy="411480"/>
          </a:xfrm>
          <a:prstGeom prst="rect">
            <a:avLst/>
          </a:prstGeom>
          <a:noFill/>
          <a:ln/>
        </p:spPr>
        <p:txBody>
          <a:bodyPr wrap="square" lIns="0" tIns="0" rIns="0" bIns="0" rtlCol="0" anchor="ctr"/>
          <a:lstStyle/>
          <a:p>
            <a:pPr marL="0" indent="0" algn="ctr">
              <a:buNone/>
              <a:defRPr/>
            </a:pPr>
            <a:r>
              <a:rPr lang="en-US" sz="1400" b="1">
                <a:solidFill>
                  <a:schemeClr val="tx1"/>
                </a:solidFill>
              </a:rPr>
              <a:t>0</a:t>
            </a:r>
            <a:endParaRPr lang="en-US" sz="1400"/>
          </a:p>
        </p:txBody>
      </p:sp>
      <p:sp>
        <p:nvSpPr>
          <p:cNvPr id="351503719" name="cell-282"/>
          <p:cNvSpPr/>
          <p:nvPr/>
        </p:nvSpPr>
        <p:spPr bwMode="auto">
          <a:xfrm>
            <a:off x="960120" y="2286000"/>
            <a:ext cx="411480" cy="411480"/>
          </a:xfrm>
          <a:prstGeom prst="rect">
            <a:avLst/>
          </a:prstGeom>
          <a:solidFill>
            <a:srgbClr val="FDE7B0"/>
          </a:solidFill>
          <a:ln w="19050">
            <a:solidFill>
              <a:srgbClr val="FFFFFF"/>
            </a:solidFill>
            <a:prstDash val="solid"/>
          </a:ln>
        </p:spPr>
      </p:sp>
      <p:sp>
        <p:nvSpPr>
          <p:cNvPr id="1132139400" name="text-283"/>
          <p:cNvSpPr txBox="1"/>
          <p:nvPr/>
        </p:nvSpPr>
        <p:spPr bwMode="auto">
          <a:xfrm>
            <a:off x="960120" y="2286000"/>
            <a:ext cx="411480" cy="411480"/>
          </a:xfrm>
          <a:prstGeom prst="rect">
            <a:avLst/>
          </a:prstGeom>
          <a:noFill/>
          <a:ln/>
        </p:spPr>
        <p:txBody>
          <a:bodyPr wrap="square" lIns="0" tIns="0" rIns="0" bIns="0" rtlCol="0" anchor="ctr"/>
          <a:lstStyle/>
          <a:p>
            <a:pPr marL="0" indent="0" algn="ctr">
              <a:buNone/>
              <a:defRPr/>
            </a:pPr>
            <a:r>
              <a:rPr lang="en-US" sz="1400" b="1">
                <a:solidFill>
                  <a:schemeClr val="tx1"/>
                </a:solidFill>
              </a:rPr>
              <a:t>0</a:t>
            </a:r>
            <a:endParaRPr lang="en-US" sz="1400"/>
          </a:p>
        </p:txBody>
      </p:sp>
      <p:sp>
        <p:nvSpPr>
          <p:cNvPr id="946305514" name="cell-284"/>
          <p:cNvSpPr/>
          <p:nvPr/>
        </p:nvSpPr>
        <p:spPr bwMode="auto">
          <a:xfrm>
            <a:off x="1371600" y="2286000"/>
            <a:ext cx="411480" cy="411480"/>
          </a:xfrm>
          <a:prstGeom prst="rect">
            <a:avLst/>
          </a:prstGeom>
          <a:solidFill>
            <a:srgbClr val="FDE7B0"/>
          </a:solidFill>
          <a:ln w="19050">
            <a:solidFill>
              <a:srgbClr val="FFFFFF"/>
            </a:solidFill>
            <a:prstDash val="solid"/>
          </a:ln>
        </p:spPr>
      </p:sp>
      <p:sp>
        <p:nvSpPr>
          <p:cNvPr id="223048082" name="text-285"/>
          <p:cNvSpPr txBox="1"/>
          <p:nvPr/>
        </p:nvSpPr>
        <p:spPr bwMode="auto">
          <a:xfrm>
            <a:off x="1371600" y="2286000"/>
            <a:ext cx="411480" cy="411480"/>
          </a:xfrm>
          <a:prstGeom prst="rect">
            <a:avLst/>
          </a:prstGeom>
          <a:noFill/>
          <a:ln/>
        </p:spPr>
        <p:txBody>
          <a:bodyPr wrap="square" lIns="0" tIns="0" rIns="0" bIns="0" rtlCol="0" anchor="ctr"/>
          <a:lstStyle/>
          <a:p>
            <a:pPr marL="0" indent="0" algn="ctr">
              <a:buNone/>
              <a:defRPr/>
            </a:pPr>
            <a:r>
              <a:rPr lang="en-US" sz="1400" b="1">
                <a:solidFill>
                  <a:schemeClr val="tx1"/>
                </a:solidFill>
              </a:rPr>
              <a:t>1</a:t>
            </a:r>
            <a:endParaRPr lang="en-US" sz="1400"/>
          </a:p>
        </p:txBody>
      </p:sp>
      <p:sp>
        <p:nvSpPr>
          <p:cNvPr id="2020792518" name="cell-286"/>
          <p:cNvSpPr/>
          <p:nvPr/>
        </p:nvSpPr>
        <p:spPr bwMode="auto">
          <a:xfrm>
            <a:off x="1783080" y="2286000"/>
            <a:ext cx="411480" cy="411480"/>
          </a:xfrm>
          <a:prstGeom prst="rect">
            <a:avLst/>
          </a:prstGeom>
          <a:solidFill>
            <a:srgbClr val="DCE7FB"/>
          </a:solidFill>
          <a:ln w="19050">
            <a:solidFill>
              <a:srgbClr val="FFFFFF"/>
            </a:solidFill>
            <a:prstDash val="solid"/>
          </a:ln>
        </p:spPr>
      </p:sp>
      <p:sp>
        <p:nvSpPr>
          <p:cNvPr id="1825298564" name="text-287"/>
          <p:cNvSpPr txBox="1"/>
          <p:nvPr/>
        </p:nvSpPr>
        <p:spPr bwMode="auto">
          <a:xfrm>
            <a:off x="1783080" y="2286000"/>
            <a:ext cx="411480" cy="411480"/>
          </a:xfrm>
          <a:prstGeom prst="rect">
            <a:avLst/>
          </a:prstGeom>
          <a:noFill/>
          <a:ln/>
        </p:spPr>
        <p:txBody>
          <a:bodyPr wrap="square" lIns="0" tIns="0" rIns="0" bIns="0" rtlCol="0" anchor="ctr"/>
          <a:lstStyle/>
          <a:p>
            <a:pPr marL="0" indent="0" algn="ctr">
              <a:buNone/>
              <a:defRPr/>
            </a:pPr>
            <a:r>
              <a:rPr lang="en-US" sz="1400" b="1">
                <a:solidFill>
                  <a:schemeClr val="tx1"/>
                </a:solidFill>
              </a:rPr>
              <a:t>1</a:t>
            </a:r>
            <a:endParaRPr lang="en-US" sz="1400"/>
          </a:p>
        </p:txBody>
      </p:sp>
      <p:sp>
        <p:nvSpPr>
          <p:cNvPr id="1993394987" name="cell-288"/>
          <p:cNvSpPr/>
          <p:nvPr/>
        </p:nvSpPr>
        <p:spPr bwMode="auto">
          <a:xfrm>
            <a:off x="2194560" y="2286000"/>
            <a:ext cx="411480" cy="411480"/>
          </a:xfrm>
          <a:prstGeom prst="rect">
            <a:avLst/>
          </a:prstGeom>
          <a:solidFill>
            <a:srgbClr val="DCE7FB"/>
          </a:solidFill>
          <a:ln w="19050">
            <a:solidFill>
              <a:srgbClr val="FFFFFF"/>
            </a:solidFill>
            <a:prstDash val="solid"/>
          </a:ln>
        </p:spPr>
      </p:sp>
      <p:sp>
        <p:nvSpPr>
          <p:cNvPr id="343816440" name="text-289"/>
          <p:cNvSpPr txBox="1"/>
          <p:nvPr/>
        </p:nvSpPr>
        <p:spPr bwMode="auto">
          <a:xfrm>
            <a:off x="2194560" y="2286000"/>
            <a:ext cx="411480" cy="411480"/>
          </a:xfrm>
          <a:prstGeom prst="rect">
            <a:avLst/>
          </a:prstGeom>
          <a:noFill/>
          <a:ln/>
        </p:spPr>
        <p:txBody>
          <a:bodyPr wrap="square" lIns="0" tIns="0" rIns="0" bIns="0" rtlCol="0" anchor="ctr"/>
          <a:lstStyle/>
          <a:p>
            <a:pPr marL="0" indent="0" algn="ctr">
              <a:buNone/>
              <a:defRPr/>
            </a:pPr>
            <a:r>
              <a:rPr lang="en-US" sz="1400" b="1">
                <a:solidFill>
                  <a:schemeClr val="tx1"/>
                </a:solidFill>
              </a:rPr>
              <a:t>1</a:t>
            </a:r>
            <a:endParaRPr lang="en-US" sz="1400"/>
          </a:p>
        </p:txBody>
      </p:sp>
      <p:sp>
        <p:nvSpPr>
          <p:cNvPr id="877110097" name="cell-290"/>
          <p:cNvSpPr/>
          <p:nvPr/>
        </p:nvSpPr>
        <p:spPr bwMode="auto">
          <a:xfrm>
            <a:off x="548640" y="2697480"/>
            <a:ext cx="411480" cy="411480"/>
          </a:xfrm>
          <a:prstGeom prst="rect">
            <a:avLst/>
          </a:prstGeom>
          <a:solidFill>
            <a:srgbClr val="DCE7FB"/>
          </a:solidFill>
          <a:ln w="19050">
            <a:solidFill>
              <a:srgbClr val="FFFFFF"/>
            </a:solidFill>
            <a:prstDash val="solid"/>
          </a:ln>
        </p:spPr>
      </p:sp>
      <p:sp>
        <p:nvSpPr>
          <p:cNvPr id="375368768" name="text-291"/>
          <p:cNvSpPr txBox="1"/>
          <p:nvPr/>
        </p:nvSpPr>
        <p:spPr bwMode="auto">
          <a:xfrm>
            <a:off x="548640" y="2697480"/>
            <a:ext cx="411480" cy="411480"/>
          </a:xfrm>
          <a:prstGeom prst="rect">
            <a:avLst/>
          </a:prstGeom>
          <a:noFill/>
          <a:ln/>
        </p:spPr>
        <p:txBody>
          <a:bodyPr wrap="square" lIns="0" tIns="0" rIns="0" bIns="0" rtlCol="0" anchor="ctr"/>
          <a:lstStyle/>
          <a:p>
            <a:pPr marL="0" indent="0" algn="ctr">
              <a:buNone/>
              <a:defRPr/>
            </a:pPr>
            <a:r>
              <a:rPr lang="en-US" sz="1400" b="1">
                <a:solidFill>
                  <a:schemeClr val="tx1"/>
                </a:solidFill>
              </a:rPr>
              <a:t>0</a:t>
            </a:r>
            <a:endParaRPr lang="en-US" sz="1400"/>
          </a:p>
        </p:txBody>
      </p:sp>
      <p:sp>
        <p:nvSpPr>
          <p:cNvPr id="1151194509" name="cell-292"/>
          <p:cNvSpPr/>
          <p:nvPr/>
        </p:nvSpPr>
        <p:spPr bwMode="auto">
          <a:xfrm>
            <a:off x="960120" y="2697480"/>
            <a:ext cx="411480" cy="411480"/>
          </a:xfrm>
          <a:prstGeom prst="rect">
            <a:avLst/>
          </a:prstGeom>
          <a:solidFill>
            <a:srgbClr val="DCE7FB"/>
          </a:solidFill>
          <a:ln w="19050">
            <a:solidFill>
              <a:srgbClr val="FFFFFF"/>
            </a:solidFill>
            <a:prstDash val="solid"/>
          </a:ln>
        </p:spPr>
      </p:sp>
      <p:sp>
        <p:nvSpPr>
          <p:cNvPr id="761767857" name="text-293"/>
          <p:cNvSpPr txBox="1"/>
          <p:nvPr/>
        </p:nvSpPr>
        <p:spPr bwMode="auto">
          <a:xfrm>
            <a:off x="960120" y="2697480"/>
            <a:ext cx="411480" cy="411480"/>
          </a:xfrm>
          <a:prstGeom prst="rect">
            <a:avLst/>
          </a:prstGeom>
          <a:noFill/>
          <a:ln/>
        </p:spPr>
        <p:txBody>
          <a:bodyPr wrap="square" lIns="0" tIns="0" rIns="0" bIns="0" rtlCol="0" anchor="ctr"/>
          <a:lstStyle/>
          <a:p>
            <a:pPr marL="0" indent="0" algn="ctr">
              <a:buNone/>
              <a:defRPr/>
            </a:pPr>
            <a:r>
              <a:rPr lang="en-US" sz="1400" b="1">
                <a:solidFill>
                  <a:schemeClr val="tx1"/>
                </a:solidFill>
              </a:rPr>
              <a:t>0</a:t>
            </a:r>
            <a:endParaRPr lang="en-US" sz="1400"/>
          </a:p>
        </p:txBody>
      </p:sp>
      <p:sp>
        <p:nvSpPr>
          <p:cNvPr id="1631778656" name="cell-294"/>
          <p:cNvSpPr/>
          <p:nvPr/>
        </p:nvSpPr>
        <p:spPr bwMode="auto">
          <a:xfrm>
            <a:off x="1371600" y="2697480"/>
            <a:ext cx="411480" cy="411480"/>
          </a:xfrm>
          <a:prstGeom prst="rect">
            <a:avLst/>
          </a:prstGeom>
          <a:solidFill>
            <a:srgbClr val="DCE7FB"/>
          </a:solidFill>
          <a:ln w="19050">
            <a:solidFill>
              <a:srgbClr val="FFFFFF"/>
            </a:solidFill>
            <a:prstDash val="solid"/>
          </a:ln>
        </p:spPr>
      </p:sp>
      <p:sp>
        <p:nvSpPr>
          <p:cNvPr id="1265382184" name="text-295"/>
          <p:cNvSpPr txBox="1"/>
          <p:nvPr/>
        </p:nvSpPr>
        <p:spPr bwMode="auto">
          <a:xfrm>
            <a:off x="1371600" y="2697480"/>
            <a:ext cx="411480" cy="411480"/>
          </a:xfrm>
          <a:prstGeom prst="rect">
            <a:avLst/>
          </a:prstGeom>
          <a:noFill/>
          <a:ln/>
        </p:spPr>
        <p:txBody>
          <a:bodyPr wrap="square" lIns="0" tIns="0" rIns="0" bIns="0" rtlCol="0" anchor="ctr"/>
          <a:lstStyle/>
          <a:p>
            <a:pPr marL="0" indent="0" algn="ctr">
              <a:buNone/>
              <a:defRPr/>
            </a:pPr>
            <a:r>
              <a:rPr lang="en-US" sz="1400" b="1">
                <a:solidFill>
                  <a:schemeClr val="tx1"/>
                </a:solidFill>
              </a:rPr>
              <a:t>1</a:t>
            </a:r>
            <a:endParaRPr lang="en-US" sz="1400"/>
          </a:p>
        </p:txBody>
      </p:sp>
      <p:sp>
        <p:nvSpPr>
          <p:cNvPr id="483138160" name="cell-296"/>
          <p:cNvSpPr/>
          <p:nvPr/>
        </p:nvSpPr>
        <p:spPr bwMode="auto">
          <a:xfrm>
            <a:off x="1783080" y="2697480"/>
            <a:ext cx="411480" cy="411480"/>
          </a:xfrm>
          <a:prstGeom prst="rect">
            <a:avLst/>
          </a:prstGeom>
          <a:solidFill>
            <a:srgbClr val="DCE7FB"/>
          </a:solidFill>
          <a:ln w="19050">
            <a:solidFill>
              <a:srgbClr val="FFFFFF"/>
            </a:solidFill>
            <a:prstDash val="solid"/>
          </a:ln>
        </p:spPr>
      </p:sp>
      <p:sp>
        <p:nvSpPr>
          <p:cNvPr id="1768424754" name="text-297"/>
          <p:cNvSpPr txBox="1"/>
          <p:nvPr/>
        </p:nvSpPr>
        <p:spPr bwMode="auto">
          <a:xfrm>
            <a:off x="1783080" y="2697480"/>
            <a:ext cx="411480" cy="411480"/>
          </a:xfrm>
          <a:prstGeom prst="rect">
            <a:avLst/>
          </a:prstGeom>
          <a:noFill/>
          <a:ln/>
        </p:spPr>
        <p:txBody>
          <a:bodyPr wrap="square" lIns="0" tIns="0" rIns="0" bIns="0" rtlCol="0" anchor="ctr"/>
          <a:lstStyle/>
          <a:p>
            <a:pPr marL="0" indent="0" algn="ctr">
              <a:buNone/>
              <a:defRPr/>
            </a:pPr>
            <a:r>
              <a:rPr lang="en-US" sz="1400" b="1">
                <a:solidFill>
                  <a:schemeClr val="tx1"/>
                </a:solidFill>
              </a:rPr>
              <a:t>1</a:t>
            </a:r>
            <a:endParaRPr lang="en-US" sz="1400"/>
          </a:p>
        </p:txBody>
      </p:sp>
      <p:sp>
        <p:nvSpPr>
          <p:cNvPr id="1296332218" name="cell-298"/>
          <p:cNvSpPr/>
          <p:nvPr/>
        </p:nvSpPr>
        <p:spPr bwMode="auto">
          <a:xfrm>
            <a:off x="2194560" y="2697480"/>
            <a:ext cx="411480" cy="411480"/>
          </a:xfrm>
          <a:prstGeom prst="rect">
            <a:avLst/>
          </a:prstGeom>
          <a:solidFill>
            <a:srgbClr val="DCE7FB"/>
          </a:solidFill>
          <a:ln w="19050">
            <a:solidFill>
              <a:srgbClr val="FFFFFF"/>
            </a:solidFill>
            <a:prstDash val="solid"/>
          </a:ln>
        </p:spPr>
      </p:sp>
      <p:sp>
        <p:nvSpPr>
          <p:cNvPr id="1017494194" name="text-299"/>
          <p:cNvSpPr txBox="1"/>
          <p:nvPr/>
        </p:nvSpPr>
        <p:spPr bwMode="auto">
          <a:xfrm>
            <a:off x="2194560" y="2697480"/>
            <a:ext cx="411480" cy="411480"/>
          </a:xfrm>
          <a:prstGeom prst="rect">
            <a:avLst/>
          </a:prstGeom>
          <a:noFill/>
          <a:ln/>
        </p:spPr>
        <p:txBody>
          <a:bodyPr wrap="square" lIns="0" tIns="0" rIns="0" bIns="0" rtlCol="0" anchor="ctr"/>
          <a:lstStyle/>
          <a:p>
            <a:pPr marL="0" indent="0" algn="ctr">
              <a:buNone/>
              <a:defRPr/>
            </a:pPr>
            <a:r>
              <a:rPr lang="en-US" sz="1400" b="1">
                <a:solidFill>
                  <a:schemeClr val="tx1"/>
                </a:solidFill>
              </a:rPr>
              <a:t>0</a:t>
            </a:r>
            <a:endParaRPr lang="en-US" sz="1400"/>
          </a:p>
        </p:txBody>
      </p:sp>
      <p:sp>
        <p:nvSpPr>
          <p:cNvPr id="185378440" name="cell-300"/>
          <p:cNvSpPr/>
          <p:nvPr/>
        </p:nvSpPr>
        <p:spPr bwMode="auto">
          <a:xfrm>
            <a:off x="548640" y="3108960"/>
            <a:ext cx="411480" cy="411480"/>
          </a:xfrm>
          <a:prstGeom prst="rect">
            <a:avLst/>
          </a:prstGeom>
          <a:solidFill>
            <a:srgbClr val="DCE7FB"/>
          </a:solidFill>
          <a:ln w="19050">
            <a:solidFill>
              <a:srgbClr val="FFFFFF"/>
            </a:solidFill>
            <a:prstDash val="solid"/>
          </a:ln>
        </p:spPr>
      </p:sp>
      <p:sp>
        <p:nvSpPr>
          <p:cNvPr id="844253589" name="text-301"/>
          <p:cNvSpPr txBox="1"/>
          <p:nvPr/>
        </p:nvSpPr>
        <p:spPr bwMode="auto">
          <a:xfrm>
            <a:off x="548640" y="3108960"/>
            <a:ext cx="411480" cy="411480"/>
          </a:xfrm>
          <a:prstGeom prst="rect">
            <a:avLst/>
          </a:prstGeom>
          <a:noFill/>
          <a:ln/>
        </p:spPr>
        <p:txBody>
          <a:bodyPr wrap="square" lIns="0" tIns="0" rIns="0" bIns="0" rtlCol="0" anchor="ctr"/>
          <a:lstStyle/>
          <a:p>
            <a:pPr marL="0" indent="0" algn="ctr">
              <a:buNone/>
              <a:defRPr/>
            </a:pPr>
            <a:r>
              <a:rPr lang="en-US" sz="1400" b="1">
                <a:solidFill>
                  <a:schemeClr val="tx1"/>
                </a:solidFill>
              </a:rPr>
              <a:t>0</a:t>
            </a:r>
            <a:endParaRPr lang="en-US" sz="1400"/>
          </a:p>
        </p:txBody>
      </p:sp>
      <p:sp>
        <p:nvSpPr>
          <p:cNvPr id="222255301" name="cell-302"/>
          <p:cNvSpPr/>
          <p:nvPr/>
        </p:nvSpPr>
        <p:spPr bwMode="auto">
          <a:xfrm>
            <a:off x="960120" y="3108960"/>
            <a:ext cx="411480" cy="411480"/>
          </a:xfrm>
          <a:prstGeom prst="rect">
            <a:avLst/>
          </a:prstGeom>
          <a:solidFill>
            <a:srgbClr val="DCE7FB"/>
          </a:solidFill>
          <a:ln w="19050">
            <a:solidFill>
              <a:srgbClr val="FFFFFF"/>
            </a:solidFill>
            <a:prstDash val="solid"/>
          </a:ln>
        </p:spPr>
      </p:sp>
      <p:sp>
        <p:nvSpPr>
          <p:cNvPr id="900039246" name="text-303"/>
          <p:cNvSpPr txBox="1"/>
          <p:nvPr/>
        </p:nvSpPr>
        <p:spPr bwMode="auto">
          <a:xfrm>
            <a:off x="960120" y="3108960"/>
            <a:ext cx="411480" cy="411480"/>
          </a:xfrm>
          <a:prstGeom prst="rect">
            <a:avLst/>
          </a:prstGeom>
          <a:noFill/>
          <a:ln/>
        </p:spPr>
        <p:txBody>
          <a:bodyPr wrap="square" lIns="0" tIns="0" rIns="0" bIns="0" rtlCol="0" anchor="ctr"/>
          <a:lstStyle/>
          <a:p>
            <a:pPr marL="0" indent="0" algn="ctr">
              <a:buNone/>
              <a:defRPr/>
            </a:pPr>
            <a:r>
              <a:rPr lang="en-US" sz="1400" b="1">
                <a:solidFill>
                  <a:schemeClr val="tx1"/>
                </a:solidFill>
              </a:rPr>
              <a:t>1</a:t>
            </a:r>
            <a:endParaRPr lang="en-US" sz="1400"/>
          </a:p>
        </p:txBody>
      </p:sp>
      <p:sp>
        <p:nvSpPr>
          <p:cNvPr id="177154407" name="cell-304"/>
          <p:cNvSpPr/>
          <p:nvPr/>
        </p:nvSpPr>
        <p:spPr bwMode="auto">
          <a:xfrm>
            <a:off x="1371600" y="3108960"/>
            <a:ext cx="411480" cy="411480"/>
          </a:xfrm>
          <a:prstGeom prst="rect">
            <a:avLst/>
          </a:prstGeom>
          <a:solidFill>
            <a:srgbClr val="DCE7FB"/>
          </a:solidFill>
          <a:ln w="19050">
            <a:solidFill>
              <a:srgbClr val="FFFFFF"/>
            </a:solidFill>
            <a:prstDash val="solid"/>
          </a:ln>
        </p:spPr>
      </p:sp>
      <p:sp>
        <p:nvSpPr>
          <p:cNvPr id="1370930236" name="text-305"/>
          <p:cNvSpPr txBox="1"/>
          <p:nvPr/>
        </p:nvSpPr>
        <p:spPr bwMode="auto">
          <a:xfrm>
            <a:off x="1371600" y="3108960"/>
            <a:ext cx="411480" cy="411480"/>
          </a:xfrm>
          <a:prstGeom prst="rect">
            <a:avLst/>
          </a:prstGeom>
          <a:noFill/>
          <a:ln/>
        </p:spPr>
        <p:txBody>
          <a:bodyPr wrap="square" lIns="0" tIns="0" rIns="0" bIns="0" rtlCol="0" anchor="ctr"/>
          <a:lstStyle/>
          <a:p>
            <a:pPr marL="0" indent="0" algn="ctr">
              <a:buNone/>
              <a:defRPr/>
            </a:pPr>
            <a:r>
              <a:rPr lang="en-US" sz="1400" b="1">
                <a:solidFill>
                  <a:schemeClr val="tx1"/>
                </a:solidFill>
              </a:rPr>
              <a:t>1</a:t>
            </a:r>
            <a:endParaRPr lang="en-US" sz="1400"/>
          </a:p>
        </p:txBody>
      </p:sp>
      <p:sp>
        <p:nvSpPr>
          <p:cNvPr id="122871588" name="cell-306"/>
          <p:cNvSpPr/>
          <p:nvPr/>
        </p:nvSpPr>
        <p:spPr bwMode="auto">
          <a:xfrm>
            <a:off x="1783080" y="3108960"/>
            <a:ext cx="411480" cy="411480"/>
          </a:xfrm>
          <a:prstGeom prst="rect">
            <a:avLst/>
          </a:prstGeom>
          <a:solidFill>
            <a:srgbClr val="DCE7FB"/>
          </a:solidFill>
          <a:ln w="19050">
            <a:solidFill>
              <a:srgbClr val="FFFFFF"/>
            </a:solidFill>
            <a:prstDash val="solid"/>
          </a:ln>
        </p:spPr>
      </p:sp>
      <p:sp>
        <p:nvSpPr>
          <p:cNvPr id="1728354149" name="text-307"/>
          <p:cNvSpPr txBox="1"/>
          <p:nvPr/>
        </p:nvSpPr>
        <p:spPr bwMode="auto">
          <a:xfrm>
            <a:off x="1783080" y="3108960"/>
            <a:ext cx="411480" cy="411480"/>
          </a:xfrm>
          <a:prstGeom prst="rect">
            <a:avLst/>
          </a:prstGeom>
          <a:noFill/>
          <a:ln/>
        </p:spPr>
        <p:txBody>
          <a:bodyPr wrap="square" lIns="0" tIns="0" rIns="0" bIns="0" rtlCol="0" anchor="ctr"/>
          <a:lstStyle/>
          <a:p>
            <a:pPr marL="0" indent="0" algn="ctr">
              <a:buNone/>
              <a:defRPr/>
            </a:pPr>
            <a:r>
              <a:rPr lang="en-US" sz="1400" b="1">
                <a:solidFill>
                  <a:schemeClr val="tx1"/>
                </a:solidFill>
              </a:rPr>
              <a:t>0</a:t>
            </a:r>
            <a:endParaRPr lang="en-US" sz="1400"/>
          </a:p>
        </p:txBody>
      </p:sp>
      <p:sp>
        <p:nvSpPr>
          <p:cNvPr id="1644878470" name="cell-308"/>
          <p:cNvSpPr/>
          <p:nvPr/>
        </p:nvSpPr>
        <p:spPr bwMode="auto">
          <a:xfrm>
            <a:off x="2194560" y="3108960"/>
            <a:ext cx="411480" cy="411480"/>
          </a:xfrm>
          <a:prstGeom prst="rect">
            <a:avLst/>
          </a:prstGeom>
          <a:solidFill>
            <a:srgbClr val="DCE7FB"/>
          </a:solidFill>
          <a:ln w="19050">
            <a:solidFill>
              <a:srgbClr val="FFFFFF"/>
            </a:solidFill>
            <a:prstDash val="solid"/>
          </a:ln>
        </p:spPr>
      </p:sp>
      <p:sp>
        <p:nvSpPr>
          <p:cNvPr id="1903245221" name="text-309"/>
          <p:cNvSpPr txBox="1"/>
          <p:nvPr/>
        </p:nvSpPr>
        <p:spPr bwMode="auto">
          <a:xfrm>
            <a:off x="2194560" y="3108960"/>
            <a:ext cx="411480" cy="411480"/>
          </a:xfrm>
          <a:prstGeom prst="rect">
            <a:avLst/>
          </a:prstGeom>
          <a:noFill/>
          <a:ln/>
        </p:spPr>
        <p:txBody>
          <a:bodyPr wrap="square" lIns="0" tIns="0" rIns="0" bIns="0" rtlCol="0" anchor="ctr"/>
          <a:lstStyle/>
          <a:p>
            <a:pPr marL="0" indent="0" algn="ctr">
              <a:buNone/>
              <a:defRPr/>
            </a:pPr>
            <a:r>
              <a:rPr lang="en-US" sz="1400" b="1">
                <a:solidFill>
                  <a:schemeClr val="tx1"/>
                </a:solidFill>
              </a:rPr>
              <a:t>0</a:t>
            </a:r>
            <a:endParaRPr lang="en-US" sz="1400"/>
          </a:p>
        </p:txBody>
      </p:sp>
      <p:sp>
        <p:nvSpPr>
          <p:cNvPr id="1247904001" name="text-310"/>
          <p:cNvSpPr txBox="1"/>
          <p:nvPr/>
        </p:nvSpPr>
        <p:spPr bwMode="auto">
          <a:xfrm>
            <a:off x="2697480" y="2286000"/>
            <a:ext cx="365760" cy="457200"/>
          </a:xfrm>
          <a:prstGeom prst="rect">
            <a:avLst/>
          </a:prstGeom>
          <a:noFill/>
          <a:ln/>
        </p:spPr>
        <p:txBody>
          <a:bodyPr wrap="square" lIns="0" tIns="0" rIns="0" bIns="0" rtlCol="0" anchor="ctr"/>
          <a:lstStyle/>
          <a:p>
            <a:pPr marL="0" indent="0" algn="ctr">
              <a:buNone/>
              <a:defRPr/>
            </a:pPr>
            <a:r>
              <a:rPr lang="en-US" sz="2400" b="1">
                <a:solidFill>
                  <a:schemeClr val="accent5"/>
                </a:solidFill>
              </a:rPr>
              <a:t>∗</a:t>
            </a:r>
            <a:endParaRPr lang="en-US" sz="2400"/>
          </a:p>
        </p:txBody>
      </p:sp>
      <p:sp>
        <p:nvSpPr>
          <p:cNvPr id="2113870264" name="cell-311"/>
          <p:cNvSpPr/>
          <p:nvPr/>
        </p:nvSpPr>
        <p:spPr bwMode="auto">
          <a:xfrm>
            <a:off x="3154680" y="1828800"/>
            <a:ext cx="411480" cy="411480"/>
          </a:xfrm>
          <a:prstGeom prst="rect">
            <a:avLst/>
          </a:prstGeom>
          <a:solidFill>
            <a:srgbClr val="E0DEF9"/>
          </a:solidFill>
          <a:ln w="19050">
            <a:solidFill>
              <a:srgbClr val="FFFFFF"/>
            </a:solidFill>
            <a:prstDash val="solid"/>
          </a:ln>
        </p:spPr>
      </p:sp>
      <p:sp>
        <p:nvSpPr>
          <p:cNvPr id="136420680" name="text-312"/>
          <p:cNvSpPr txBox="1"/>
          <p:nvPr/>
        </p:nvSpPr>
        <p:spPr bwMode="auto">
          <a:xfrm>
            <a:off x="3154680" y="1828800"/>
            <a:ext cx="411480" cy="411480"/>
          </a:xfrm>
          <a:prstGeom prst="rect">
            <a:avLst/>
          </a:prstGeom>
          <a:noFill/>
          <a:ln/>
        </p:spPr>
        <p:txBody>
          <a:bodyPr wrap="square" lIns="0" tIns="0" rIns="0" bIns="0" rtlCol="0" anchor="ctr"/>
          <a:lstStyle/>
          <a:p>
            <a:pPr marL="0" indent="0" algn="ctr">
              <a:buNone/>
              <a:defRPr/>
            </a:pPr>
            <a:r>
              <a:rPr lang="en-US" sz="1400" b="1">
                <a:solidFill>
                  <a:schemeClr val="tx1"/>
                </a:solidFill>
              </a:rPr>
              <a:t>1</a:t>
            </a:r>
            <a:endParaRPr lang="en-US" sz="1400"/>
          </a:p>
        </p:txBody>
      </p:sp>
      <p:sp>
        <p:nvSpPr>
          <p:cNvPr id="1525711508" name="cell-313"/>
          <p:cNvSpPr/>
          <p:nvPr/>
        </p:nvSpPr>
        <p:spPr bwMode="auto">
          <a:xfrm>
            <a:off x="3566160" y="1828800"/>
            <a:ext cx="411480" cy="411480"/>
          </a:xfrm>
          <a:prstGeom prst="rect">
            <a:avLst/>
          </a:prstGeom>
          <a:solidFill>
            <a:srgbClr val="E0DEF9"/>
          </a:solidFill>
          <a:ln w="19050">
            <a:solidFill>
              <a:srgbClr val="FFFFFF"/>
            </a:solidFill>
            <a:prstDash val="solid"/>
          </a:ln>
        </p:spPr>
      </p:sp>
      <p:sp>
        <p:nvSpPr>
          <p:cNvPr id="2033558624" name="text-314"/>
          <p:cNvSpPr txBox="1"/>
          <p:nvPr/>
        </p:nvSpPr>
        <p:spPr bwMode="auto">
          <a:xfrm>
            <a:off x="3566160" y="1828800"/>
            <a:ext cx="411480" cy="411480"/>
          </a:xfrm>
          <a:prstGeom prst="rect">
            <a:avLst/>
          </a:prstGeom>
          <a:noFill/>
          <a:ln/>
        </p:spPr>
        <p:txBody>
          <a:bodyPr wrap="square" lIns="0" tIns="0" rIns="0" bIns="0" rtlCol="0" anchor="ctr"/>
          <a:lstStyle/>
          <a:p>
            <a:pPr marL="0" indent="0" algn="ctr">
              <a:buNone/>
              <a:defRPr/>
            </a:pPr>
            <a:r>
              <a:rPr lang="en-US" sz="1400" b="1">
                <a:solidFill>
                  <a:schemeClr val="tx1"/>
                </a:solidFill>
              </a:rPr>
              <a:t>0</a:t>
            </a:r>
            <a:endParaRPr lang="en-US" sz="1400"/>
          </a:p>
        </p:txBody>
      </p:sp>
      <p:sp>
        <p:nvSpPr>
          <p:cNvPr id="388796186" name="cell-315"/>
          <p:cNvSpPr/>
          <p:nvPr/>
        </p:nvSpPr>
        <p:spPr bwMode="auto">
          <a:xfrm>
            <a:off x="3977640" y="1828800"/>
            <a:ext cx="411480" cy="411480"/>
          </a:xfrm>
          <a:prstGeom prst="rect">
            <a:avLst/>
          </a:prstGeom>
          <a:solidFill>
            <a:srgbClr val="E0DEF9"/>
          </a:solidFill>
          <a:ln w="19050">
            <a:solidFill>
              <a:srgbClr val="FFFFFF"/>
            </a:solidFill>
            <a:prstDash val="solid"/>
          </a:ln>
        </p:spPr>
      </p:sp>
      <p:sp>
        <p:nvSpPr>
          <p:cNvPr id="1609101391" name="text-316"/>
          <p:cNvSpPr txBox="1"/>
          <p:nvPr/>
        </p:nvSpPr>
        <p:spPr bwMode="auto">
          <a:xfrm>
            <a:off x="3977640" y="1828800"/>
            <a:ext cx="411480" cy="411480"/>
          </a:xfrm>
          <a:prstGeom prst="rect">
            <a:avLst/>
          </a:prstGeom>
          <a:noFill/>
          <a:ln/>
        </p:spPr>
        <p:txBody>
          <a:bodyPr wrap="square" lIns="0" tIns="0" rIns="0" bIns="0" rtlCol="0" anchor="ctr"/>
          <a:lstStyle/>
          <a:p>
            <a:pPr marL="0" indent="0" algn="ctr">
              <a:buNone/>
              <a:defRPr/>
            </a:pPr>
            <a:r>
              <a:rPr lang="en-US" sz="1400" b="1">
                <a:solidFill>
                  <a:schemeClr val="tx1"/>
                </a:solidFill>
              </a:rPr>
              <a:t>1</a:t>
            </a:r>
            <a:endParaRPr lang="en-US" sz="1400"/>
          </a:p>
        </p:txBody>
      </p:sp>
      <p:sp>
        <p:nvSpPr>
          <p:cNvPr id="222850384" name="cell-317"/>
          <p:cNvSpPr/>
          <p:nvPr/>
        </p:nvSpPr>
        <p:spPr bwMode="auto">
          <a:xfrm>
            <a:off x="3154680" y="2240280"/>
            <a:ext cx="411480" cy="411480"/>
          </a:xfrm>
          <a:prstGeom prst="rect">
            <a:avLst/>
          </a:prstGeom>
          <a:solidFill>
            <a:srgbClr val="E0DEF9"/>
          </a:solidFill>
          <a:ln w="19050">
            <a:solidFill>
              <a:srgbClr val="FFFFFF"/>
            </a:solidFill>
            <a:prstDash val="solid"/>
          </a:ln>
        </p:spPr>
      </p:sp>
      <p:sp>
        <p:nvSpPr>
          <p:cNvPr id="1412534104" name="text-318"/>
          <p:cNvSpPr txBox="1"/>
          <p:nvPr/>
        </p:nvSpPr>
        <p:spPr bwMode="auto">
          <a:xfrm>
            <a:off x="3154680" y="2240280"/>
            <a:ext cx="411480" cy="411480"/>
          </a:xfrm>
          <a:prstGeom prst="rect">
            <a:avLst/>
          </a:prstGeom>
          <a:noFill/>
          <a:ln/>
        </p:spPr>
        <p:txBody>
          <a:bodyPr wrap="square" lIns="0" tIns="0" rIns="0" bIns="0" rtlCol="0" anchor="ctr"/>
          <a:lstStyle/>
          <a:p>
            <a:pPr marL="0" indent="0" algn="ctr">
              <a:buNone/>
              <a:defRPr/>
            </a:pPr>
            <a:r>
              <a:rPr lang="en-US" sz="1400" b="1">
                <a:solidFill>
                  <a:schemeClr val="tx1"/>
                </a:solidFill>
              </a:rPr>
              <a:t>0</a:t>
            </a:r>
            <a:endParaRPr lang="en-US" sz="1400"/>
          </a:p>
        </p:txBody>
      </p:sp>
      <p:sp>
        <p:nvSpPr>
          <p:cNvPr id="1612422614" name="cell-319"/>
          <p:cNvSpPr/>
          <p:nvPr/>
        </p:nvSpPr>
        <p:spPr bwMode="auto">
          <a:xfrm>
            <a:off x="3566160" y="2240280"/>
            <a:ext cx="411480" cy="411480"/>
          </a:xfrm>
          <a:prstGeom prst="rect">
            <a:avLst/>
          </a:prstGeom>
          <a:solidFill>
            <a:srgbClr val="E0DEF9"/>
          </a:solidFill>
          <a:ln w="19050">
            <a:solidFill>
              <a:srgbClr val="FFFFFF"/>
            </a:solidFill>
            <a:prstDash val="solid"/>
          </a:ln>
        </p:spPr>
      </p:sp>
      <p:sp>
        <p:nvSpPr>
          <p:cNvPr id="1892117377" name="text-320"/>
          <p:cNvSpPr txBox="1"/>
          <p:nvPr/>
        </p:nvSpPr>
        <p:spPr bwMode="auto">
          <a:xfrm>
            <a:off x="3566160" y="2240280"/>
            <a:ext cx="411480" cy="411480"/>
          </a:xfrm>
          <a:prstGeom prst="rect">
            <a:avLst/>
          </a:prstGeom>
          <a:noFill/>
          <a:ln/>
        </p:spPr>
        <p:txBody>
          <a:bodyPr wrap="square" lIns="0" tIns="0" rIns="0" bIns="0" rtlCol="0" anchor="ctr"/>
          <a:lstStyle/>
          <a:p>
            <a:pPr marL="0" indent="0" algn="ctr">
              <a:buNone/>
              <a:defRPr/>
            </a:pPr>
            <a:r>
              <a:rPr lang="en-US" sz="1400" b="1">
                <a:solidFill>
                  <a:schemeClr val="tx1"/>
                </a:solidFill>
              </a:rPr>
              <a:t>1</a:t>
            </a:r>
            <a:endParaRPr lang="en-US" sz="1400"/>
          </a:p>
        </p:txBody>
      </p:sp>
      <p:sp>
        <p:nvSpPr>
          <p:cNvPr id="1135116894" name="cell-321"/>
          <p:cNvSpPr/>
          <p:nvPr/>
        </p:nvSpPr>
        <p:spPr bwMode="auto">
          <a:xfrm>
            <a:off x="3977640" y="2240280"/>
            <a:ext cx="411480" cy="411480"/>
          </a:xfrm>
          <a:prstGeom prst="rect">
            <a:avLst/>
          </a:prstGeom>
          <a:solidFill>
            <a:srgbClr val="E0DEF9"/>
          </a:solidFill>
          <a:ln w="19050">
            <a:solidFill>
              <a:srgbClr val="FFFFFF"/>
            </a:solidFill>
            <a:prstDash val="solid"/>
          </a:ln>
        </p:spPr>
      </p:sp>
      <p:sp>
        <p:nvSpPr>
          <p:cNvPr id="1364075954" name="text-322"/>
          <p:cNvSpPr txBox="1"/>
          <p:nvPr/>
        </p:nvSpPr>
        <p:spPr bwMode="auto">
          <a:xfrm>
            <a:off x="3977640" y="2240280"/>
            <a:ext cx="411480" cy="411480"/>
          </a:xfrm>
          <a:prstGeom prst="rect">
            <a:avLst/>
          </a:prstGeom>
          <a:noFill/>
          <a:ln/>
        </p:spPr>
        <p:txBody>
          <a:bodyPr wrap="square" lIns="0" tIns="0" rIns="0" bIns="0" rtlCol="0" anchor="ctr"/>
          <a:lstStyle/>
          <a:p>
            <a:pPr marL="0" indent="0" algn="ctr">
              <a:buNone/>
              <a:defRPr/>
            </a:pPr>
            <a:r>
              <a:rPr lang="en-US" sz="1400" b="1">
                <a:solidFill>
                  <a:schemeClr val="tx1"/>
                </a:solidFill>
              </a:rPr>
              <a:t>0</a:t>
            </a:r>
            <a:endParaRPr lang="en-US" sz="1400"/>
          </a:p>
        </p:txBody>
      </p:sp>
      <p:sp>
        <p:nvSpPr>
          <p:cNvPr id="312938679" name="cell-323"/>
          <p:cNvSpPr/>
          <p:nvPr/>
        </p:nvSpPr>
        <p:spPr bwMode="auto">
          <a:xfrm>
            <a:off x="3154680" y="2651760"/>
            <a:ext cx="411480" cy="411480"/>
          </a:xfrm>
          <a:prstGeom prst="rect">
            <a:avLst/>
          </a:prstGeom>
          <a:solidFill>
            <a:srgbClr val="E0DEF9"/>
          </a:solidFill>
          <a:ln w="19050">
            <a:solidFill>
              <a:srgbClr val="FFFFFF"/>
            </a:solidFill>
            <a:prstDash val="solid"/>
          </a:ln>
        </p:spPr>
      </p:sp>
      <p:sp>
        <p:nvSpPr>
          <p:cNvPr id="930791145" name="text-324"/>
          <p:cNvSpPr txBox="1"/>
          <p:nvPr/>
        </p:nvSpPr>
        <p:spPr bwMode="auto">
          <a:xfrm>
            <a:off x="3154680" y="2651760"/>
            <a:ext cx="411480" cy="411480"/>
          </a:xfrm>
          <a:prstGeom prst="rect">
            <a:avLst/>
          </a:prstGeom>
          <a:noFill/>
          <a:ln/>
        </p:spPr>
        <p:txBody>
          <a:bodyPr wrap="square" lIns="0" tIns="0" rIns="0" bIns="0" rtlCol="0" anchor="ctr"/>
          <a:lstStyle/>
          <a:p>
            <a:pPr marL="0" indent="0" algn="ctr">
              <a:buNone/>
              <a:defRPr/>
            </a:pPr>
            <a:r>
              <a:rPr lang="en-US" sz="1400" b="1">
                <a:solidFill>
                  <a:schemeClr val="tx1"/>
                </a:solidFill>
              </a:rPr>
              <a:t>1</a:t>
            </a:r>
            <a:endParaRPr lang="en-US" sz="1400"/>
          </a:p>
        </p:txBody>
      </p:sp>
      <p:sp>
        <p:nvSpPr>
          <p:cNvPr id="803223360" name="cell-325"/>
          <p:cNvSpPr/>
          <p:nvPr/>
        </p:nvSpPr>
        <p:spPr bwMode="auto">
          <a:xfrm>
            <a:off x="3566160" y="2651760"/>
            <a:ext cx="411480" cy="411480"/>
          </a:xfrm>
          <a:prstGeom prst="rect">
            <a:avLst/>
          </a:prstGeom>
          <a:solidFill>
            <a:srgbClr val="E0DEF9"/>
          </a:solidFill>
          <a:ln w="19050">
            <a:solidFill>
              <a:srgbClr val="FFFFFF"/>
            </a:solidFill>
            <a:prstDash val="solid"/>
          </a:ln>
        </p:spPr>
      </p:sp>
      <p:sp>
        <p:nvSpPr>
          <p:cNvPr id="185811934" name="text-326"/>
          <p:cNvSpPr txBox="1"/>
          <p:nvPr/>
        </p:nvSpPr>
        <p:spPr bwMode="auto">
          <a:xfrm>
            <a:off x="3566160" y="2651760"/>
            <a:ext cx="411480" cy="411480"/>
          </a:xfrm>
          <a:prstGeom prst="rect">
            <a:avLst/>
          </a:prstGeom>
          <a:noFill/>
          <a:ln/>
        </p:spPr>
        <p:txBody>
          <a:bodyPr wrap="square" lIns="0" tIns="0" rIns="0" bIns="0" rtlCol="0" anchor="ctr"/>
          <a:lstStyle/>
          <a:p>
            <a:pPr marL="0" indent="0" algn="ctr">
              <a:buNone/>
              <a:defRPr/>
            </a:pPr>
            <a:r>
              <a:rPr lang="en-US" sz="1400" b="1">
                <a:solidFill>
                  <a:schemeClr val="tx1"/>
                </a:solidFill>
              </a:rPr>
              <a:t>0</a:t>
            </a:r>
            <a:endParaRPr lang="en-US" sz="1400"/>
          </a:p>
        </p:txBody>
      </p:sp>
      <p:sp>
        <p:nvSpPr>
          <p:cNvPr id="1823695723" name="cell-327"/>
          <p:cNvSpPr/>
          <p:nvPr/>
        </p:nvSpPr>
        <p:spPr bwMode="auto">
          <a:xfrm>
            <a:off x="3977640" y="2651760"/>
            <a:ext cx="411480" cy="411480"/>
          </a:xfrm>
          <a:prstGeom prst="rect">
            <a:avLst/>
          </a:prstGeom>
          <a:solidFill>
            <a:srgbClr val="E0DEF9"/>
          </a:solidFill>
          <a:ln w="19050">
            <a:solidFill>
              <a:srgbClr val="FFFFFF"/>
            </a:solidFill>
            <a:prstDash val="solid"/>
          </a:ln>
        </p:spPr>
      </p:sp>
      <p:sp>
        <p:nvSpPr>
          <p:cNvPr id="1019249874" name="text-328"/>
          <p:cNvSpPr txBox="1"/>
          <p:nvPr/>
        </p:nvSpPr>
        <p:spPr bwMode="auto">
          <a:xfrm>
            <a:off x="3977640" y="2651760"/>
            <a:ext cx="411480" cy="411480"/>
          </a:xfrm>
          <a:prstGeom prst="rect">
            <a:avLst/>
          </a:prstGeom>
          <a:noFill/>
          <a:ln/>
        </p:spPr>
        <p:txBody>
          <a:bodyPr wrap="square" lIns="0" tIns="0" rIns="0" bIns="0" rtlCol="0" anchor="ctr"/>
          <a:lstStyle/>
          <a:p>
            <a:pPr marL="0" indent="0" algn="ctr">
              <a:buNone/>
              <a:defRPr/>
            </a:pPr>
            <a:r>
              <a:rPr lang="en-US" sz="1400" b="1">
                <a:solidFill>
                  <a:schemeClr val="tx1"/>
                </a:solidFill>
              </a:rPr>
              <a:t>1</a:t>
            </a:r>
            <a:endParaRPr lang="en-US" sz="1400"/>
          </a:p>
        </p:txBody>
      </p:sp>
      <p:sp>
        <p:nvSpPr>
          <p:cNvPr id="1489546337" name="text-329"/>
          <p:cNvSpPr txBox="1"/>
          <p:nvPr/>
        </p:nvSpPr>
        <p:spPr bwMode="auto">
          <a:xfrm>
            <a:off x="4434840" y="2286000"/>
            <a:ext cx="365760" cy="457200"/>
          </a:xfrm>
          <a:prstGeom prst="rect">
            <a:avLst/>
          </a:prstGeom>
          <a:noFill/>
          <a:ln/>
        </p:spPr>
        <p:txBody>
          <a:bodyPr wrap="square" lIns="0" tIns="0" rIns="0" bIns="0" rtlCol="0" anchor="ctr"/>
          <a:lstStyle/>
          <a:p>
            <a:pPr marL="0" indent="0" algn="ctr">
              <a:buNone/>
              <a:defRPr/>
            </a:pPr>
            <a:r>
              <a:rPr lang="en-US" sz="2400" b="1">
                <a:solidFill>
                  <a:schemeClr val="accent5"/>
                </a:solidFill>
              </a:rPr>
              <a:t>=</a:t>
            </a:r>
            <a:endParaRPr lang="en-US" sz="2400"/>
          </a:p>
        </p:txBody>
      </p:sp>
      <p:sp>
        <p:nvSpPr>
          <p:cNvPr id="633910168" name="cell-330"/>
          <p:cNvSpPr/>
          <p:nvPr/>
        </p:nvSpPr>
        <p:spPr bwMode="auto">
          <a:xfrm>
            <a:off x="4846320" y="1828800"/>
            <a:ext cx="411480" cy="411480"/>
          </a:xfrm>
          <a:prstGeom prst="rect">
            <a:avLst/>
          </a:prstGeom>
          <a:solidFill>
            <a:srgbClr val="FDE7B0"/>
          </a:solidFill>
          <a:ln w="19050">
            <a:solidFill>
              <a:srgbClr val="FFFFFF"/>
            </a:solidFill>
            <a:prstDash val="solid"/>
          </a:ln>
        </p:spPr>
      </p:sp>
      <p:sp>
        <p:nvSpPr>
          <p:cNvPr id="727366351" name="text-331"/>
          <p:cNvSpPr txBox="1"/>
          <p:nvPr/>
        </p:nvSpPr>
        <p:spPr bwMode="auto">
          <a:xfrm>
            <a:off x="4846320" y="1828800"/>
            <a:ext cx="411480" cy="411480"/>
          </a:xfrm>
          <a:prstGeom prst="rect">
            <a:avLst/>
          </a:prstGeom>
          <a:noFill/>
          <a:ln/>
        </p:spPr>
        <p:txBody>
          <a:bodyPr wrap="square" lIns="0" tIns="0" rIns="0" bIns="0" rtlCol="0" anchor="ctr"/>
          <a:lstStyle/>
          <a:p>
            <a:pPr marL="0" indent="0" algn="ctr">
              <a:buNone/>
              <a:defRPr/>
            </a:pPr>
            <a:r>
              <a:rPr lang="en-US" sz="1400" b="1">
                <a:solidFill>
                  <a:schemeClr val="tx1"/>
                </a:solidFill>
              </a:rPr>
              <a:t>4</a:t>
            </a:r>
            <a:endParaRPr lang="en-US" sz="1400"/>
          </a:p>
        </p:txBody>
      </p:sp>
      <p:sp>
        <p:nvSpPr>
          <p:cNvPr id="1743016772" name="cell-332"/>
          <p:cNvSpPr/>
          <p:nvPr/>
        </p:nvSpPr>
        <p:spPr bwMode="auto">
          <a:xfrm>
            <a:off x="5257800" y="1828800"/>
            <a:ext cx="411480" cy="411480"/>
          </a:xfrm>
          <a:prstGeom prst="rect">
            <a:avLst/>
          </a:prstGeom>
          <a:solidFill>
            <a:srgbClr val="CDEBE7"/>
          </a:solidFill>
          <a:ln w="19050">
            <a:solidFill>
              <a:srgbClr val="FFFFFF"/>
            </a:solidFill>
            <a:prstDash val="solid"/>
          </a:ln>
        </p:spPr>
      </p:sp>
      <p:sp>
        <p:nvSpPr>
          <p:cNvPr id="14017767" name="text-333"/>
          <p:cNvSpPr txBox="1"/>
          <p:nvPr/>
        </p:nvSpPr>
        <p:spPr bwMode="auto">
          <a:xfrm>
            <a:off x="5257800" y="1828800"/>
            <a:ext cx="411480" cy="411480"/>
          </a:xfrm>
          <a:prstGeom prst="rect">
            <a:avLst/>
          </a:prstGeom>
          <a:noFill/>
          <a:ln/>
        </p:spPr>
        <p:txBody>
          <a:bodyPr wrap="square" lIns="0" tIns="0" rIns="0" bIns="0" rtlCol="0" anchor="ctr"/>
          <a:lstStyle/>
          <a:p>
            <a:pPr marL="0" indent="0" algn="ctr">
              <a:buNone/>
              <a:defRPr/>
            </a:pPr>
            <a:r>
              <a:rPr lang="en-US" sz="1400" b="1">
                <a:solidFill>
                  <a:schemeClr val="tx1"/>
                </a:solidFill>
              </a:rPr>
              <a:t>3</a:t>
            </a:r>
            <a:endParaRPr lang="en-US" sz="1400"/>
          </a:p>
        </p:txBody>
      </p:sp>
      <p:sp>
        <p:nvSpPr>
          <p:cNvPr id="1827740684" name="cell-334"/>
          <p:cNvSpPr/>
          <p:nvPr/>
        </p:nvSpPr>
        <p:spPr bwMode="auto">
          <a:xfrm>
            <a:off x="5669280" y="1828800"/>
            <a:ext cx="411480" cy="411480"/>
          </a:xfrm>
          <a:prstGeom prst="rect">
            <a:avLst/>
          </a:prstGeom>
          <a:solidFill>
            <a:srgbClr val="CDEBE7"/>
          </a:solidFill>
          <a:ln w="19050">
            <a:solidFill>
              <a:srgbClr val="FFFFFF"/>
            </a:solidFill>
            <a:prstDash val="solid"/>
          </a:ln>
        </p:spPr>
      </p:sp>
      <p:sp>
        <p:nvSpPr>
          <p:cNvPr id="1262043349" name="text-335"/>
          <p:cNvSpPr txBox="1"/>
          <p:nvPr/>
        </p:nvSpPr>
        <p:spPr bwMode="auto">
          <a:xfrm>
            <a:off x="5669280" y="1828800"/>
            <a:ext cx="411480" cy="411480"/>
          </a:xfrm>
          <a:prstGeom prst="rect">
            <a:avLst/>
          </a:prstGeom>
          <a:noFill/>
          <a:ln/>
        </p:spPr>
        <p:txBody>
          <a:bodyPr wrap="square" lIns="0" tIns="0" rIns="0" bIns="0" rtlCol="0" anchor="ctr"/>
          <a:lstStyle/>
          <a:p>
            <a:pPr marL="0" indent="0" algn="ctr">
              <a:buNone/>
              <a:defRPr/>
            </a:pPr>
            <a:r>
              <a:rPr lang="en-US" sz="1400" b="1">
                <a:solidFill>
                  <a:schemeClr val="tx1"/>
                </a:solidFill>
              </a:rPr>
              <a:t>4</a:t>
            </a:r>
            <a:endParaRPr lang="en-US" sz="1400"/>
          </a:p>
        </p:txBody>
      </p:sp>
      <p:sp>
        <p:nvSpPr>
          <p:cNvPr id="994990672" name="cell-336"/>
          <p:cNvSpPr/>
          <p:nvPr/>
        </p:nvSpPr>
        <p:spPr bwMode="auto">
          <a:xfrm>
            <a:off x="4846320" y="2240280"/>
            <a:ext cx="411480" cy="411480"/>
          </a:xfrm>
          <a:prstGeom prst="rect">
            <a:avLst/>
          </a:prstGeom>
          <a:solidFill>
            <a:srgbClr val="CDEBE7"/>
          </a:solidFill>
          <a:ln w="19050">
            <a:solidFill>
              <a:srgbClr val="FFFFFF"/>
            </a:solidFill>
            <a:prstDash val="solid"/>
          </a:ln>
        </p:spPr>
      </p:sp>
      <p:sp>
        <p:nvSpPr>
          <p:cNvPr id="851219819" name="text-337"/>
          <p:cNvSpPr txBox="1"/>
          <p:nvPr/>
        </p:nvSpPr>
        <p:spPr bwMode="auto">
          <a:xfrm>
            <a:off x="4846320" y="2240280"/>
            <a:ext cx="411480" cy="411480"/>
          </a:xfrm>
          <a:prstGeom prst="rect">
            <a:avLst/>
          </a:prstGeom>
          <a:noFill/>
          <a:ln/>
        </p:spPr>
        <p:txBody>
          <a:bodyPr wrap="square" lIns="0" tIns="0" rIns="0" bIns="0" rtlCol="0" anchor="ctr"/>
          <a:lstStyle/>
          <a:p>
            <a:pPr marL="0" indent="0" algn="ctr">
              <a:buNone/>
              <a:defRPr/>
            </a:pPr>
            <a:r>
              <a:rPr lang="en-US" sz="1400" b="1">
                <a:solidFill>
                  <a:schemeClr val="tx1"/>
                </a:solidFill>
              </a:rPr>
              <a:t>2</a:t>
            </a:r>
            <a:endParaRPr lang="en-US" sz="1400"/>
          </a:p>
        </p:txBody>
      </p:sp>
      <p:sp>
        <p:nvSpPr>
          <p:cNvPr id="1689464935" name="cell-338"/>
          <p:cNvSpPr/>
          <p:nvPr/>
        </p:nvSpPr>
        <p:spPr bwMode="auto">
          <a:xfrm>
            <a:off x="5257800" y="2240280"/>
            <a:ext cx="411480" cy="411480"/>
          </a:xfrm>
          <a:prstGeom prst="rect">
            <a:avLst/>
          </a:prstGeom>
          <a:solidFill>
            <a:srgbClr val="CDEBE7"/>
          </a:solidFill>
          <a:ln w="19050">
            <a:solidFill>
              <a:srgbClr val="FFFFFF"/>
            </a:solidFill>
            <a:prstDash val="solid"/>
          </a:ln>
        </p:spPr>
      </p:sp>
      <p:sp>
        <p:nvSpPr>
          <p:cNvPr id="1023343655" name="text-339"/>
          <p:cNvSpPr txBox="1"/>
          <p:nvPr/>
        </p:nvSpPr>
        <p:spPr bwMode="auto">
          <a:xfrm>
            <a:off x="5257800" y="2240280"/>
            <a:ext cx="411480" cy="411480"/>
          </a:xfrm>
          <a:prstGeom prst="rect">
            <a:avLst/>
          </a:prstGeom>
          <a:noFill/>
          <a:ln/>
        </p:spPr>
        <p:txBody>
          <a:bodyPr wrap="square" lIns="0" tIns="0" rIns="0" bIns="0" rtlCol="0" anchor="ctr"/>
          <a:lstStyle/>
          <a:p>
            <a:pPr marL="0" indent="0" algn="ctr">
              <a:buNone/>
              <a:defRPr/>
            </a:pPr>
            <a:r>
              <a:rPr lang="en-US" sz="1400" b="1">
                <a:solidFill>
                  <a:schemeClr val="tx1"/>
                </a:solidFill>
              </a:rPr>
              <a:t>4</a:t>
            </a:r>
            <a:endParaRPr lang="en-US" sz="1400"/>
          </a:p>
        </p:txBody>
      </p:sp>
      <p:sp>
        <p:nvSpPr>
          <p:cNvPr id="82339062" name="cell-340"/>
          <p:cNvSpPr/>
          <p:nvPr/>
        </p:nvSpPr>
        <p:spPr bwMode="auto">
          <a:xfrm>
            <a:off x="5669280" y="2240280"/>
            <a:ext cx="411480" cy="411480"/>
          </a:xfrm>
          <a:prstGeom prst="rect">
            <a:avLst/>
          </a:prstGeom>
          <a:solidFill>
            <a:srgbClr val="CDEBE7"/>
          </a:solidFill>
          <a:ln w="19050">
            <a:solidFill>
              <a:srgbClr val="FFFFFF"/>
            </a:solidFill>
            <a:prstDash val="solid"/>
          </a:ln>
        </p:spPr>
      </p:sp>
      <p:sp>
        <p:nvSpPr>
          <p:cNvPr id="1206348008" name="text-341"/>
          <p:cNvSpPr txBox="1"/>
          <p:nvPr/>
        </p:nvSpPr>
        <p:spPr bwMode="auto">
          <a:xfrm>
            <a:off x="5669280" y="2240280"/>
            <a:ext cx="411480" cy="411480"/>
          </a:xfrm>
          <a:prstGeom prst="rect">
            <a:avLst/>
          </a:prstGeom>
          <a:noFill/>
          <a:ln/>
        </p:spPr>
        <p:txBody>
          <a:bodyPr wrap="square" lIns="0" tIns="0" rIns="0" bIns="0" rtlCol="0" anchor="ctr"/>
          <a:lstStyle/>
          <a:p>
            <a:pPr marL="0" indent="0" algn="ctr">
              <a:buNone/>
              <a:defRPr/>
            </a:pPr>
            <a:r>
              <a:rPr lang="en-US" sz="1400" b="1">
                <a:solidFill>
                  <a:schemeClr val="tx1"/>
                </a:solidFill>
              </a:rPr>
              <a:t>3</a:t>
            </a:r>
            <a:endParaRPr lang="en-US" sz="1400"/>
          </a:p>
        </p:txBody>
      </p:sp>
      <p:sp>
        <p:nvSpPr>
          <p:cNvPr id="901834641" name="cell-342"/>
          <p:cNvSpPr/>
          <p:nvPr/>
        </p:nvSpPr>
        <p:spPr bwMode="auto">
          <a:xfrm>
            <a:off x="4846320" y="2651760"/>
            <a:ext cx="411480" cy="411480"/>
          </a:xfrm>
          <a:prstGeom prst="rect">
            <a:avLst/>
          </a:prstGeom>
          <a:solidFill>
            <a:srgbClr val="CDEBE7"/>
          </a:solidFill>
          <a:ln w="19050">
            <a:solidFill>
              <a:srgbClr val="FFFFFF"/>
            </a:solidFill>
            <a:prstDash val="solid"/>
          </a:ln>
        </p:spPr>
      </p:sp>
      <p:sp>
        <p:nvSpPr>
          <p:cNvPr id="2081799613" name="text-343"/>
          <p:cNvSpPr txBox="1"/>
          <p:nvPr/>
        </p:nvSpPr>
        <p:spPr bwMode="auto">
          <a:xfrm>
            <a:off x="4846320" y="2651760"/>
            <a:ext cx="411480" cy="411480"/>
          </a:xfrm>
          <a:prstGeom prst="rect">
            <a:avLst/>
          </a:prstGeom>
          <a:noFill/>
          <a:ln/>
        </p:spPr>
        <p:txBody>
          <a:bodyPr wrap="square" lIns="0" tIns="0" rIns="0" bIns="0" rtlCol="0" anchor="ctr"/>
          <a:lstStyle/>
          <a:p>
            <a:pPr marL="0" indent="0" algn="ctr">
              <a:buNone/>
              <a:defRPr/>
            </a:pPr>
            <a:r>
              <a:rPr lang="en-US" sz="1400" b="1">
                <a:solidFill>
                  <a:schemeClr val="tx1"/>
                </a:solidFill>
              </a:rPr>
              <a:t>2</a:t>
            </a:r>
            <a:endParaRPr lang="en-US" sz="1400"/>
          </a:p>
        </p:txBody>
      </p:sp>
      <p:sp>
        <p:nvSpPr>
          <p:cNvPr id="1465430398" name="cell-344"/>
          <p:cNvSpPr/>
          <p:nvPr/>
        </p:nvSpPr>
        <p:spPr bwMode="auto">
          <a:xfrm>
            <a:off x="5257800" y="2651760"/>
            <a:ext cx="411480" cy="411480"/>
          </a:xfrm>
          <a:prstGeom prst="rect">
            <a:avLst/>
          </a:prstGeom>
          <a:solidFill>
            <a:srgbClr val="CDEBE7"/>
          </a:solidFill>
          <a:ln w="19050">
            <a:solidFill>
              <a:srgbClr val="FFFFFF"/>
            </a:solidFill>
            <a:prstDash val="solid"/>
          </a:ln>
        </p:spPr>
      </p:sp>
      <p:sp>
        <p:nvSpPr>
          <p:cNvPr id="2052956048" name="text-345"/>
          <p:cNvSpPr txBox="1"/>
          <p:nvPr/>
        </p:nvSpPr>
        <p:spPr bwMode="auto">
          <a:xfrm>
            <a:off x="5257800" y="2651760"/>
            <a:ext cx="411480" cy="411480"/>
          </a:xfrm>
          <a:prstGeom prst="rect">
            <a:avLst/>
          </a:prstGeom>
          <a:noFill/>
          <a:ln/>
        </p:spPr>
        <p:txBody>
          <a:bodyPr wrap="square" lIns="0" tIns="0" rIns="0" bIns="0" rtlCol="0" anchor="ctr"/>
          <a:lstStyle/>
          <a:p>
            <a:pPr marL="0" indent="0" algn="ctr">
              <a:buNone/>
              <a:defRPr/>
            </a:pPr>
            <a:r>
              <a:rPr lang="en-US" sz="1400" b="1">
                <a:solidFill>
                  <a:schemeClr val="tx1"/>
                </a:solidFill>
              </a:rPr>
              <a:t>3</a:t>
            </a:r>
            <a:endParaRPr lang="en-US" sz="1400"/>
          </a:p>
        </p:txBody>
      </p:sp>
      <p:sp>
        <p:nvSpPr>
          <p:cNvPr id="56653688" name="cell-346"/>
          <p:cNvSpPr/>
          <p:nvPr/>
        </p:nvSpPr>
        <p:spPr bwMode="auto">
          <a:xfrm>
            <a:off x="5669280" y="2651760"/>
            <a:ext cx="411480" cy="411480"/>
          </a:xfrm>
          <a:prstGeom prst="rect">
            <a:avLst/>
          </a:prstGeom>
          <a:solidFill>
            <a:srgbClr val="CDEBE7"/>
          </a:solidFill>
          <a:ln w="19050">
            <a:solidFill>
              <a:srgbClr val="FFFFFF"/>
            </a:solidFill>
            <a:prstDash val="solid"/>
          </a:ln>
        </p:spPr>
      </p:sp>
      <p:sp>
        <p:nvSpPr>
          <p:cNvPr id="1573319619" name="text-347"/>
          <p:cNvSpPr txBox="1"/>
          <p:nvPr/>
        </p:nvSpPr>
        <p:spPr bwMode="auto">
          <a:xfrm>
            <a:off x="5669280" y="2651760"/>
            <a:ext cx="411480" cy="411480"/>
          </a:xfrm>
          <a:prstGeom prst="rect">
            <a:avLst/>
          </a:prstGeom>
          <a:noFill/>
          <a:ln/>
        </p:spPr>
        <p:txBody>
          <a:bodyPr wrap="square" lIns="0" tIns="0" rIns="0" bIns="0" rtlCol="0" anchor="ctr"/>
          <a:lstStyle/>
          <a:p>
            <a:pPr marL="0" indent="0" algn="ctr">
              <a:buNone/>
              <a:defRPr/>
            </a:pPr>
            <a:r>
              <a:rPr lang="en-US" sz="1400" b="1">
                <a:solidFill>
                  <a:schemeClr val="tx1"/>
                </a:solidFill>
              </a:rPr>
              <a:t>4</a:t>
            </a:r>
            <a:endParaRPr lang="en-US" sz="1400"/>
          </a:p>
        </p:txBody>
      </p:sp>
      <p:sp>
        <p:nvSpPr>
          <p:cNvPr id="1298132017" name="text-348"/>
          <p:cNvSpPr txBox="1"/>
          <p:nvPr/>
        </p:nvSpPr>
        <p:spPr bwMode="auto">
          <a:xfrm>
            <a:off x="548640" y="3566160"/>
            <a:ext cx="2057400" cy="274320"/>
          </a:xfrm>
          <a:prstGeom prst="rect">
            <a:avLst/>
          </a:prstGeom>
          <a:noFill/>
          <a:ln/>
        </p:spPr>
        <p:txBody>
          <a:bodyPr wrap="square" lIns="0" tIns="0" rIns="0" bIns="0" rtlCol="0" anchor="t"/>
          <a:lstStyle/>
          <a:p>
            <a:pPr marL="0" indent="0" algn="ctr">
              <a:buNone/>
              <a:defRPr/>
            </a:pPr>
            <a:r>
              <a:rPr lang="en-US" sz="1400" b="1">
                <a:solidFill>
                  <a:schemeClr val="accent5"/>
                </a:solidFill>
              </a:rPr>
              <a:t>Image (5×5)</a:t>
            </a:r>
            <a:endParaRPr lang="en-US" sz="1400"/>
          </a:p>
        </p:txBody>
      </p:sp>
      <p:sp>
        <p:nvSpPr>
          <p:cNvPr id="236236510" name="text-349"/>
          <p:cNvSpPr txBox="1"/>
          <p:nvPr/>
        </p:nvSpPr>
        <p:spPr bwMode="auto">
          <a:xfrm>
            <a:off x="3154680" y="3154680"/>
            <a:ext cx="1234440" cy="274320"/>
          </a:xfrm>
          <a:prstGeom prst="rect">
            <a:avLst/>
          </a:prstGeom>
          <a:noFill/>
          <a:ln/>
        </p:spPr>
        <p:txBody>
          <a:bodyPr wrap="square" lIns="0" tIns="0" rIns="0" bIns="0" rtlCol="0" anchor="t"/>
          <a:lstStyle/>
          <a:p>
            <a:pPr marL="0" indent="0" algn="ctr">
              <a:buNone/>
              <a:defRPr/>
            </a:pPr>
            <a:r>
              <a:rPr lang="en-US" sz="1400" b="1">
                <a:solidFill>
                  <a:schemeClr val="accent5"/>
                </a:solidFill>
              </a:rPr>
              <a:t>Filter (3×3)</a:t>
            </a:r>
            <a:endParaRPr lang="en-US" sz="1400"/>
          </a:p>
        </p:txBody>
      </p:sp>
      <p:sp>
        <p:nvSpPr>
          <p:cNvPr id="838052695" name="text-350"/>
          <p:cNvSpPr txBox="1"/>
          <p:nvPr/>
        </p:nvSpPr>
        <p:spPr bwMode="auto">
          <a:xfrm>
            <a:off x="4754880" y="3154680"/>
            <a:ext cx="1417320" cy="274320"/>
          </a:xfrm>
          <a:prstGeom prst="rect">
            <a:avLst/>
          </a:prstGeom>
          <a:noFill/>
          <a:ln/>
        </p:spPr>
        <p:txBody>
          <a:bodyPr wrap="square" lIns="0" tIns="0" rIns="0" bIns="0" rtlCol="0" anchor="t"/>
          <a:lstStyle/>
          <a:p>
            <a:pPr marL="0" indent="0" algn="ctr">
              <a:buNone/>
              <a:defRPr/>
            </a:pPr>
            <a:r>
              <a:rPr lang="en-US" sz="1400" b="1">
                <a:solidFill>
                  <a:schemeClr val="accent5"/>
                </a:solidFill>
              </a:rPr>
              <a:t>Feature map (3×3)</a:t>
            </a:r>
            <a:endParaRPr lang="en-US" sz="1400"/>
          </a:p>
        </p:txBody>
      </p:sp>
      <p:sp>
        <p:nvSpPr>
          <p:cNvPr id="489702370" name="card-351"/>
          <p:cNvSpPr/>
          <p:nvPr/>
        </p:nvSpPr>
        <p:spPr bwMode="auto">
          <a:xfrm>
            <a:off x="548640" y="4023360"/>
            <a:ext cx="5623560" cy="594360"/>
          </a:xfrm>
          <a:prstGeom prst="roundRect">
            <a:avLst>
              <a:gd name="adj" fmla="val 15385"/>
            </a:avLst>
          </a:prstGeom>
          <a:solidFill>
            <a:schemeClr val="bg2"/>
          </a:solidFill>
          <a:ln w="12700">
            <a:solidFill>
              <a:schemeClr val="bg2"/>
            </a:solidFill>
            <a:prstDash val="solid"/>
          </a:ln>
        </p:spPr>
      </p:sp>
      <p:sp>
        <p:nvSpPr>
          <p:cNvPr id="724157805" name="text-352"/>
          <p:cNvSpPr txBox="1"/>
          <p:nvPr/>
        </p:nvSpPr>
        <p:spPr bwMode="auto">
          <a:xfrm>
            <a:off x="548640" y="4023360"/>
            <a:ext cx="5623560" cy="594360"/>
          </a:xfrm>
          <a:prstGeom prst="rect">
            <a:avLst/>
          </a:prstGeom>
          <a:noFill/>
          <a:ln/>
        </p:spPr>
        <p:txBody>
          <a:bodyPr wrap="square" lIns="0" tIns="0" rIns="0" bIns="0" rtlCol="0" anchor="ctr"/>
          <a:lstStyle/>
          <a:p>
            <a:pPr marL="0" indent="0" algn="ctr">
              <a:buNone/>
              <a:defRPr/>
            </a:pPr>
            <a:r>
              <a:rPr lang="en-US" sz="1400" b="1">
                <a:solidFill>
                  <a:schemeClr val="tx2"/>
                </a:solidFill>
              </a:rPr>
              <a:t>Top-left: 1·1 + 1·0 + 1·1 + 0·0 + 1·1 + 1·0 + 0·1 + 0·0 + 1·1 = 4</a:t>
            </a:r>
            <a:endParaRPr lang="en-US" sz="1400"/>
          </a:p>
        </p:txBody>
      </p:sp>
      <p:sp>
        <p:nvSpPr>
          <p:cNvPr id="1281336950" name="text-353"/>
          <p:cNvSpPr txBox="1"/>
          <p:nvPr/>
        </p:nvSpPr>
        <p:spPr bwMode="auto">
          <a:xfrm>
            <a:off x="6492240" y="1463040"/>
            <a:ext cx="2194560" cy="2743200"/>
          </a:xfrm>
          <a:prstGeom prst="rect">
            <a:avLst/>
          </a:prstGeom>
          <a:noFill/>
          <a:ln/>
        </p:spPr>
        <p:txBody>
          <a:bodyPr wrap="square" lIns="0" tIns="0" rIns="0" bIns="0" rtlCol="0" anchor="t"/>
          <a:lstStyle/>
          <a:p>
            <a:pPr marL="177800" indent="-177800">
              <a:spcAft>
                <a:spcPts val="1200"/>
              </a:spcAft>
              <a:buSzPct val="100000"/>
              <a:buChar char="•"/>
              <a:defRPr/>
            </a:pPr>
            <a:r>
              <a:rPr lang="en-US" sz="1400">
                <a:solidFill>
                  <a:schemeClr val="tx1"/>
                </a:solidFill>
              </a:rPr>
              <a:t>Slide the filter across the image: multiply, add, repeat.</a:t>
            </a:r>
            <a:endParaRPr lang="en-US" sz="1400"/>
          </a:p>
          <a:p>
            <a:pPr marL="177800" indent="-177800">
              <a:spcAft>
                <a:spcPts val="1200"/>
              </a:spcAft>
              <a:buSzPct val="100000"/>
              <a:buChar char="•"/>
              <a:defRPr/>
            </a:pPr>
            <a:r>
              <a:rPr lang="en-US" sz="1400">
                <a:solidFill>
                  <a:schemeClr val="tx1"/>
                </a:solidFill>
              </a:rPr>
              <a:t>Filters detect edges, textures and shapes.</a:t>
            </a:r>
            <a:endParaRPr lang="en-US" sz="1400"/>
          </a:p>
          <a:p>
            <a:pPr marL="177800" indent="-177800">
              <a:spcAft>
                <a:spcPts val="1200"/>
              </a:spcAft>
              <a:buSzPct val="100000"/>
              <a:buChar char="•"/>
              <a:defRPr/>
            </a:pPr>
            <a:r>
              <a:rPr lang="en-US" sz="1400">
                <a:solidFill>
                  <a:schemeClr val="tx1"/>
                </a:solidFill>
              </a:rPr>
              <a:t>Many filters give many feature maps.</a:t>
            </a:r>
            <a:endParaRPr lang="en-US" sz="1400"/>
          </a:p>
        </p:txBody>
      </p:sp>
      <p:sp>
        <p:nvSpPr>
          <p:cNvPr id="800102452" name="Slide Number Placeholder 0"/>
          <p:cNvSpPr>
            <a:spLocks noGrp="1"/>
          </p:cNvSpPr>
          <p:nvPr>
            <p:ph type="sldNum" sz="quarter" idx="4294967295"/>
          </p:nvPr>
        </p:nvSpPr>
        <p:spPr bwMode="auto">
          <a:xfrm>
            <a:off x="8229600" y="4800600"/>
            <a:ext cx="457200" cy="228600"/>
          </a:xfrm>
          <a:prstGeom prst="rect">
            <a:avLst/>
          </a:prstGeom>
        </p:spPr>
        <p:txBody>
          <a:bodyPr/>
          <a:lstStyle>
            <a:lvl1pPr>
              <a:defRPr sz="1000">
                <a:solidFill>
                  <a:schemeClr val="accent5"/>
                </a:solidFill>
              </a:defRPr>
            </a:lvl1pPr>
          </a:lstStyle>
          <a:p>
            <a:pPr algn="r">
              <a:defRPr/>
            </a:pPr>
            <a:fld id="{F7021451-1387-4CA6-816F-3879F97B5CBC}" type="slidenum">
              <a:rPr lang="en-US" b="0"/>
              <a:t>14</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5">
    <p:spTree>
      <p:nvGrpSpPr>
        <p:cNvPr id="1" name=""/>
        <p:cNvGrpSpPr/>
        <p:nvPr/>
      </p:nvGrpSpPr>
      <p:grpSpPr bwMode="auto">
        <a:xfrm>
          <a:off x="0" y="0"/>
          <a:ext cx="0" cy="0"/>
          <a:chOff x="0" y="0"/>
          <a:chExt cx="0" cy="0"/>
        </a:xfrm>
      </p:grpSpPr>
      <p:sp>
        <p:nvSpPr>
          <p:cNvPr id="657715433" name="text-354"/>
          <p:cNvSpPr txBox="1"/>
          <p:nvPr/>
        </p:nvSpPr>
        <p:spPr bwMode="auto">
          <a:xfrm>
            <a:off x="822960" y="914400"/>
            <a:ext cx="2743200" cy="1097280"/>
          </a:xfrm>
          <a:prstGeom prst="rect">
            <a:avLst/>
          </a:prstGeom>
          <a:noFill/>
          <a:ln/>
        </p:spPr>
        <p:txBody>
          <a:bodyPr wrap="square" lIns="0" tIns="0" rIns="0" bIns="0" rtlCol="0" anchor="t"/>
          <a:lstStyle/>
          <a:p>
            <a:pPr marL="0" indent="0">
              <a:buNone/>
              <a:defRPr/>
            </a:pPr>
            <a:r>
              <a:rPr lang="en-US" sz="7200" b="1">
                <a:solidFill>
                  <a:schemeClr val="accent2"/>
                </a:solidFill>
              </a:rPr>
              <a:t>03</a:t>
            </a:r>
            <a:endParaRPr lang="en-US" sz="7200"/>
          </a:p>
        </p:txBody>
      </p:sp>
      <p:sp>
        <p:nvSpPr>
          <p:cNvPr id="1686632261" name="text-355"/>
          <p:cNvSpPr txBox="1"/>
          <p:nvPr/>
        </p:nvSpPr>
        <p:spPr bwMode="auto">
          <a:xfrm>
            <a:off x="822960" y="2011680"/>
            <a:ext cx="5669280" cy="1188720"/>
          </a:xfrm>
          <a:prstGeom prst="rect">
            <a:avLst/>
          </a:prstGeom>
          <a:noFill/>
          <a:ln/>
        </p:spPr>
        <p:txBody>
          <a:bodyPr wrap="square" lIns="0" tIns="0" rIns="0" bIns="0" rtlCol="0" anchor="b"/>
          <a:lstStyle/>
          <a:p>
            <a:pPr marL="0" indent="0">
              <a:buNone/>
              <a:defRPr/>
            </a:pPr>
            <a:r>
              <a:rPr lang="en-US" sz="3600" b="1">
                <a:solidFill>
                  <a:schemeClr val="bg1"/>
                </a:solidFill>
                <a:latin typeface="Cambria"/>
                <a:ea typeface="Cambria"/>
                <a:cs typeface="Cambria"/>
              </a:rPr>
              <a:t>Generative AI</a:t>
            </a:r>
            <a:endParaRPr lang="en-US" sz="3600"/>
          </a:p>
        </p:txBody>
      </p:sp>
      <p:sp>
        <p:nvSpPr>
          <p:cNvPr id="51740252" name="text-356"/>
          <p:cNvSpPr txBox="1"/>
          <p:nvPr/>
        </p:nvSpPr>
        <p:spPr bwMode="auto">
          <a:xfrm>
            <a:off x="822960" y="3383280"/>
            <a:ext cx="5486400" cy="822960"/>
          </a:xfrm>
          <a:prstGeom prst="rect">
            <a:avLst/>
          </a:prstGeom>
          <a:noFill/>
          <a:ln/>
        </p:spPr>
        <p:txBody>
          <a:bodyPr wrap="square" lIns="0" tIns="0" rIns="0" bIns="0" rtlCol="0" anchor="t"/>
          <a:lstStyle/>
          <a:p>
            <a:pPr marL="0" indent="0">
              <a:buNone/>
              <a:defRPr/>
            </a:pPr>
            <a:r>
              <a:rPr lang="en-US" sz="1800">
                <a:solidFill>
                  <a:schemeClr val="bg2"/>
                </a:solidFill>
              </a:rPr>
              <a:t>Models that create new text, images, audio and code</a:t>
            </a:r>
            <a:endParaRPr lang="en-US" sz="1800"/>
          </a:p>
        </p:txBody>
      </p:sp>
      <p:sp>
        <p:nvSpPr>
          <p:cNvPr id="1414848016" name="circle-357"/>
          <p:cNvSpPr/>
          <p:nvPr/>
        </p:nvSpPr>
        <p:spPr bwMode="auto">
          <a:xfrm>
            <a:off x="6766560" y="1371600"/>
            <a:ext cx="1737360" cy="1737360"/>
          </a:xfrm>
          <a:prstGeom prst="ellipse">
            <a:avLst/>
          </a:prstGeom>
          <a:solidFill>
            <a:srgbClr val="0B8478"/>
          </a:solidFill>
          <a:ln w="12700">
            <a:solidFill>
              <a:srgbClr val="0B8478"/>
            </a:solidFill>
            <a:prstDash val="solid"/>
          </a:ln>
        </p:spPr>
      </p:sp>
      <p:pic>
        <p:nvPicPr>
          <p:cNvPr id="85796342" name="icon-358" descr="preencoded.png"/>
          <p:cNvPicPr>
            <a:picLocks noChangeAspect="1"/>
          </p:cNvPicPr>
          <p:nvPr/>
        </p:nvPicPr>
        <p:blipFill rotWithShape="1">
          <a:blip r:embed="rId3"/>
          <a:stretch/>
        </p:blipFill>
        <p:spPr bwMode="auto">
          <a:xfrm>
            <a:off x="7223760" y="1828800"/>
            <a:ext cx="822960" cy="82296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6">
    <p:spTree>
      <p:nvGrpSpPr>
        <p:cNvPr id="1" name=""/>
        <p:cNvGrpSpPr/>
        <p:nvPr/>
      </p:nvGrpSpPr>
      <p:grpSpPr bwMode="auto">
        <a:xfrm>
          <a:off x="0" y="0"/>
          <a:ext cx="0" cy="0"/>
          <a:chOff x="0" y="0"/>
          <a:chExt cx="0" cy="0"/>
        </a:xfrm>
      </p:grpSpPr>
      <p:sp>
        <p:nvSpPr>
          <p:cNvPr id="1458339624" name="Text 0"/>
          <p:cNvSpPr/>
          <p:nvPr>
            <p:ph type="title" idx="100" hasCustomPrompt="1"/>
          </p:nvPr>
        </p:nvSpPr>
        <p:spPr bwMode="auto">
          <a:xfrm>
            <a:off x="457200" y="274320"/>
            <a:ext cx="8229600" cy="731520"/>
          </a:xfrm>
          <a:prstGeom prst="rect">
            <a:avLst/>
          </a:prstGeom>
          <a:noFill/>
          <a:ln/>
        </p:spPr>
        <p:txBody>
          <a:bodyPr wrap="square" lIns="0" tIns="0" rIns="0" bIns="0" rtlCol="0" anchor="ctr"/>
          <a:lstStyle/>
          <a:p>
            <a:pPr marL="0" indent="0" algn="l">
              <a:buNone/>
              <a:defRPr/>
            </a:pPr>
            <a:r>
              <a:rPr lang="en-US" sz="3000" b="1">
                <a:solidFill>
                  <a:schemeClr val="tx2"/>
                </a:solidFill>
              </a:rPr>
              <a:t>From predicting to creating</a:t>
            </a:r>
            <a:endParaRPr lang="en-US" sz="3000"/>
          </a:p>
        </p:txBody>
      </p:sp>
      <p:sp>
        <p:nvSpPr>
          <p:cNvPr id="1184780708" name="card-359"/>
          <p:cNvSpPr/>
          <p:nvPr/>
        </p:nvSpPr>
        <p:spPr bwMode="auto">
          <a:xfrm>
            <a:off x="457200" y="1234440"/>
            <a:ext cx="3977640" cy="2514600"/>
          </a:xfrm>
          <a:prstGeom prst="roundRect">
            <a:avLst>
              <a:gd name="adj" fmla="val 3636"/>
            </a:avLst>
          </a:prstGeom>
          <a:solidFill>
            <a:schemeClr val="bg2"/>
          </a:solidFill>
          <a:ln w="12700">
            <a:solidFill>
              <a:schemeClr val="bg2"/>
            </a:solidFill>
            <a:prstDash val="solid"/>
          </a:ln>
        </p:spPr>
      </p:sp>
      <p:sp>
        <p:nvSpPr>
          <p:cNvPr id="860026528" name="text-360"/>
          <p:cNvSpPr txBox="1"/>
          <p:nvPr/>
        </p:nvSpPr>
        <p:spPr bwMode="auto">
          <a:xfrm>
            <a:off x="685800" y="1371600"/>
            <a:ext cx="3474720" cy="365760"/>
          </a:xfrm>
          <a:prstGeom prst="rect">
            <a:avLst/>
          </a:prstGeom>
          <a:noFill/>
          <a:ln/>
        </p:spPr>
        <p:txBody>
          <a:bodyPr wrap="square" lIns="0" tIns="0" rIns="0" bIns="0" rtlCol="0" anchor="t"/>
          <a:lstStyle/>
          <a:p>
            <a:pPr marL="0" indent="0">
              <a:buNone/>
              <a:defRPr/>
            </a:pPr>
            <a:r>
              <a:rPr lang="en-US" sz="1800" b="1">
                <a:solidFill>
                  <a:srgbClr val="2F6FED"/>
                </a:solidFill>
              </a:rPr>
              <a:t>Discriminative AI</a:t>
            </a:r>
            <a:endParaRPr lang="en-US" sz="1800"/>
          </a:p>
        </p:txBody>
      </p:sp>
      <p:sp>
        <p:nvSpPr>
          <p:cNvPr id="607754684" name="box-361"/>
          <p:cNvSpPr/>
          <p:nvPr/>
        </p:nvSpPr>
        <p:spPr bwMode="auto">
          <a:xfrm>
            <a:off x="685800" y="2011680"/>
            <a:ext cx="914400" cy="594360"/>
          </a:xfrm>
          <a:prstGeom prst="roundRect">
            <a:avLst>
              <a:gd name="adj" fmla="val 12308"/>
            </a:avLst>
          </a:prstGeom>
          <a:solidFill>
            <a:srgbClr val="FFFFFF"/>
          </a:solidFill>
          <a:ln w="12700">
            <a:solidFill>
              <a:srgbClr val="FFFFFF"/>
            </a:solidFill>
            <a:prstDash val="solid"/>
          </a:ln>
        </p:spPr>
      </p:sp>
      <p:sp>
        <p:nvSpPr>
          <p:cNvPr id="886709903" name="text-362"/>
          <p:cNvSpPr txBox="1"/>
          <p:nvPr/>
        </p:nvSpPr>
        <p:spPr bwMode="auto">
          <a:xfrm>
            <a:off x="758952" y="2011680"/>
            <a:ext cx="768096" cy="594360"/>
          </a:xfrm>
          <a:prstGeom prst="rect">
            <a:avLst/>
          </a:prstGeom>
          <a:noFill/>
          <a:ln/>
        </p:spPr>
        <p:txBody>
          <a:bodyPr wrap="square" lIns="0" tIns="0" rIns="0" bIns="0" rtlCol="0" anchor="ctr"/>
          <a:lstStyle/>
          <a:p>
            <a:pPr marL="0" indent="0" algn="ctr">
              <a:buNone/>
              <a:defRPr/>
            </a:pPr>
            <a:r>
              <a:rPr lang="en-US" sz="1300" b="1">
                <a:solidFill>
                  <a:schemeClr val="tx1"/>
                </a:solidFill>
              </a:rPr>
              <a:t>Photo</a:t>
            </a:r>
            <a:endParaRPr lang="en-US" sz="1300"/>
          </a:p>
        </p:txBody>
      </p:sp>
      <p:sp>
        <p:nvSpPr>
          <p:cNvPr id="1664343863" name="box-363"/>
          <p:cNvSpPr/>
          <p:nvPr/>
        </p:nvSpPr>
        <p:spPr bwMode="auto">
          <a:xfrm>
            <a:off x="2011680" y="2011680"/>
            <a:ext cx="914400" cy="594360"/>
          </a:xfrm>
          <a:prstGeom prst="roundRect">
            <a:avLst>
              <a:gd name="adj" fmla="val 12308"/>
            </a:avLst>
          </a:prstGeom>
          <a:solidFill>
            <a:srgbClr val="2F6FED"/>
          </a:solidFill>
          <a:ln w="12700">
            <a:solidFill>
              <a:srgbClr val="2F6FED"/>
            </a:solidFill>
            <a:prstDash val="solid"/>
          </a:ln>
        </p:spPr>
      </p:sp>
      <p:sp>
        <p:nvSpPr>
          <p:cNvPr id="1038505287" name="text-364"/>
          <p:cNvSpPr txBox="1"/>
          <p:nvPr/>
        </p:nvSpPr>
        <p:spPr bwMode="auto">
          <a:xfrm>
            <a:off x="2084832" y="2011680"/>
            <a:ext cx="768096" cy="594360"/>
          </a:xfrm>
          <a:prstGeom prst="rect">
            <a:avLst/>
          </a:prstGeom>
          <a:noFill/>
          <a:ln/>
        </p:spPr>
        <p:txBody>
          <a:bodyPr wrap="square" lIns="0" tIns="0" rIns="0" bIns="0" rtlCol="0" anchor="ctr"/>
          <a:lstStyle/>
          <a:p>
            <a:pPr marL="0" indent="0" algn="ctr">
              <a:buNone/>
              <a:defRPr/>
            </a:pPr>
            <a:r>
              <a:rPr lang="en-US" sz="1300" b="1">
                <a:solidFill>
                  <a:schemeClr val="bg1"/>
                </a:solidFill>
              </a:rPr>
              <a:t>Model</a:t>
            </a:r>
            <a:endParaRPr lang="en-US" sz="1300"/>
          </a:p>
        </p:txBody>
      </p:sp>
      <p:sp>
        <p:nvSpPr>
          <p:cNvPr id="1194313293" name="box-365"/>
          <p:cNvSpPr/>
          <p:nvPr/>
        </p:nvSpPr>
        <p:spPr bwMode="auto">
          <a:xfrm>
            <a:off x="3337560" y="2011680"/>
            <a:ext cx="914400" cy="594360"/>
          </a:xfrm>
          <a:prstGeom prst="roundRect">
            <a:avLst>
              <a:gd name="adj" fmla="val 12308"/>
            </a:avLst>
          </a:prstGeom>
          <a:solidFill>
            <a:srgbClr val="FFFFFF"/>
          </a:solidFill>
          <a:ln w="12700">
            <a:solidFill>
              <a:srgbClr val="FFFFFF"/>
            </a:solidFill>
            <a:prstDash val="solid"/>
          </a:ln>
        </p:spPr>
      </p:sp>
      <p:sp>
        <p:nvSpPr>
          <p:cNvPr id="70607251" name="text-366"/>
          <p:cNvSpPr txBox="1"/>
          <p:nvPr/>
        </p:nvSpPr>
        <p:spPr bwMode="auto">
          <a:xfrm>
            <a:off x="3410712" y="2011680"/>
            <a:ext cx="768096" cy="594360"/>
          </a:xfrm>
          <a:prstGeom prst="rect">
            <a:avLst/>
          </a:prstGeom>
          <a:noFill/>
          <a:ln/>
        </p:spPr>
        <p:txBody>
          <a:bodyPr wrap="square" lIns="0" tIns="0" rIns="0" bIns="0" rtlCol="0" anchor="ctr"/>
          <a:lstStyle/>
          <a:p>
            <a:pPr marL="0" indent="0" algn="ctr">
              <a:buNone/>
              <a:defRPr/>
            </a:pPr>
            <a:r>
              <a:rPr lang="en-US" sz="1300" b="1">
                <a:solidFill>
                  <a:schemeClr val="tx1"/>
                </a:solidFill>
              </a:rPr>
              <a:t>“Cat”</a:t>
            </a:r>
            <a:endParaRPr lang="en-US" sz="1300"/>
          </a:p>
        </p:txBody>
      </p:sp>
      <p:sp>
        <p:nvSpPr>
          <p:cNvPr id="1445461312" name="arrow-367"/>
          <p:cNvSpPr/>
          <p:nvPr/>
        </p:nvSpPr>
        <p:spPr bwMode="auto">
          <a:xfrm>
            <a:off x="1618488" y="2308860"/>
            <a:ext cx="365760" cy="0"/>
          </a:xfrm>
          <a:prstGeom prst="line">
            <a:avLst/>
          </a:prstGeom>
          <a:noFill/>
          <a:ln w="25400">
            <a:solidFill>
              <a:schemeClr val="accent5"/>
            </a:solidFill>
            <a:prstDash val="solid"/>
            <a:tailEnd type="triangle"/>
          </a:ln>
        </p:spPr>
      </p:sp>
      <p:sp>
        <p:nvSpPr>
          <p:cNvPr id="841227346" name="arrow-368"/>
          <p:cNvSpPr/>
          <p:nvPr/>
        </p:nvSpPr>
        <p:spPr bwMode="auto">
          <a:xfrm>
            <a:off x="2944368" y="2308860"/>
            <a:ext cx="365760" cy="0"/>
          </a:xfrm>
          <a:prstGeom prst="line">
            <a:avLst/>
          </a:prstGeom>
          <a:noFill/>
          <a:ln w="25400">
            <a:solidFill>
              <a:schemeClr val="accent5"/>
            </a:solidFill>
            <a:prstDash val="solid"/>
            <a:tailEnd type="triangle"/>
          </a:ln>
        </p:spPr>
      </p:sp>
      <p:sp>
        <p:nvSpPr>
          <p:cNvPr id="462662533" name="text-369"/>
          <p:cNvSpPr txBox="1"/>
          <p:nvPr/>
        </p:nvSpPr>
        <p:spPr bwMode="auto">
          <a:xfrm>
            <a:off x="685800" y="2926080"/>
            <a:ext cx="3566160" cy="548640"/>
          </a:xfrm>
          <a:prstGeom prst="rect">
            <a:avLst/>
          </a:prstGeom>
          <a:noFill/>
          <a:ln/>
        </p:spPr>
        <p:txBody>
          <a:bodyPr wrap="square" lIns="0" tIns="0" rIns="0" bIns="0" rtlCol="0" anchor="t"/>
          <a:lstStyle/>
          <a:p>
            <a:pPr marL="0" indent="0">
              <a:buNone/>
              <a:defRPr/>
            </a:pPr>
            <a:r>
              <a:rPr lang="en-US" sz="1500" b="1">
                <a:solidFill>
                  <a:schemeClr val="tx2"/>
                </a:solidFill>
              </a:rPr>
              <a:t>Answers: what is this?</a:t>
            </a:r>
            <a:endParaRPr lang="en-US" sz="1500"/>
          </a:p>
        </p:txBody>
      </p:sp>
      <p:sp>
        <p:nvSpPr>
          <p:cNvPr id="785540308" name="card-370"/>
          <p:cNvSpPr/>
          <p:nvPr/>
        </p:nvSpPr>
        <p:spPr bwMode="auto">
          <a:xfrm>
            <a:off x="4709160" y="1234440"/>
            <a:ext cx="3977640" cy="2514600"/>
          </a:xfrm>
          <a:prstGeom prst="roundRect">
            <a:avLst>
              <a:gd name="adj" fmla="val 3636"/>
            </a:avLst>
          </a:prstGeom>
          <a:solidFill>
            <a:schemeClr val="bg2"/>
          </a:solidFill>
          <a:ln w="12700">
            <a:solidFill>
              <a:schemeClr val="bg2"/>
            </a:solidFill>
            <a:prstDash val="solid"/>
          </a:ln>
        </p:spPr>
      </p:sp>
      <p:sp>
        <p:nvSpPr>
          <p:cNvPr id="878131720" name="text-371"/>
          <p:cNvSpPr txBox="1"/>
          <p:nvPr/>
        </p:nvSpPr>
        <p:spPr bwMode="auto">
          <a:xfrm>
            <a:off x="4937760" y="1371600"/>
            <a:ext cx="3474720" cy="365760"/>
          </a:xfrm>
          <a:prstGeom prst="rect">
            <a:avLst/>
          </a:prstGeom>
          <a:noFill/>
          <a:ln/>
        </p:spPr>
        <p:txBody>
          <a:bodyPr wrap="square" lIns="0" tIns="0" rIns="0" bIns="0" rtlCol="0" anchor="t"/>
          <a:lstStyle/>
          <a:p>
            <a:pPr marL="0" indent="0">
              <a:buNone/>
              <a:defRPr/>
            </a:pPr>
            <a:r>
              <a:rPr lang="en-US" sz="1800" b="1">
                <a:solidFill>
                  <a:srgbClr val="0B8478"/>
                </a:solidFill>
              </a:rPr>
              <a:t>Generative AI</a:t>
            </a:r>
            <a:endParaRPr lang="en-US" sz="1800"/>
          </a:p>
        </p:txBody>
      </p:sp>
      <p:sp>
        <p:nvSpPr>
          <p:cNvPr id="8617963" name="box-372"/>
          <p:cNvSpPr/>
          <p:nvPr/>
        </p:nvSpPr>
        <p:spPr bwMode="auto">
          <a:xfrm>
            <a:off x="4937760" y="2011680"/>
            <a:ext cx="914400" cy="594360"/>
          </a:xfrm>
          <a:prstGeom prst="roundRect">
            <a:avLst>
              <a:gd name="adj" fmla="val 12308"/>
            </a:avLst>
          </a:prstGeom>
          <a:solidFill>
            <a:srgbClr val="FFFFFF"/>
          </a:solidFill>
          <a:ln w="12700">
            <a:solidFill>
              <a:srgbClr val="FFFFFF"/>
            </a:solidFill>
            <a:prstDash val="solid"/>
          </a:ln>
        </p:spPr>
      </p:sp>
      <p:sp>
        <p:nvSpPr>
          <p:cNvPr id="251329146" name="text-373"/>
          <p:cNvSpPr txBox="1"/>
          <p:nvPr/>
        </p:nvSpPr>
        <p:spPr bwMode="auto">
          <a:xfrm>
            <a:off x="5010912" y="2011680"/>
            <a:ext cx="768096" cy="594360"/>
          </a:xfrm>
          <a:prstGeom prst="rect">
            <a:avLst/>
          </a:prstGeom>
          <a:noFill/>
          <a:ln/>
        </p:spPr>
        <p:txBody>
          <a:bodyPr wrap="square" lIns="0" tIns="0" rIns="0" bIns="0" rtlCol="0" anchor="ctr"/>
          <a:lstStyle/>
          <a:p>
            <a:pPr marL="0" indent="0" algn="ctr">
              <a:buNone/>
              <a:defRPr/>
            </a:pPr>
            <a:r>
              <a:rPr lang="en-US" sz="1300" b="1">
                <a:solidFill>
                  <a:schemeClr val="tx1"/>
                </a:solidFill>
              </a:rPr>
              <a:t>Prompt</a:t>
            </a:r>
            <a:endParaRPr lang="en-US" sz="1300"/>
          </a:p>
        </p:txBody>
      </p:sp>
      <p:sp>
        <p:nvSpPr>
          <p:cNvPr id="2110524822" name="box-374"/>
          <p:cNvSpPr/>
          <p:nvPr/>
        </p:nvSpPr>
        <p:spPr bwMode="auto">
          <a:xfrm>
            <a:off x="6263640" y="2011680"/>
            <a:ext cx="914400" cy="594360"/>
          </a:xfrm>
          <a:prstGeom prst="roundRect">
            <a:avLst>
              <a:gd name="adj" fmla="val 12308"/>
            </a:avLst>
          </a:prstGeom>
          <a:solidFill>
            <a:srgbClr val="0B8478"/>
          </a:solidFill>
          <a:ln w="12700">
            <a:solidFill>
              <a:srgbClr val="0B8478"/>
            </a:solidFill>
            <a:prstDash val="solid"/>
          </a:ln>
        </p:spPr>
      </p:sp>
      <p:sp>
        <p:nvSpPr>
          <p:cNvPr id="1755715855" name="text-375"/>
          <p:cNvSpPr txBox="1"/>
          <p:nvPr/>
        </p:nvSpPr>
        <p:spPr bwMode="auto">
          <a:xfrm>
            <a:off x="6336792" y="2011680"/>
            <a:ext cx="768096" cy="594360"/>
          </a:xfrm>
          <a:prstGeom prst="rect">
            <a:avLst/>
          </a:prstGeom>
          <a:noFill/>
          <a:ln/>
        </p:spPr>
        <p:txBody>
          <a:bodyPr wrap="square" lIns="0" tIns="0" rIns="0" bIns="0" rtlCol="0" anchor="ctr"/>
          <a:lstStyle/>
          <a:p>
            <a:pPr marL="0" indent="0" algn="ctr">
              <a:buNone/>
              <a:defRPr/>
            </a:pPr>
            <a:r>
              <a:rPr lang="en-US" sz="1300" b="1">
                <a:solidFill>
                  <a:schemeClr val="bg1"/>
                </a:solidFill>
              </a:rPr>
              <a:t>Model</a:t>
            </a:r>
            <a:endParaRPr lang="en-US" sz="1300"/>
          </a:p>
        </p:txBody>
      </p:sp>
      <p:sp>
        <p:nvSpPr>
          <p:cNvPr id="813286635" name="box-376"/>
          <p:cNvSpPr/>
          <p:nvPr/>
        </p:nvSpPr>
        <p:spPr bwMode="auto">
          <a:xfrm>
            <a:off x="7589520" y="2011680"/>
            <a:ext cx="914400" cy="594360"/>
          </a:xfrm>
          <a:prstGeom prst="roundRect">
            <a:avLst>
              <a:gd name="adj" fmla="val 12308"/>
            </a:avLst>
          </a:prstGeom>
          <a:solidFill>
            <a:srgbClr val="FFFFFF"/>
          </a:solidFill>
          <a:ln w="12700">
            <a:solidFill>
              <a:srgbClr val="FFFFFF"/>
            </a:solidFill>
            <a:prstDash val="solid"/>
          </a:ln>
        </p:spPr>
      </p:sp>
      <p:sp>
        <p:nvSpPr>
          <p:cNvPr id="527040182" name="text-377"/>
          <p:cNvSpPr txBox="1"/>
          <p:nvPr/>
        </p:nvSpPr>
        <p:spPr bwMode="auto">
          <a:xfrm>
            <a:off x="7662672" y="2011680"/>
            <a:ext cx="768096" cy="594360"/>
          </a:xfrm>
          <a:prstGeom prst="rect">
            <a:avLst/>
          </a:prstGeom>
          <a:noFill/>
          <a:ln/>
        </p:spPr>
        <p:txBody>
          <a:bodyPr wrap="square" lIns="0" tIns="0" rIns="0" bIns="0" rtlCol="0" anchor="ctr"/>
          <a:lstStyle/>
          <a:p>
            <a:pPr marL="0" indent="0" algn="ctr">
              <a:buNone/>
              <a:defRPr/>
            </a:pPr>
            <a:r>
              <a:rPr lang="en-US" sz="1300" b="1">
                <a:solidFill>
                  <a:schemeClr val="tx1"/>
                </a:solidFill>
              </a:rPr>
              <a:t>New content</a:t>
            </a:r>
            <a:endParaRPr lang="en-US" sz="1300"/>
          </a:p>
        </p:txBody>
      </p:sp>
      <p:sp>
        <p:nvSpPr>
          <p:cNvPr id="1259673327" name="arrow-378"/>
          <p:cNvSpPr/>
          <p:nvPr/>
        </p:nvSpPr>
        <p:spPr bwMode="auto">
          <a:xfrm>
            <a:off x="5870448" y="2308860"/>
            <a:ext cx="365760" cy="0"/>
          </a:xfrm>
          <a:prstGeom prst="line">
            <a:avLst/>
          </a:prstGeom>
          <a:noFill/>
          <a:ln w="25400">
            <a:solidFill>
              <a:schemeClr val="accent5"/>
            </a:solidFill>
            <a:prstDash val="solid"/>
            <a:tailEnd type="triangle"/>
          </a:ln>
        </p:spPr>
      </p:sp>
      <p:sp>
        <p:nvSpPr>
          <p:cNvPr id="1183654753" name="arrow-379"/>
          <p:cNvSpPr/>
          <p:nvPr/>
        </p:nvSpPr>
        <p:spPr bwMode="auto">
          <a:xfrm>
            <a:off x="7196328" y="2308860"/>
            <a:ext cx="365760" cy="0"/>
          </a:xfrm>
          <a:prstGeom prst="line">
            <a:avLst/>
          </a:prstGeom>
          <a:noFill/>
          <a:ln w="25400">
            <a:solidFill>
              <a:schemeClr val="accent5"/>
            </a:solidFill>
            <a:prstDash val="solid"/>
            <a:tailEnd type="triangle"/>
          </a:ln>
        </p:spPr>
      </p:sp>
      <p:sp>
        <p:nvSpPr>
          <p:cNvPr id="337706667" name="text-380"/>
          <p:cNvSpPr txBox="1"/>
          <p:nvPr/>
        </p:nvSpPr>
        <p:spPr bwMode="auto">
          <a:xfrm>
            <a:off x="4937760" y="2926080"/>
            <a:ext cx="3566160" cy="548640"/>
          </a:xfrm>
          <a:prstGeom prst="rect">
            <a:avLst/>
          </a:prstGeom>
          <a:noFill/>
          <a:ln/>
        </p:spPr>
        <p:txBody>
          <a:bodyPr wrap="square" lIns="0" tIns="0" rIns="0" bIns="0" rtlCol="0" anchor="t"/>
          <a:lstStyle/>
          <a:p>
            <a:pPr marL="0" indent="0">
              <a:buNone/>
              <a:defRPr/>
            </a:pPr>
            <a:r>
              <a:rPr lang="en-US" sz="1500" b="1">
                <a:solidFill>
                  <a:schemeClr val="tx2"/>
                </a:solidFill>
              </a:rPr>
              <a:t>Answers: make something like this</a:t>
            </a:r>
            <a:endParaRPr lang="en-US" sz="1500"/>
          </a:p>
        </p:txBody>
      </p:sp>
      <p:sp>
        <p:nvSpPr>
          <p:cNvPr id="1380425299" name="text-381"/>
          <p:cNvSpPr txBox="1"/>
          <p:nvPr/>
        </p:nvSpPr>
        <p:spPr bwMode="auto">
          <a:xfrm>
            <a:off x="457200" y="4069080"/>
            <a:ext cx="1645920" cy="457200"/>
          </a:xfrm>
          <a:prstGeom prst="rect">
            <a:avLst/>
          </a:prstGeom>
          <a:noFill/>
          <a:ln/>
        </p:spPr>
        <p:txBody>
          <a:bodyPr wrap="square" lIns="0" tIns="0" rIns="0" bIns="0" rtlCol="0" anchor="ctr"/>
          <a:lstStyle/>
          <a:p>
            <a:pPr marL="0" indent="0">
              <a:buNone/>
              <a:defRPr/>
            </a:pPr>
            <a:r>
              <a:rPr lang="en-US" sz="1600" b="1">
                <a:solidFill>
                  <a:schemeClr val="tx2"/>
                </a:solidFill>
              </a:rPr>
              <a:t>Can generate</a:t>
            </a:r>
            <a:endParaRPr lang="en-US" sz="1600"/>
          </a:p>
        </p:txBody>
      </p:sp>
      <p:sp>
        <p:nvSpPr>
          <p:cNvPr id="1293161760" name="box-382"/>
          <p:cNvSpPr/>
          <p:nvPr/>
        </p:nvSpPr>
        <p:spPr bwMode="auto">
          <a:xfrm>
            <a:off x="2450592" y="4069080"/>
            <a:ext cx="868680" cy="457200"/>
          </a:xfrm>
          <a:prstGeom prst="roundRect">
            <a:avLst>
              <a:gd name="adj" fmla="val 16000"/>
            </a:avLst>
          </a:prstGeom>
          <a:solidFill>
            <a:srgbClr val="F1F5F9"/>
          </a:solidFill>
          <a:ln w="12700">
            <a:solidFill>
              <a:srgbClr val="F1F5F9"/>
            </a:solidFill>
            <a:prstDash val="solid"/>
          </a:ln>
        </p:spPr>
      </p:sp>
      <p:sp>
        <p:nvSpPr>
          <p:cNvPr id="1839270737" name="text-383"/>
          <p:cNvSpPr txBox="1"/>
          <p:nvPr/>
        </p:nvSpPr>
        <p:spPr bwMode="auto">
          <a:xfrm>
            <a:off x="2523744" y="4069080"/>
            <a:ext cx="722376" cy="457200"/>
          </a:xfrm>
          <a:prstGeom prst="rect">
            <a:avLst/>
          </a:prstGeom>
          <a:noFill/>
          <a:ln/>
        </p:spPr>
        <p:txBody>
          <a:bodyPr wrap="square" lIns="0" tIns="0" rIns="0" bIns="0" rtlCol="0" anchor="ctr"/>
          <a:lstStyle/>
          <a:p>
            <a:pPr marL="0" indent="0" algn="ctr">
              <a:buNone/>
              <a:defRPr/>
            </a:pPr>
            <a:r>
              <a:rPr lang="en-US" sz="1400" b="1">
                <a:solidFill>
                  <a:schemeClr val="tx1"/>
                </a:solidFill>
              </a:rPr>
              <a:t>Text</a:t>
            </a:r>
            <a:endParaRPr lang="en-US" sz="1400"/>
          </a:p>
        </p:txBody>
      </p:sp>
      <p:pic>
        <p:nvPicPr>
          <p:cNvPr id="848296159" name="icon-384" descr="preencoded.png"/>
          <p:cNvPicPr>
            <a:picLocks noChangeAspect="1"/>
          </p:cNvPicPr>
          <p:nvPr/>
        </p:nvPicPr>
        <p:blipFill rotWithShape="1">
          <a:blip r:embed="rId3"/>
          <a:stretch/>
        </p:blipFill>
        <p:spPr bwMode="auto">
          <a:xfrm>
            <a:off x="2176272" y="4178808"/>
            <a:ext cx="237744" cy="237744"/>
          </a:xfrm>
          <a:prstGeom prst="rect">
            <a:avLst/>
          </a:prstGeom>
        </p:spPr>
      </p:pic>
      <p:sp>
        <p:nvSpPr>
          <p:cNvPr id="1324538262" name="box-385"/>
          <p:cNvSpPr/>
          <p:nvPr/>
        </p:nvSpPr>
        <p:spPr bwMode="auto">
          <a:xfrm>
            <a:off x="3767328" y="4069080"/>
            <a:ext cx="868680" cy="457200"/>
          </a:xfrm>
          <a:prstGeom prst="roundRect">
            <a:avLst>
              <a:gd name="adj" fmla="val 16000"/>
            </a:avLst>
          </a:prstGeom>
          <a:solidFill>
            <a:srgbClr val="F1F5F9"/>
          </a:solidFill>
          <a:ln w="12700">
            <a:solidFill>
              <a:srgbClr val="F1F5F9"/>
            </a:solidFill>
            <a:prstDash val="solid"/>
          </a:ln>
        </p:spPr>
      </p:sp>
      <p:sp>
        <p:nvSpPr>
          <p:cNvPr id="1304831707" name="text-386"/>
          <p:cNvSpPr txBox="1"/>
          <p:nvPr/>
        </p:nvSpPr>
        <p:spPr bwMode="auto">
          <a:xfrm>
            <a:off x="3840480" y="4069080"/>
            <a:ext cx="722376" cy="457200"/>
          </a:xfrm>
          <a:prstGeom prst="rect">
            <a:avLst/>
          </a:prstGeom>
          <a:noFill/>
          <a:ln/>
        </p:spPr>
        <p:txBody>
          <a:bodyPr wrap="square" lIns="0" tIns="0" rIns="0" bIns="0" rtlCol="0" anchor="ctr"/>
          <a:lstStyle/>
          <a:p>
            <a:pPr marL="0" indent="0" algn="ctr">
              <a:buNone/>
              <a:defRPr/>
            </a:pPr>
            <a:r>
              <a:rPr lang="en-US" sz="1400" b="1">
                <a:solidFill>
                  <a:schemeClr val="tx1"/>
                </a:solidFill>
              </a:rPr>
              <a:t>Images</a:t>
            </a:r>
            <a:endParaRPr lang="en-US" sz="1400"/>
          </a:p>
        </p:txBody>
      </p:sp>
      <p:pic>
        <p:nvPicPr>
          <p:cNvPr id="682979078" name="icon-387" descr="preencoded.png"/>
          <p:cNvPicPr>
            <a:picLocks noChangeAspect="1"/>
          </p:cNvPicPr>
          <p:nvPr/>
        </p:nvPicPr>
        <p:blipFill rotWithShape="1">
          <a:blip r:embed="rId4"/>
          <a:stretch/>
        </p:blipFill>
        <p:spPr bwMode="auto">
          <a:xfrm>
            <a:off x="3493008" y="4178808"/>
            <a:ext cx="237744" cy="237744"/>
          </a:xfrm>
          <a:prstGeom prst="rect">
            <a:avLst/>
          </a:prstGeom>
        </p:spPr>
      </p:pic>
      <p:sp>
        <p:nvSpPr>
          <p:cNvPr id="1691016322" name="box-388"/>
          <p:cNvSpPr/>
          <p:nvPr/>
        </p:nvSpPr>
        <p:spPr bwMode="auto">
          <a:xfrm>
            <a:off x="5084064" y="4069080"/>
            <a:ext cx="868680" cy="457200"/>
          </a:xfrm>
          <a:prstGeom prst="roundRect">
            <a:avLst>
              <a:gd name="adj" fmla="val 16000"/>
            </a:avLst>
          </a:prstGeom>
          <a:solidFill>
            <a:srgbClr val="F1F5F9"/>
          </a:solidFill>
          <a:ln w="12700">
            <a:solidFill>
              <a:srgbClr val="F1F5F9"/>
            </a:solidFill>
            <a:prstDash val="solid"/>
          </a:ln>
        </p:spPr>
      </p:sp>
      <p:sp>
        <p:nvSpPr>
          <p:cNvPr id="478200859" name="text-389"/>
          <p:cNvSpPr txBox="1"/>
          <p:nvPr/>
        </p:nvSpPr>
        <p:spPr bwMode="auto">
          <a:xfrm>
            <a:off x="5157216" y="4069080"/>
            <a:ext cx="722376" cy="457200"/>
          </a:xfrm>
          <a:prstGeom prst="rect">
            <a:avLst/>
          </a:prstGeom>
          <a:noFill/>
          <a:ln/>
        </p:spPr>
        <p:txBody>
          <a:bodyPr wrap="square" lIns="0" tIns="0" rIns="0" bIns="0" rtlCol="0" anchor="ctr"/>
          <a:lstStyle/>
          <a:p>
            <a:pPr marL="0" indent="0" algn="ctr">
              <a:buNone/>
              <a:defRPr/>
            </a:pPr>
            <a:r>
              <a:rPr lang="en-US" sz="1400" b="1">
                <a:solidFill>
                  <a:schemeClr val="tx1"/>
                </a:solidFill>
              </a:rPr>
              <a:t>Code</a:t>
            </a:r>
            <a:endParaRPr lang="en-US" sz="1400"/>
          </a:p>
        </p:txBody>
      </p:sp>
      <p:pic>
        <p:nvPicPr>
          <p:cNvPr id="1898006646" name="icon-390" descr="preencoded.png"/>
          <p:cNvPicPr>
            <a:picLocks noChangeAspect="1"/>
          </p:cNvPicPr>
          <p:nvPr/>
        </p:nvPicPr>
        <p:blipFill rotWithShape="1">
          <a:blip r:embed="rId5"/>
          <a:stretch/>
        </p:blipFill>
        <p:spPr bwMode="auto">
          <a:xfrm>
            <a:off x="4809744" y="4178808"/>
            <a:ext cx="237744" cy="237744"/>
          </a:xfrm>
          <a:prstGeom prst="rect">
            <a:avLst/>
          </a:prstGeom>
        </p:spPr>
      </p:pic>
      <p:sp>
        <p:nvSpPr>
          <p:cNvPr id="1043766646" name="box-391"/>
          <p:cNvSpPr/>
          <p:nvPr/>
        </p:nvSpPr>
        <p:spPr bwMode="auto">
          <a:xfrm>
            <a:off x="6400800" y="4069080"/>
            <a:ext cx="868680" cy="457200"/>
          </a:xfrm>
          <a:prstGeom prst="roundRect">
            <a:avLst>
              <a:gd name="adj" fmla="val 16000"/>
            </a:avLst>
          </a:prstGeom>
          <a:solidFill>
            <a:srgbClr val="F1F5F9"/>
          </a:solidFill>
          <a:ln w="12700">
            <a:solidFill>
              <a:srgbClr val="F1F5F9"/>
            </a:solidFill>
            <a:prstDash val="solid"/>
          </a:ln>
        </p:spPr>
      </p:sp>
      <p:sp>
        <p:nvSpPr>
          <p:cNvPr id="1023522051" name="text-392"/>
          <p:cNvSpPr txBox="1"/>
          <p:nvPr/>
        </p:nvSpPr>
        <p:spPr bwMode="auto">
          <a:xfrm>
            <a:off x="6473952" y="4069080"/>
            <a:ext cx="722376" cy="457200"/>
          </a:xfrm>
          <a:prstGeom prst="rect">
            <a:avLst/>
          </a:prstGeom>
          <a:noFill/>
          <a:ln/>
        </p:spPr>
        <p:txBody>
          <a:bodyPr wrap="square" lIns="0" tIns="0" rIns="0" bIns="0" rtlCol="0" anchor="ctr"/>
          <a:lstStyle/>
          <a:p>
            <a:pPr marL="0" indent="0" algn="ctr">
              <a:buNone/>
              <a:defRPr/>
            </a:pPr>
            <a:r>
              <a:rPr lang="en-US" sz="1400" b="1">
                <a:solidFill>
                  <a:schemeClr val="tx1"/>
                </a:solidFill>
              </a:rPr>
              <a:t>Audio</a:t>
            </a:r>
            <a:endParaRPr lang="en-US" sz="1400"/>
          </a:p>
        </p:txBody>
      </p:sp>
      <p:pic>
        <p:nvPicPr>
          <p:cNvPr id="1790433204" name="icon-393" descr="preencoded.png"/>
          <p:cNvPicPr>
            <a:picLocks noChangeAspect="1"/>
          </p:cNvPicPr>
          <p:nvPr/>
        </p:nvPicPr>
        <p:blipFill rotWithShape="1">
          <a:blip r:embed="rId6"/>
          <a:stretch/>
        </p:blipFill>
        <p:spPr bwMode="auto">
          <a:xfrm>
            <a:off x="6126480" y="4178808"/>
            <a:ext cx="237744" cy="237744"/>
          </a:xfrm>
          <a:prstGeom prst="rect">
            <a:avLst/>
          </a:prstGeom>
        </p:spPr>
      </p:pic>
      <p:sp>
        <p:nvSpPr>
          <p:cNvPr id="88389265" name="box-394"/>
          <p:cNvSpPr/>
          <p:nvPr/>
        </p:nvSpPr>
        <p:spPr bwMode="auto">
          <a:xfrm>
            <a:off x="7717536" y="4069080"/>
            <a:ext cx="868680" cy="457200"/>
          </a:xfrm>
          <a:prstGeom prst="roundRect">
            <a:avLst>
              <a:gd name="adj" fmla="val 16000"/>
            </a:avLst>
          </a:prstGeom>
          <a:solidFill>
            <a:srgbClr val="F1F5F9"/>
          </a:solidFill>
          <a:ln w="12700">
            <a:solidFill>
              <a:srgbClr val="F1F5F9"/>
            </a:solidFill>
            <a:prstDash val="solid"/>
          </a:ln>
        </p:spPr>
      </p:sp>
      <p:sp>
        <p:nvSpPr>
          <p:cNvPr id="599142786" name="text-395"/>
          <p:cNvSpPr txBox="1"/>
          <p:nvPr/>
        </p:nvSpPr>
        <p:spPr bwMode="auto">
          <a:xfrm>
            <a:off x="7790687" y="4069080"/>
            <a:ext cx="722376" cy="457200"/>
          </a:xfrm>
          <a:prstGeom prst="rect">
            <a:avLst/>
          </a:prstGeom>
          <a:noFill/>
          <a:ln/>
        </p:spPr>
        <p:txBody>
          <a:bodyPr wrap="square" lIns="0" tIns="0" rIns="0" bIns="0" rtlCol="0" anchor="ctr"/>
          <a:lstStyle/>
          <a:p>
            <a:pPr marL="0" indent="0" algn="ctr">
              <a:buNone/>
              <a:defRPr/>
            </a:pPr>
            <a:r>
              <a:rPr lang="en-US" sz="1400" b="1">
                <a:solidFill>
                  <a:schemeClr val="tx1"/>
                </a:solidFill>
              </a:rPr>
              <a:t>Video</a:t>
            </a:r>
            <a:endParaRPr lang="en-US" sz="1400"/>
          </a:p>
        </p:txBody>
      </p:sp>
      <p:pic>
        <p:nvPicPr>
          <p:cNvPr id="1800191916" name="icon-396" descr="preencoded.png"/>
          <p:cNvPicPr>
            <a:picLocks noChangeAspect="1"/>
          </p:cNvPicPr>
          <p:nvPr/>
        </p:nvPicPr>
        <p:blipFill rotWithShape="1">
          <a:blip r:embed="rId7"/>
          <a:stretch/>
        </p:blipFill>
        <p:spPr bwMode="auto">
          <a:xfrm>
            <a:off x="7443216" y="4178808"/>
            <a:ext cx="237744" cy="237744"/>
          </a:xfrm>
          <a:prstGeom prst="rect">
            <a:avLst/>
          </a:prstGeom>
        </p:spPr>
      </p:pic>
      <p:sp>
        <p:nvSpPr>
          <p:cNvPr id="1022581127" name="Slide Number Placeholder 0"/>
          <p:cNvSpPr>
            <a:spLocks noGrp="1"/>
          </p:cNvSpPr>
          <p:nvPr>
            <p:ph type="sldNum" sz="quarter" idx="4294967295"/>
          </p:nvPr>
        </p:nvSpPr>
        <p:spPr bwMode="auto">
          <a:xfrm>
            <a:off x="8229600" y="4800600"/>
            <a:ext cx="457200" cy="228600"/>
          </a:xfrm>
          <a:prstGeom prst="rect">
            <a:avLst/>
          </a:prstGeom>
        </p:spPr>
        <p:txBody>
          <a:bodyPr/>
          <a:lstStyle>
            <a:lvl1pPr>
              <a:defRPr sz="1000">
                <a:solidFill>
                  <a:schemeClr val="accent5"/>
                </a:solidFill>
              </a:defRPr>
            </a:lvl1pPr>
          </a:lstStyle>
          <a:p>
            <a:pPr algn="r">
              <a:defRPr/>
            </a:pPr>
            <a:fld id="{F7021451-1387-4CA6-816F-3879F97B5CBC}" type="slidenum">
              <a:rPr lang="en-US" b="0"/>
              <a:t>16</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7">
    <p:spTree>
      <p:nvGrpSpPr>
        <p:cNvPr id="1" name=""/>
        <p:cNvGrpSpPr/>
        <p:nvPr/>
      </p:nvGrpSpPr>
      <p:grpSpPr bwMode="auto">
        <a:xfrm>
          <a:off x="0" y="0"/>
          <a:ext cx="0" cy="0"/>
          <a:chOff x="0" y="0"/>
          <a:chExt cx="0" cy="0"/>
        </a:xfrm>
      </p:grpSpPr>
      <p:sp>
        <p:nvSpPr>
          <p:cNvPr id="201266388" name="Text 0"/>
          <p:cNvSpPr/>
          <p:nvPr>
            <p:ph type="title" idx="100" hasCustomPrompt="1"/>
          </p:nvPr>
        </p:nvSpPr>
        <p:spPr bwMode="auto">
          <a:xfrm>
            <a:off x="457200" y="274320"/>
            <a:ext cx="8229600" cy="731520"/>
          </a:xfrm>
          <a:prstGeom prst="rect">
            <a:avLst/>
          </a:prstGeom>
          <a:noFill/>
          <a:ln/>
        </p:spPr>
        <p:txBody>
          <a:bodyPr wrap="square" lIns="0" tIns="0" rIns="0" bIns="0" rtlCol="0" anchor="ctr"/>
          <a:lstStyle/>
          <a:p>
            <a:pPr marL="0" indent="0" algn="l">
              <a:buNone/>
              <a:defRPr/>
            </a:pPr>
            <a:r>
              <a:rPr lang="en-US" sz="3000" b="1">
                <a:solidFill>
                  <a:schemeClr val="tx2"/>
                </a:solidFill>
              </a:rPr>
              <a:t>Main families of generative models</a:t>
            </a:r>
            <a:endParaRPr lang="en-US" sz="3000"/>
          </a:p>
        </p:txBody>
      </p:sp>
      <p:sp>
        <p:nvSpPr>
          <p:cNvPr id="1210155030" name="card-397"/>
          <p:cNvSpPr/>
          <p:nvPr/>
        </p:nvSpPr>
        <p:spPr bwMode="auto">
          <a:xfrm>
            <a:off x="457200" y="1234440"/>
            <a:ext cx="2606040" cy="3108960"/>
          </a:xfrm>
          <a:prstGeom prst="roundRect">
            <a:avLst>
              <a:gd name="adj" fmla="val 3509"/>
            </a:avLst>
          </a:prstGeom>
          <a:solidFill>
            <a:schemeClr val="bg2"/>
          </a:solidFill>
          <a:ln w="12700">
            <a:solidFill>
              <a:schemeClr val="bg2"/>
            </a:solidFill>
            <a:prstDash val="solid"/>
          </a:ln>
        </p:spPr>
      </p:sp>
      <p:sp>
        <p:nvSpPr>
          <p:cNvPr id="1417425084" name="circle-398"/>
          <p:cNvSpPr/>
          <p:nvPr/>
        </p:nvSpPr>
        <p:spPr bwMode="auto">
          <a:xfrm>
            <a:off x="685800" y="1417320"/>
            <a:ext cx="502920" cy="502920"/>
          </a:xfrm>
          <a:prstGeom prst="ellipse">
            <a:avLst/>
          </a:prstGeom>
          <a:solidFill>
            <a:srgbClr val="5B5BD6"/>
          </a:solidFill>
          <a:ln w="12700">
            <a:solidFill>
              <a:srgbClr val="5B5BD6"/>
            </a:solidFill>
            <a:prstDash val="solid"/>
          </a:ln>
        </p:spPr>
      </p:sp>
      <p:pic>
        <p:nvPicPr>
          <p:cNvPr id="385588024" name="icon-399" descr="preencoded.png"/>
          <p:cNvPicPr>
            <a:picLocks noChangeAspect="1"/>
          </p:cNvPicPr>
          <p:nvPr/>
        </p:nvPicPr>
        <p:blipFill rotWithShape="1">
          <a:blip r:embed="rId3"/>
          <a:stretch/>
        </p:blipFill>
        <p:spPr bwMode="auto">
          <a:xfrm>
            <a:off x="826618" y="1558138"/>
            <a:ext cx="221285" cy="221285"/>
          </a:xfrm>
          <a:prstGeom prst="rect">
            <a:avLst/>
          </a:prstGeom>
        </p:spPr>
      </p:pic>
      <p:sp>
        <p:nvSpPr>
          <p:cNvPr id="301353314" name="text-400"/>
          <p:cNvSpPr txBox="1"/>
          <p:nvPr/>
        </p:nvSpPr>
        <p:spPr bwMode="auto">
          <a:xfrm>
            <a:off x="1325880" y="1417320"/>
            <a:ext cx="1645920" cy="502920"/>
          </a:xfrm>
          <a:prstGeom prst="rect">
            <a:avLst/>
          </a:prstGeom>
          <a:noFill/>
          <a:ln/>
        </p:spPr>
        <p:txBody>
          <a:bodyPr wrap="square" lIns="0" tIns="0" rIns="0" bIns="0" rtlCol="0" anchor="ctr"/>
          <a:lstStyle/>
          <a:p>
            <a:pPr marL="0" indent="0">
              <a:buNone/>
              <a:defRPr/>
            </a:pPr>
            <a:r>
              <a:rPr lang="en-US" sz="1500" b="1">
                <a:solidFill>
                  <a:schemeClr val="tx1"/>
                </a:solidFill>
              </a:rPr>
              <a:t>Large language models</a:t>
            </a:r>
            <a:endParaRPr lang="en-US" sz="1500"/>
          </a:p>
        </p:txBody>
      </p:sp>
      <p:sp>
        <p:nvSpPr>
          <p:cNvPr id="1482717658" name="text-401"/>
          <p:cNvSpPr txBox="1"/>
          <p:nvPr/>
        </p:nvSpPr>
        <p:spPr bwMode="auto">
          <a:xfrm>
            <a:off x="685800" y="2103120"/>
            <a:ext cx="2194560" cy="2423160"/>
          </a:xfrm>
          <a:prstGeom prst="rect">
            <a:avLst/>
          </a:prstGeom>
          <a:noFill/>
          <a:ln/>
        </p:spPr>
        <p:txBody>
          <a:bodyPr wrap="square" lIns="0" tIns="0" rIns="0" bIns="0" rtlCol="0" anchor="t"/>
          <a:lstStyle/>
          <a:p>
            <a:pPr marL="0" indent="0">
              <a:spcAft>
                <a:spcPts val="400"/>
              </a:spcAft>
              <a:buNone/>
              <a:defRPr/>
            </a:pPr>
            <a:r>
              <a:rPr lang="en-US" sz="1400">
                <a:solidFill>
                  <a:schemeClr val="tx1"/>
                </a:solidFill>
              </a:rPr>
              <a:t>Learn to predict the next token (word piece) in text.</a:t>
            </a:r>
            <a:endParaRPr lang="en-US" sz="1400"/>
          </a:p>
          <a:p>
            <a:pPr marL="0" indent="0">
              <a:spcAft>
                <a:spcPts val="400"/>
              </a:spcAft>
              <a:buNone/>
              <a:defRPr/>
            </a:pPr>
            <a:r>
              <a:rPr lang="en-US" sz="1400" b="1">
                <a:solidFill>
                  <a:schemeClr val="accent5"/>
                </a:solidFill>
              </a:rPr>
              <a:t>Used for</a:t>
            </a:r>
            <a:endParaRPr lang="en-US" sz="1400"/>
          </a:p>
          <a:p>
            <a:pPr marL="0" indent="0">
              <a:spcAft>
                <a:spcPts val="400"/>
              </a:spcAft>
              <a:buNone/>
              <a:defRPr/>
            </a:pPr>
            <a:r>
              <a:rPr lang="en-US" sz="1400">
                <a:solidFill>
                  <a:schemeClr val="tx1"/>
                </a:solidFill>
              </a:rPr>
              <a:t>Chat, writing, coding, summarising</a:t>
            </a:r>
            <a:endParaRPr lang="en-US" sz="1400"/>
          </a:p>
          <a:p>
            <a:pPr marL="0" indent="0">
              <a:spcAft>
                <a:spcPts val="400"/>
              </a:spcAft>
              <a:buNone/>
              <a:defRPr/>
            </a:pPr>
            <a:r>
              <a:rPr lang="en-US" sz="1400" b="1">
                <a:solidFill>
                  <a:schemeClr val="accent5"/>
                </a:solidFill>
              </a:rPr>
              <a:t>Examples</a:t>
            </a:r>
            <a:endParaRPr lang="en-US" sz="1400"/>
          </a:p>
          <a:p>
            <a:pPr marL="0" indent="0">
              <a:spcAft>
                <a:spcPts val="400"/>
              </a:spcAft>
              <a:buNone/>
              <a:defRPr/>
            </a:pPr>
            <a:r>
              <a:rPr lang="en-US" sz="1400">
                <a:solidFill>
                  <a:schemeClr val="tx1"/>
                </a:solidFill>
              </a:rPr>
              <a:t>ChatGPT, Claude, Gemini</a:t>
            </a:r>
            <a:endParaRPr lang="en-US" sz="1400"/>
          </a:p>
        </p:txBody>
      </p:sp>
      <p:sp>
        <p:nvSpPr>
          <p:cNvPr id="902741919" name="card-402"/>
          <p:cNvSpPr/>
          <p:nvPr/>
        </p:nvSpPr>
        <p:spPr bwMode="auto">
          <a:xfrm>
            <a:off x="3268980" y="1234440"/>
            <a:ext cx="2606040" cy="3108960"/>
          </a:xfrm>
          <a:prstGeom prst="roundRect">
            <a:avLst>
              <a:gd name="adj" fmla="val 3509"/>
            </a:avLst>
          </a:prstGeom>
          <a:solidFill>
            <a:schemeClr val="bg2"/>
          </a:solidFill>
          <a:ln w="12700">
            <a:solidFill>
              <a:schemeClr val="bg2"/>
            </a:solidFill>
            <a:prstDash val="solid"/>
          </a:ln>
        </p:spPr>
      </p:sp>
      <p:sp>
        <p:nvSpPr>
          <p:cNvPr id="1689877497" name="circle-403"/>
          <p:cNvSpPr/>
          <p:nvPr/>
        </p:nvSpPr>
        <p:spPr bwMode="auto">
          <a:xfrm>
            <a:off x="3497580" y="1417320"/>
            <a:ext cx="502920" cy="502920"/>
          </a:xfrm>
          <a:prstGeom prst="ellipse">
            <a:avLst/>
          </a:prstGeom>
          <a:solidFill>
            <a:srgbClr val="0B8478"/>
          </a:solidFill>
          <a:ln w="12700">
            <a:solidFill>
              <a:srgbClr val="0B8478"/>
            </a:solidFill>
            <a:prstDash val="solid"/>
          </a:ln>
        </p:spPr>
      </p:sp>
      <p:pic>
        <p:nvPicPr>
          <p:cNvPr id="1798274973" name="icon-404" descr="preencoded.png"/>
          <p:cNvPicPr>
            <a:picLocks noChangeAspect="1"/>
          </p:cNvPicPr>
          <p:nvPr/>
        </p:nvPicPr>
        <p:blipFill rotWithShape="1">
          <a:blip r:embed="rId4"/>
          <a:stretch/>
        </p:blipFill>
        <p:spPr bwMode="auto">
          <a:xfrm>
            <a:off x="3638398" y="1558138"/>
            <a:ext cx="221285" cy="221285"/>
          </a:xfrm>
          <a:prstGeom prst="rect">
            <a:avLst/>
          </a:prstGeom>
        </p:spPr>
      </p:pic>
      <p:sp>
        <p:nvSpPr>
          <p:cNvPr id="67499125" name="text-405"/>
          <p:cNvSpPr txBox="1"/>
          <p:nvPr/>
        </p:nvSpPr>
        <p:spPr bwMode="auto">
          <a:xfrm>
            <a:off x="4137660" y="1417320"/>
            <a:ext cx="1645920" cy="502920"/>
          </a:xfrm>
          <a:prstGeom prst="rect">
            <a:avLst/>
          </a:prstGeom>
          <a:noFill/>
          <a:ln/>
        </p:spPr>
        <p:txBody>
          <a:bodyPr wrap="square" lIns="0" tIns="0" rIns="0" bIns="0" rtlCol="0" anchor="ctr"/>
          <a:lstStyle/>
          <a:p>
            <a:pPr marL="0" indent="0">
              <a:buNone/>
              <a:defRPr/>
            </a:pPr>
            <a:r>
              <a:rPr lang="en-US" sz="1500" b="1">
                <a:solidFill>
                  <a:schemeClr val="tx1"/>
                </a:solidFill>
              </a:rPr>
              <a:t>Diffusion models</a:t>
            </a:r>
            <a:endParaRPr lang="en-US" sz="1500"/>
          </a:p>
        </p:txBody>
      </p:sp>
      <p:sp>
        <p:nvSpPr>
          <p:cNvPr id="1792085195" name="text-406"/>
          <p:cNvSpPr txBox="1"/>
          <p:nvPr/>
        </p:nvSpPr>
        <p:spPr bwMode="auto">
          <a:xfrm>
            <a:off x="3497580" y="2103120"/>
            <a:ext cx="2194560" cy="2423160"/>
          </a:xfrm>
          <a:prstGeom prst="rect">
            <a:avLst/>
          </a:prstGeom>
          <a:noFill/>
          <a:ln/>
        </p:spPr>
        <p:txBody>
          <a:bodyPr wrap="square" lIns="0" tIns="0" rIns="0" bIns="0" rtlCol="0" anchor="t"/>
          <a:lstStyle/>
          <a:p>
            <a:pPr marL="0" indent="0">
              <a:spcAft>
                <a:spcPts val="400"/>
              </a:spcAft>
              <a:buNone/>
              <a:defRPr/>
            </a:pPr>
            <a:r>
              <a:rPr lang="en-US" sz="1400">
                <a:solidFill>
                  <a:schemeClr val="tx1"/>
                </a:solidFill>
              </a:rPr>
              <a:t>Learn to turn random noise into an image, step by step.</a:t>
            </a:r>
            <a:endParaRPr lang="en-US" sz="1400"/>
          </a:p>
          <a:p>
            <a:pPr marL="0" indent="0">
              <a:spcAft>
                <a:spcPts val="400"/>
              </a:spcAft>
              <a:buNone/>
              <a:defRPr/>
            </a:pPr>
            <a:r>
              <a:rPr lang="en-US" sz="1400" b="1">
                <a:solidFill>
                  <a:schemeClr val="accent5"/>
                </a:solidFill>
              </a:rPr>
              <a:t>Used for</a:t>
            </a:r>
            <a:endParaRPr lang="en-US" sz="1400"/>
          </a:p>
          <a:p>
            <a:pPr marL="0" indent="0">
              <a:spcAft>
                <a:spcPts val="400"/>
              </a:spcAft>
              <a:buNone/>
              <a:defRPr/>
            </a:pPr>
            <a:r>
              <a:rPr lang="en-US" sz="1400">
                <a:solidFill>
                  <a:schemeClr val="tx1"/>
                </a:solidFill>
              </a:rPr>
              <a:t>Images, video, design</a:t>
            </a:r>
            <a:endParaRPr lang="en-US" sz="1400"/>
          </a:p>
          <a:p>
            <a:pPr marL="0" indent="0">
              <a:spcAft>
                <a:spcPts val="400"/>
              </a:spcAft>
              <a:buNone/>
              <a:defRPr/>
            </a:pPr>
            <a:r>
              <a:rPr lang="en-US" sz="1400" b="1">
                <a:solidFill>
                  <a:schemeClr val="accent5"/>
                </a:solidFill>
              </a:rPr>
              <a:t>Examples</a:t>
            </a:r>
            <a:endParaRPr lang="en-US" sz="1400"/>
          </a:p>
          <a:p>
            <a:pPr marL="0" indent="0">
              <a:spcAft>
                <a:spcPts val="400"/>
              </a:spcAft>
              <a:buNone/>
              <a:defRPr/>
            </a:pPr>
            <a:r>
              <a:rPr lang="en-US" sz="1400">
                <a:solidFill>
                  <a:schemeClr val="tx1"/>
                </a:solidFill>
              </a:rPr>
              <a:t>Stable Diffusion, Midjourney</a:t>
            </a:r>
            <a:endParaRPr lang="en-US" sz="1400"/>
          </a:p>
        </p:txBody>
      </p:sp>
      <p:sp>
        <p:nvSpPr>
          <p:cNvPr id="876930706" name="card-407"/>
          <p:cNvSpPr/>
          <p:nvPr/>
        </p:nvSpPr>
        <p:spPr bwMode="auto">
          <a:xfrm>
            <a:off x="6080760" y="1234440"/>
            <a:ext cx="2606040" cy="3108960"/>
          </a:xfrm>
          <a:prstGeom prst="roundRect">
            <a:avLst>
              <a:gd name="adj" fmla="val 3509"/>
            </a:avLst>
          </a:prstGeom>
          <a:solidFill>
            <a:schemeClr val="bg2"/>
          </a:solidFill>
          <a:ln w="12700">
            <a:solidFill>
              <a:schemeClr val="bg2"/>
            </a:solidFill>
            <a:prstDash val="solid"/>
          </a:ln>
        </p:spPr>
      </p:sp>
      <p:sp>
        <p:nvSpPr>
          <p:cNvPr id="416736490" name="circle-408"/>
          <p:cNvSpPr/>
          <p:nvPr/>
        </p:nvSpPr>
        <p:spPr bwMode="auto">
          <a:xfrm>
            <a:off x="6309360" y="1417320"/>
            <a:ext cx="502920" cy="502920"/>
          </a:xfrm>
          <a:prstGeom prst="ellipse">
            <a:avLst/>
          </a:prstGeom>
          <a:solidFill>
            <a:srgbClr val="2F6FED"/>
          </a:solidFill>
          <a:ln w="12700">
            <a:solidFill>
              <a:srgbClr val="2F6FED"/>
            </a:solidFill>
            <a:prstDash val="solid"/>
          </a:ln>
        </p:spPr>
      </p:sp>
      <p:pic>
        <p:nvPicPr>
          <p:cNvPr id="666287686" name="icon-409" descr="preencoded.png"/>
          <p:cNvPicPr>
            <a:picLocks noChangeAspect="1"/>
          </p:cNvPicPr>
          <p:nvPr/>
        </p:nvPicPr>
        <p:blipFill rotWithShape="1">
          <a:blip r:embed="rId5"/>
          <a:stretch/>
        </p:blipFill>
        <p:spPr bwMode="auto">
          <a:xfrm>
            <a:off x="6450178" y="1558138"/>
            <a:ext cx="221285" cy="221285"/>
          </a:xfrm>
          <a:prstGeom prst="rect">
            <a:avLst/>
          </a:prstGeom>
        </p:spPr>
      </p:pic>
      <p:sp>
        <p:nvSpPr>
          <p:cNvPr id="869173784" name="text-410"/>
          <p:cNvSpPr txBox="1"/>
          <p:nvPr/>
        </p:nvSpPr>
        <p:spPr bwMode="auto">
          <a:xfrm>
            <a:off x="6949440" y="1417320"/>
            <a:ext cx="1645920" cy="502920"/>
          </a:xfrm>
          <a:prstGeom prst="rect">
            <a:avLst/>
          </a:prstGeom>
          <a:noFill/>
          <a:ln/>
        </p:spPr>
        <p:txBody>
          <a:bodyPr wrap="square" lIns="0" tIns="0" rIns="0" bIns="0" rtlCol="0" anchor="ctr"/>
          <a:lstStyle/>
          <a:p>
            <a:pPr marL="0" indent="0">
              <a:buNone/>
              <a:defRPr/>
            </a:pPr>
            <a:r>
              <a:rPr lang="en-US" sz="1500" b="1">
                <a:solidFill>
                  <a:schemeClr val="tx1"/>
                </a:solidFill>
              </a:rPr>
              <a:t>GANs</a:t>
            </a:r>
            <a:endParaRPr lang="en-US" sz="1500"/>
          </a:p>
        </p:txBody>
      </p:sp>
      <p:sp>
        <p:nvSpPr>
          <p:cNvPr id="1595667953" name="text-411"/>
          <p:cNvSpPr txBox="1"/>
          <p:nvPr/>
        </p:nvSpPr>
        <p:spPr bwMode="auto">
          <a:xfrm>
            <a:off x="6309360" y="2103120"/>
            <a:ext cx="2194560" cy="2423160"/>
          </a:xfrm>
          <a:prstGeom prst="rect">
            <a:avLst/>
          </a:prstGeom>
          <a:noFill/>
          <a:ln/>
        </p:spPr>
        <p:txBody>
          <a:bodyPr wrap="square" lIns="0" tIns="0" rIns="0" bIns="0" rtlCol="0" anchor="t"/>
          <a:lstStyle/>
          <a:p>
            <a:pPr marL="0" indent="0">
              <a:spcAft>
                <a:spcPts val="400"/>
              </a:spcAft>
              <a:buNone/>
              <a:defRPr/>
            </a:pPr>
            <a:r>
              <a:rPr lang="en-US" sz="1400">
                <a:solidFill>
                  <a:schemeClr val="tx1"/>
                </a:solidFill>
              </a:rPr>
              <a:t>Two networks compete: a generator creates, a discriminator judges.</a:t>
            </a:r>
            <a:endParaRPr lang="en-US" sz="1400"/>
          </a:p>
          <a:p>
            <a:pPr marL="0" indent="0">
              <a:spcAft>
                <a:spcPts val="400"/>
              </a:spcAft>
              <a:buNone/>
              <a:defRPr/>
            </a:pPr>
            <a:r>
              <a:rPr lang="en-US" sz="1400" b="1">
                <a:solidFill>
                  <a:schemeClr val="accent5"/>
                </a:solidFill>
              </a:rPr>
              <a:t>Used for</a:t>
            </a:r>
            <a:endParaRPr lang="en-US" sz="1400"/>
          </a:p>
          <a:p>
            <a:pPr marL="0" indent="0">
              <a:spcAft>
                <a:spcPts val="400"/>
              </a:spcAft>
              <a:buNone/>
              <a:defRPr/>
            </a:pPr>
            <a:r>
              <a:rPr lang="en-US" sz="1400">
                <a:solidFill>
                  <a:schemeClr val="tx1"/>
                </a:solidFill>
              </a:rPr>
              <a:t>Realistic faces, synthetic data</a:t>
            </a:r>
            <a:endParaRPr lang="en-US" sz="1400"/>
          </a:p>
          <a:p>
            <a:pPr marL="0" indent="0">
              <a:spcAft>
                <a:spcPts val="400"/>
              </a:spcAft>
              <a:buNone/>
              <a:defRPr/>
            </a:pPr>
            <a:r>
              <a:rPr lang="en-US" sz="1400" b="1">
                <a:solidFill>
                  <a:schemeClr val="accent5"/>
                </a:solidFill>
              </a:rPr>
              <a:t>Examples</a:t>
            </a:r>
            <a:endParaRPr lang="en-US" sz="1400"/>
          </a:p>
          <a:p>
            <a:pPr marL="0" indent="0">
              <a:spcAft>
                <a:spcPts val="400"/>
              </a:spcAft>
              <a:buNone/>
              <a:defRPr/>
            </a:pPr>
            <a:r>
              <a:rPr lang="en-US" sz="1400">
                <a:solidFill>
                  <a:schemeClr val="tx1"/>
                </a:solidFill>
              </a:rPr>
              <a:t>StyleGAN, CycleGAN</a:t>
            </a:r>
            <a:endParaRPr lang="en-US" sz="1400"/>
          </a:p>
        </p:txBody>
      </p:sp>
      <p:sp>
        <p:nvSpPr>
          <p:cNvPr id="1519691793" name="Slide Number Placeholder 0"/>
          <p:cNvSpPr>
            <a:spLocks noGrp="1"/>
          </p:cNvSpPr>
          <p:nvPr>
            <p:ph type="sldNum" sz="quarter" idx="4294967295"/>
          </p:nvPr>
        </p:nvSpPr>
        <p:spPr bwMode="auto">
          <a:xfrm>
            <a:off x="8229600" y="4800600"/>
            <a:ext cx="457200" cy="228600"/>
          </a:xfrm>
          <a:prstGeom prst="rect">
            <a:avLst/>
          </a:prstGeom>
        </p:spPr>
        <p:txBody>
          <a:bodyPr/>
          <a:lstStyle>
            <a:lvl1pPr>
              <a:defRPr sz="1000">
                <a:solidFill>
                  <a:schemeClr val="accent5"/>
                </a:solidFill>
              </a:defRPr>
            </a:lvl1pPr>
          </a:lstStyle>
          <a:p>
            <a:pPr algn="r">
              <a:defRPr/>
            </a:pPr>
            <a:fld id="{F7021451-1387-4CA6-816F-3879F97B5CBC}" type="slidenum">
              <a:rPr lang="en-US" b="0"/>
              <a:t>17</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8">
    <p:spTree>
      <p:nvGrpSpPr>
        <p:cNvPr id="1" name=""/>
        <p:cNvGrpSpPr/>
        <p:nvPr/>
      </p:nvGrpSpPr>
      <p:grpSpPr bwMode="auto">
        <a:xfrm>
          <a:off x="0" y="0"/>
          <a:ext cx="0" cy="0"/>
          <a:chOff x="0" y="0"/>
          <a:chExt cx="0" cy="0"/>
        </a:xfrm>
      </p:grpSpPr>
      <p:sp>
        <p:nvSpPr>
          <p:cNvPr id="763889746" name="Text 0"/>
          <p:cNvSpPr/>
          <p:nvPr>
            <p:ph type="title" idx="100" hasCustomPrompt="1"/>
          </p:nvPr>
        </p:nvSpPr>
        <p:spPr bwMode="auto">
          <a:xfrm>
            <a:off x="457200" y="274320"/>
            <a:ext cx="8229600" cy="731520"/>
          </a:xfrm>
          <a:prstGeom prst="rect">
            <a:avLst/>
          </a:prstGeom>
          <a:noFill/>
          <a:ln/>
        </p:spPr>
        <p:txBody>
          <a:bodyPr wrap="square" lIns="0" tIns="0" rIns="0" bIns="0" rtlCol="0" anchor="ctr"/>
          <a:lstStyle/>
          <a:p>
            <a:pPr marL="0" indent="0" algn="l">
              <a:buNone/>
              <a:defRPr/>
            </a:pPr>
            <a:r>
              <a:rPr lang="en-US" sz="3000" b="1">
                <a:solidFill>
                  <a:schemeClr val="tx2"/>
                </a:solidFill>
              </a:rPr>
              <a:t>How a large language model works</a:t>
            </a:r>
            <a:endParaRPr lang="en-US" sz="3000"/>
          </a:p>
        </p:txBody>
      </p:sp>
      <p:sp>
        <p:nvSpPr>
          <p:cNvPr id="252559848" name="box-412"/>
          <p:cNvSpPr/>
          <p:nvPr/>
        </p:nvSpPr>
        <p:spPr bwMode="auto">
          <a:xfrm>
            <a:off x="534924" y="1280160"/>
            <a:ext cx="1417320" cy="640080"/>
          </a:xfrm>
          <a:prstGeom prst="roundRect">
            <a:avLst>
              <a:gd name="adj" fmla="val 11429"/>
            </a:avLst>
          </a:prstGeom>
          <a:solidFill>
            <a:srgbClr val="5B5BD6"/>
          </a:solidFill>
          <a:ln w="12700">
            <a:solidFill>
              <a:srgbClr val="5B5BD6"/>
            </a:solidFill>
            <a:prstDash val="solid"/>
          </a:ln>
        </p:spPr>
      </p:sp>
      <p:sp>
        <p:nvSpPr>
          <p:cNvPr id="498589511" name="text-413"/>
          <p:cNvSpPr txBox="1"/>
          <p:nvPr/>
        </p:nvSpPr>
        <p:spPr bwMode="auto">
          <a:xfrm>
            <a:off x="608075" y="1280160"/>
            <a:ext cx="1271016" cy="640080"/>
          </a:xfrm>
          <a:prstGeom prst="rect">
            <a:avLst/>
          </a:prstGeom>
          <a:noFill/>
          <a:ln/>
        </p:spPr>
        <p:txBody>
          <a:bodyPr wrap="square" lIns="0" tIns="0" rIns="0" bIns="0" rtlCol="0" anchor="ctr"/>
          <a:lstStyle/>
          <a:p>
            <a:pPr marL="0" indent="0" algn="ctr">
              <a:buNone/>
              <a:defRPr/>
            </a:pPr>
            <a:r>
              <a:rPr lang="en-US" sz="1400" b="1">
                <a:solidFill>
                  <a:schemeClr val="bg1"/>
                </a:solidFill>
              </a:rPr>
              <a:t>Your prompt</a:t>
            </a:r>
            <a:endParaRPr lang="en-US" sz="1400"/>
          </a:p>
        </p:txBody>
      </p:sp>
      <p:sp>
        <p:nvSpPr>
          <p:cNvPr id="41780567" name="arrow-414"/>
          <p:cNvSpPr/>
          <p:nvPr/>
        </p:nvSpPr>
        <p:spPr bwMode="auto">
          <a:xfrm>
            <a:off x="1970532" y="1600200"/>
            <a:ext cx="210312" cy="0"/>
          </a:xfrm>
          <a:prstGeom prst="line">
            <a:avLst/>
          </a:prstGeom>
          <a:noFill/>
          <a:ln w="25400">
            <a:solidFill>
              <a:schemeClr val="accent5"/>
            </a:solidFill>
            <a:prstDash val="solid"/>
            <a:tailEnd type="triangle"/>
          </a:ln>
        </p:spPr>
      </p:sp>
      <p:sp>
        <p:nvSpPr>
          <p:cNvPr id="535092739" name="text-415"/>
          <p:cNvSpPr txBox="1"/>
          <p:nvPr/>
        </p:nvSpPr>
        <p:spPr bwMode="auto">
          <a:xfrm>
            <a:off x="534924" y="2011680"/>
            <a:ext cx="1417320" cy="822960"/>
          </a:xfrm>
          <a:prstGeom prst="rect">
            <a:avLst/>
          </a:prstGeom>
          <a:noFill/>
          <a:ln/>
        </p:spPr>
        <p:txBody>
          <a:bodyPr wrap="square" lIns="0" tIns="0" rIns="0" bIns="0" rtlCol="0" anchor="t"/>
          <a:lstStyle/>
          <a:p>
            <a:pPr marL="0" indent="0" algn="ctr">
              <a:buNone/>
              <a:defRPr/>
            </a:pPr>
            <a:r>
              <a:rPr lang="en-US" sz="1300">
                <a:solidFill>
                  <a:schemeClr val="accent5"/>
                </a:solidFill>
              </a:rPr>
              <a:t>Text you type</a:t>
            </a:r>
            <a:endParaRPr lang="en-US" sz="1300"/>
          </a:p>
        </p:txBody>
      </p:sp>
      <p:sp>
        <p:nvSpPr>
          <p:cNvPr id="1597670064" name="box-416"/>
          <p:cNvSpPr/>
          <p:nvPr/>
        </p:nvSpPr>
        <p:spPr bwMode="auto">
          <a:xfrm>
            <a:off x="2199132" y="1280160"/>
            <a:ext cx="1417320" cy="640080"/>
          </a:xfrm>
          <a:prstGeom prst="roundRect">
            <a:avLst>
              <a:gd name="adj" fmla="val 11429"/>
            </a:avLst>
          </a:prstGeom>
          <a:solidFill>
            <a:srgbClr val="5B5BD6"/>
          </a:solidFill>
          <a:ln w="12700">
            <a:solidFill>
              <a:srgbClr val="5B5BD6"/>
            </a:solidFill>
            <a:prstDash val="solid"/>
          </a:ln>
        </p:spPr>
      </p:sp>
      <p:sp>
        <p:nvSpPr>
          <p:cNvPr id="1408081982" name="text-417"/>
          <p:cNvSpPr txBox="1"/>
          <p:nvPr/>
        </p:nvSpPr>
        <p:spPr bwMode="auto">
          <a:xfrm>
            <a:off x="2272284" y="1280160"/>
            <a:ext cx="1271016" cy="640080"/>
          </a:xfrm>
          <a:prstGeom prst="rect">
            <a:avLst/>
          </a:prstGeom>
          <a:noFill/>
          <a:ln/>
        </p:spPr>
        <p:txBody>
          <a:bodyPr wrap="square" lIns="0" tIns="0" rIns="0" bIns="0" rtlCol="0" anchor="ctr"/>
          <a:lstStyle/>
          <a:p>
            <a:pPr marL="0" indent="0" algn="ctr">
              <a:buNone/>
              <a:defRPr/>
            </a:pPr>
            <a:r>
              <a:rPr lang="en-US" sz="1400" b="1">
                <a:solidFill>
                  <a:schemeClr val="bg1"/>
                </a:solidFill>
              </a:rPr>
              <a:t>Tokens</a:t>
            </a:r>
            <a:endParaRPr lang="en-US" sz="1400"/>
          </a:p>
        </p:txBody>
      </p:sp>
      <p:sp>
        <p:nvSpPr>
          <p:cNvPr id="2039988332" name="arrow-418"/>
          <p:cNvSpPr/>
          <p:nvPr/>
        </p:nvSpPr>
        <p:spPr bwMode="auto">
          <a:xfrm>
            <a:off x="3634740" y="1600200"/>
            <a:ext cx="210312" cy="0"/>
          </a:xfrm>
          <a:prstGeom prst="line">
            <a:avLst/>
          </a:prstGeom>
          <a:noFill/>
          <a:ln w="25400">
            <a:solidFill>
              <a:schemeClr val="accent5"/>
            </a:solidFill>
            <a:prstDash val="solid"/>
            <a:tailEnd type="triangle"/>
          </a:ln>
        </p:spPr>
      </p:sp>
      <p:sp>
        <p:nvSpPr>
          <p:cNvPr id="1286409032" name="text-419"/>
          <p:cNvSpPr txBox="1"/>
          <p:nvPr/>
        </p:nvSpPr>
        <p:spPr bwMode="auto">
          <a:xfrm>
            <a:off x="2199132" y="2011680"/>
            <a:ext cx="1417320" cy="822960"/>
          </a:xfrm>
          <a:prstGeom prst="rect">
            <a:avLst/>
          </a:prstGeom>
          <a:noFill/>
          <a:ln/>
        </p:spPr>
        <p:txBody>
          <a:bodyPr wrap="square" lIns="0" tIns="0" rIns="0" bIns="0" rtlCol="0" anchor="t"/>
          <a:lstStyle/>
          <a:p>
            <a:pPr marL="0" indent="0" algn="ctr">
              <a:buNone/>
              <a:defRPr/>
            </a:pPr>
            <a:r>
              <a:rPr lang="en-US" sz="1300">
                <a:solidFill>
                  <a:schemeClr val="accent5"/>
                </a:solidFill>
              </a:rPr>
              <a:t>Split into word pieces</a:t>
            </a:r>
            <a:endParaRPr lang="en-US" sz="1300"/>
          </a:p>
        </p:txBody>
      </p:sp>
      <p:sp>
        <p:nvSpPr>
          <p:cNvPr id="2067276700" name="box-420"/>
          <p:cNvSpPr/>
          <p:nvPr/>
        </p:nvSpPr>
        <p:spPr bwMode="auto">
          <a:xfrm>
            <a:off x="3863340" y="1280160"/>
            <a:ext cx="1417320" cy="640080"/>
          </a:xfrm>
          <a:prstGeom prst="roundRect">
            <a:avLst>
              <a:gd name="adj" fmla="val 11429"/>
            </a:avLst>
          </a:prstGeom>
          <a:solidFill>
            <a:srgbClr val="5B5BD6"/>
          </a:solidFill>
          <a:ln w="12700">
            <a:solidFill>
              <a:srgbClr val="5B5BD6"/>
            </a:solidFill>
            <a:prstDash val="solid"/>
          </a:ln>
        </p:spPr>
      </p:sp>
      <p:sp>
        <p:nvSpPr>
          <p:cNvPr id="1574704020" name="text-421"/>
          <p:cNvSpPr txBox="1"/>
          <p:nvPr/>
        </p:nvSpPr>
        <p:spPr bwMode="auto">
          <a:xfrm>
            <a:off x="3936492" y="1280160"/>
            <a:ext cx="1271016" cy="640080"/>
          </a:xfrm>
          <a:prstGeom prst="rect">
            <a:avLst/>
          </a:prstGeom>
          <a:noFill/>
          <a:ln/>
        </p:spPr>
        <p:txBody>
          <a:bodyPr wrap="square" lIns="0" tIns="0" rIns="0" bIns="0" rtlCol="0" anchor="ctr"/>
          <a:lstStyle/>
          <a:p>
            <a:pPr marL="0" indent="0" algn="ctr">
              <a:buNone/>
              <a:defRPr/>
            </a:pPr>
            <a:r>
              <a:rPr lang="en-US" sz="1400" b="1">
                <a:solidFill>
                  <a:schemeClr val="bg1"/>
                </a:solidFill>
              </a:rPr>
              <a:t>Embeddings</a:t>
            </a:r>
            <a:endParaRPr lang="en-US" sz="1400"/>
          </a:p>
        </p:txBody>
      </p:sp>
      <p:sp>
        <p:nvSpPr>
          <p:cNvPr id="942871534" name="arrow-422"/>
          <p:cNvSpPr/>
          <p:nvPr/>
        </p:nvSpPr>
        <p:spPr bwMode="auto">
          <a:xfrm>
            <a:off x="5298948" y="1600200"/>
            <a:ext cx="210312" cy="0"/>
          </a:xfrm>
          <a:prstGeom prst="line">
            <a:avLst/>
          </a:prstGeom>
          <a:noFill/>
          <a:ln w="25400">
            <a:solidFill>
              <a:schemeClr val="accent5"/>
            </a:solidFill>
            <a:prstDash val="solid"/>
            <a:tailEnd type="triangle"/>
          </a:ln>
        </p:spPr>
      </p:sp>
      <p:sp>
        <p:nvSpPr>
          <p:cNvPr id="1654535888" name="text-423"/>
          <p:cNvSpPr txBox="1"/>
          <p:nvPr/>
        </p:nvSpPr>
        <p:spPr bwMode="auto">
          <a:xfrm>
            <a:off x="3863340" y="2011680"/>
            <a:ext cx="1417320" cy="822960"/>
          </a:xfrm>
          <a:prstGeom prst="rect">
            <a:avLst/>
          </a:prstGeom>
          <a:noFill/>
          <a:ln/>
        </p:spPr>
        <p:txBody>
          <a:bodyPr wrap="square" lIns="0" tIns="0" rIns="0" bIns="0" rtlCol="0" anchor="t"/>
          <a:lstStyle/>
          <a:p>
            <a:pPr marL="0" indent="0" algn="ctr">
              <a:buNone/>
              <a:defRPr/>
            </a:pPr>
            <a:r>
              <a:rPr lang="en-US" sz="1300">
                <a:solidFill>
                  <a:schemeClr val="accent5"/>
                </a:solidFill>
              </a:rPr>
              <a:t>Numbers that capture meaning</a:t>
            </a:r>
            <a:endParaRPr lang="en-US" sz="1300"/>
          </a:p>
        </p:txBody>
      </p:sp>
      <p:sp>
        <p:nvSpPr>
          <p:cNvPr id="1978375922" name="box-424"/>
          <p:cNvSpPr/>
          <p:nvPr/>
        </p:nvSpPr>
        <p:spPr bwMode="auto">
          <a:xfrm>
            <a:off x="5527548" y="1280160"/>
            <a:ext cx="1417320" cy="640080"/>
          </a:xfrm>
          <a:prstGeom prst="roundRect">
            <a:avLst>
              <a:gd name="adj" fmla="val 11429"/>
            </a:avLst>
          </a:prstGeom>
          <a:solidFill>
            <a:srgbClr val="5B5BD6"/>
          </a:solidFill>
          <a:ln w="12700">
            <a:solidFill>
              <a:srgbClr val="5B5BD6"/>
            </a:solidFill>
            <a:prstDash val="solid"/>
          </a:ln>
        </p:spPr>
      </p:sp>
      <p:sp>
        <p:nvSpPr>
          <p:cNvPr id="1908207606" name="text-425"/>
          <p:cNvSpPr txBox="1"/>
          <p:nvPr/>
        </p:nvSpPr>
        <p:spPr bwMode="auto">
          <a:xfrm>
            <a:off x="5600700" y="1280160"/>
            <a:ext cx="1271016" cy="640080"/>
          </a:xfrm>
          <a:prstGeom prst="rect">
            <a:avLst/>
          </a:prstGeom>
          <a:noFill/>
          <a:ln/>
        </p:spPr>
        <p:txBody>
          <a:bodyPr wrap="square" lIns="0" tIns="0" rIns="0" bIns="0" rtlCol="0" anchor="ctr"/>
          <a:lstStyle/>
          <a:p>
            <a:pPr marL="0" indent="0" algn="ctr">
              <a:buNone/>
              <a:defRPr/>
            </a:pPr>
            <a:r>
              <a:rPr lang="en-US" sz="1400" b="1">
                <a:solidFill>
                  <a:schemeClr val="bg1"/>
                </a:solidFill>
              </a:rPr>
              <a:t>Transformer</a:t>
            </a:r>
            <a:endParaRPr lang="en-US" sz="1400"/>
          </a:p>
        </p:txBody>
      </p:sp>
      <p:sp>
        <p:nvSpPr>
          <p:cNvPr id="2122004512" name="arrow-426"/>
          <p:cNvSpPr/>
          <p:nvPr/>
        </p:nvSpPr>
        <p:spPr bwMode="auto">
          <a:xfrm>
            <a:off x="6963156" y="1600200"/>
            <a:ext cx="210312" cy="0"/>
          </a:xfrm>
          <a:prstGeom prst="line">
            <a:avLst/>
          </a:prstGeom>
          <a:noFill/>
          <a:ln w="25400">
            <a:solidFill>
              <a:schemeClr val="accent5"/>
            </a:solidFill>
            <a:prstDash val="solid"/>
            <a:tailEnd type="triangle"/>
          </a:ln>
        </p:spPr>
      </p:sp>
      <p:sp>
        <p:nvSpPr>
          <p:cNvPr id="1525372079" name="text-427"/>
          <p:cNvSpPr txBox="1"/>
          <p:nvPr/>
        </p:nvSpPr>
        <p:spPr bwMode="auto">
          <a:xfrm>
            <a:off x="5527548" y="2011680"/>
            <a:ext cx="1417320" cy="822960"/>
          </a:xfrm>
          <a:prstGeom prst="rect">
            <a:avLst/>
          </a:prstGeom>
          <a:noFill/>
          <a:ln/>
        </p:spPr>
        <p:txBody>
          <a:bodyPr wrap="square" lIns="0" tIns="0" rIns="0" bIns="0" rtlCol="0" anchor="t"/>
          <a:lstStyle/>
          <a:p>
            <a:pPr marL="0" indent="0" algn="ctr">
              <a:buNone/>
              <a:defRPr/>
            </a:pPr>
            <a:r>
              <a:rPr lang="en-US" sz="1300">
                <a:solidFill>
                  <a:schemeClr val="accent5"/>
                </a:solidFill>
              </a:rPr>
              <a:t>Attention weighs which words matter</a:t>
            </a:r>
            <a:endParaRPr lang="en-US" sz="1300"/>
          </a:p>
        </p:txBody>
      </p:sp>
      <p:sp>
        <p:nvSpPr>
          <p:cNvPr id="1181783945" name="box-428"/>
          <p:cNvSpPr/>
          <p:nvPr/>
        </p:nvSpPr>
        <p:spPr bwMode="auto">
          <a:xfrm>
            <a:off x="7191755" y="1280160"/>
            <a:ext cx="1417320" cy="640080"/>
          </a:xfrm>
          <a:prstGeom prst="roundRect">
            <a:avLst>
              <a:gd name="adj" fmla="val 11429"/>
            </a:avLst>
          </a:prstGeom>
          <a:solidFill>
            <a:srgbClr val="0B8478"/>
          </a:solidFill>
          <a:ln w="12700">
            <a:solidFill>
              <a:srgbClr val="0B8478"/>
            </a:solidFill>
            <a:prstDash val="solid"/>
          </a:ln>
        </p:spPr>
      </p:sp>
      <p:sp>
        <p:nvSpPr>
          <p:cNvPr id="1201248868" name="text-429"/>
          <p:cNvSpPr txBox="1"/>
          <p:nvPr/>
        </p:nvSpPr>
        <p:spPr bwMode="auto">
          <a:xfrm>
            <a:off x="7264908" y="1280160"/>
            <a:ext cx="1271016" cy="640080"/>
          </a:xfrm>
          <a:prstGeom prst="rect">
            <a:avLst/>
          </a:prstGeom>
          <a:noFill/>
          <a:ln/>
        </p:spPr>
        <p:txBody>
          <a:bodyPr wrap="square" lIns="0" tIns="0" rIns="0" bIns="0" rtlCol="0" anchor="ctr"/>
          <a:lstStyle/>
          <a:p>
            <a:pPr marL="0" indent="0" algn="ctr">
              <a:buNone/>
              <a:defRPr/>
            </a:pPr>
            <a:r>
              <a:rPr lang="en-US" sz="1400" b="1">
                <a:solidFill>
                  <a:schemeClr val="bg1"/>
                </a:solidFill>
              </a:rPr>
              <a:t>Next token</a:t>
            </a:r>
            <a:endParaRPr lang="en-US" sz="1400"/>
          </a:p>
        </p:txBody>
      </p:sp>
      <p:sp>
        <p:nvSpPr>
          <p:cNvPr id="1124137789" name="text-430"/>
          <p:cNvSpPr txBox="1"/>
          <p:nvPr/>
        </p:nvSpPr>
        <p:spPr bwMode="auto">
          <a:xfrm>
            <a:off x="7191755" y="2011680"/>
            <a:ext cx="1417320" cy="822960"/>
          </a:xfrm>
          <a:prstGeom prst="rect">
            <a:avLst/>
          </a:prstGeom>
          <a:noFill/>
          <a:ln/>
        </p:spPr>
        <p:txBody>
          <a:bodyPr wrap="square" lIns="0" tIns="0" rIns="0" bIns="0" rtlCol="0" anchor="t"/>
          <a:lstStyle/>
          <a:p>
            <a:pPr marL="0" indent="0" algn="ctr">
              <a:buNone/>
              <a:defRPr/>
            </a:pPr>
            <a:r>
              <a:rPr lang="en-US" sz="1300">
                <a:solidFill>
                  <a:schemeClr val="accent5"/>
                </a:solidFill>
              </a:rPr>
              <a:t>Picks the likeliest, then repeats</a:t>
            </a:r>
            <a:endParaRPr lang="en-US" sz="1300"/>
          </a:p>
        </p:txBody>
      </p:sp>
      <p:sp>
        <p:nvSpPr>
          <p:cNvPr id="816904503" name="text-431"/>
          <p:cNvSpPr txBox="1"/>
          <p:nvPr/>
        </p:nvSpPr>
        <p:spPr bwMode="auto">
          <a:xfrm>
            <a:off x="457200" y="3017519"/>
            <a:ext cx="4572000" cy="320040"/>
          </a:xfrm>
          <a:prstGeom prst="rect">
            <a:avLst/>
          </a:prstGeom>
          <a:noFill/>
          <a:ln/>
        </p:spPr>
        <p:txBody>
          <a:bodyPr wrap="square" lIns="0" tIns="0" rIns="0" bIns="0" rtlCol="0" anchor="t"/>
          <a:lstStyle/>
          <a:p>
            <a:pPr marL="0" indent="0">
              <a:buNone/>
              <a:defRPr/>
            </a:pPr>
            <a:r>
              <a:rPr lang="en-US" sz="1700" b="1">
                <a:solidFill>
                  <a:schemeClr val="tx2"/>
                </a:solidFill>
              </a:rPr>
              <a:t>How it is trained</a:t>
            </a:r>
            <a:endParaRPr lang="en-US" sz="1700"/>
          </a:p>
        </p:txBody>
      </p:sp>
      <p:sp>
        <p:nvSpPr>
          <p:cNvPr id="140955223" name="card-432"/>
          <p:cNvSpPr/>
          <p:nvPr/>
        </p:nvSpPr>
        <p:spPr bwMode="auto">
          <a:xfrm>
            <a:off x="457200" y="3429000"/>
            <a:ext cx="2606040" cy="1188720"/>
          </a:xfrm>
          <a:prstGeom prst="roundRect">
            <a:avLst>
              <a:gd name="adj" fmla="val 7692"/>
            </a:avLst>
          </a:prstGeom>
          <a:solidFill>
            <a:schemeClr val="bg2"/>
          </a:solidFill>
          <a:ln w="12700">
            <a:solidFill>
              <a:schemeClr val="bg2"/>
            </a:solidFill>
            <a:prstDash val="solid"/>
          </a:ln>
        </p:spPr>
      </p:sp>
      <p:sp>
        <p:nvSpPr>
          <p:cNvPr id="856749525" name="text-433"/>
          <p:cNvSpPr txBox="1"/>
          <p:nvPr/>
        </p:nvSpPr>
        <p:spPr bwMode="auto">
          <a:xfrm>
            <a:off x="640080" y="3520440"/>
            <a:ext cx="2286000" cy="320040"/>
          </a:xfrm>
          <a:prstGeom prst="rect">
            <a:avLst/>
          </a:prstGeom>
          <a:noFill/>
          <a:ln/>
        </p:spPr>
        <p:txBody>
          <a:bodyPr wrap="square" lIns="0" tIns="0" rIns="0" bIns="0" rtlCol="0" anchor="t"/>
          <a:lstStyle/>
          <a:p>
            <a:pPr marL="0" indent="0">
              <a:buNone/>
              <a:defRPr/>
            </a:pPr>
            <a:r>
              <a:rPr lang="en-US" sz="1600" b="1">
                <a:solidFill>
                  <a:schemeClr val="accent3"/>
                </a:solidFill>
              </a:rPr>
              <a:t>1  Pre-training</a:t>
            </a:r>
            <a:endParaRPr lang="en-US" sz="1600"/>
          </a:p>
        </p:txBody>
      </p:sp>
      <p:sp>
        <p:nvSpPr>
          <p:cNvPr id="1837940715" name="text-434"/>
          <p:cNvSpPr txBox="1"/>
          <p:nvPr/>
        </p:nvSpPr>
        <p:spPr bwMode="auto">
          <a:xfrm>
            <a:off x="640080" y="3886200"/>
            <a:ext cx="2286000" cy="685800"/>
          </a:xfrm>
          <a:prstGeom prst="rect">
            <a:avLst/>
          </a:prstGeom>
          <a:noFill/>
          <a:ln/>
        </p:spPr>
        <p:txBody>
          <a:bodyPr wrap="square" lIns="0" tIns="0" rIns="0" bIns="0" rtlCol="0" anchor="t"/>
          <a:lstStyle/>
          <a:p>
            <a:pPr marL="0" indent="0">
              <a:buNone/>
              <a:defRPr/>
            </a:pPr>
            <a:r>
              <a:rPr lang="en-US" sz="1400">
                <a:solidFill>
                  <a:schemeClr val="tx1"/>
                </a:solidFill>
              </a:rPr>
              <a:t>Learn language from huge text collections</a:t>
            </a:r>
            <a:endParaRPr lang="en-US" sz="1400"/>
          </a:p>
        </p:txBody>
      </p:sp>
      <p:sp>
        <p:nvSpPr>
          <p:cNvPr id="1754534797" name="card-435"/>
          <p:cNvSpPr/>
          <p:nvPr/>
        </p:nvSpPr>
        <p:spPr bwMode="auto">
          <a:xfrm>
            <a:off x="3268980" y="3429000"/>
            <a:ext cx="2606040" cy="1188720"/>
          </a:xfrm>
          <a:prstGeom prst="roundRect">
            <a:avLst>
              <a:gd name="adj" fmla="val 7692"/>
            </a:avLst>
          </a:prstGeom>
          <a:solidFill>
            <a:schemeClr val="bg2"/>
          </a:solidFill>
          <a:ln w="12700">
            <a:solidFill>
              <a:schemeClr val="bg2"/>
            </a:solidFill>
            <a:prstDash val="solid"/>
          </a:ln>
        </p:spPr>
      </p:sp>
      <p:sp>
        <p:nvSpPr>
          <p:cNvPr id="186388510" name="text-436"/>
          <p:cNvSpPr txBox="1"/>
          <p:nvPr/>
        </p:nvSpPr>
        <p:spPr bwMode="auto">
          <a:xfrm>
            <a:off x="3451860" y="3520440"/>
            <a:ext cx="2286000" cy="320040"/>
          </a:xfrm>
          <a:prstGeom prst="rect">
            <a:avLst/>
          </a:prstGeom>
          <a:noFill/>
          <a:ln/>
        </p:spPr>
        <p:txBody>
          <a:bodyPr wrap="square" lIns="0" tIns="0" rIns="0" bIns="0" rtlCol="0" anchor="t"/>
          <a:lstStyle/>
          <a:p>
            <a:pPr marL="0" indent="0">
              <a:buNone/>
              <a:defRPr/>
            </a:pPr>
            <a:r>
              <a:rPr lang="en-US" sz="1600" b="1">
                <a:solidFill>
                  <a:schemeClr val="accent3"/>
                </a:solidFill>
              </a:rPr>
              <a:t>2  Fine-tuning</a:t>
            </a:r>
            <a:endParaRPr lang="en-US" sz="1600"/>
          </a:p>
        </p:txBody>
      </p:sp>
      <p:sp>
        <p:nvSpPr>
          <p:cNvPr id="1268503362" name="text-437"/>
          <p:cNvSpPr txBox="1"/>
          <p:nvPr/>
        </p:nvSpPr>
        <p:spPr bwMode="auto">
          <a:xfrm>
            <a:off x="3451860" y="3886200"/>
            <a:ext cx="2286000" cy="685800"/>
          </a:xfrm>
          <a:prstGeom prst="rect">
            <a:avLst/>
          </a:prstGeom>
          <a:noFill/>
          <a:ln/>
        </p:spPr>
        <p:txBody>
          <a:bodyPr wrap="square" lIns="0" tIns="0" rIns="0" bIns="0" rtlCol="0" anchor="t"/>
          <a:lstStyle/>
          <a:p>
            <a:pPr marL="0" indent="0">
              <a:buNone/>
              <a:defRPr/>
            </a:pPr>
            <a:r>
              <a:rPr lang="en-US" sz="1400">
                <a:solidFill>
                  <a:schemeClr val="tx1"/>
                </a:solidFill>
              </a:rPr>
              <a:t>Specialise on curated examples</a:t>
            </a:r>
            <a:endParaRPr lang="en-US" sz="1400"/>
          </a:p>
        </p:txBody>
      </p:sp>
      <p:sp>
        <p:nvSpPr>
          <p:cNvPr id="1642331407" name="card-438"/>
          <p:cNvSpPr/>
          <p:nvPr/>
        </p:nvSpPr>
        <p:spPr bwMode="auto">
          <a:xfrm>
            <a:off x="6080760" y="3429000"/>
            <a:ext cx="2606040" cy="1188720"/>
          </a:xfrm>
          <a:prstGeom prst="roundRect">
            <a:avLst>
              <a:gd name="adj" fmla="val 7692"/>
            </a:avLst>
          </a:prstGeom>
          <a:solidFill>
            <a:schemeClr val="bg2"/>
          </a:solidFill>
          <a:ln w="12700">
            <a:solidFill>
              <a:schemeClr val="bg2"/>
            </a:solidFill>
            <a:prstDash val="solid"/>
          </a:ln>
        </p:spPr>
      </p:sp>
      <p:sp>
        <p:nvSpPr>
          <p:cNvPr id="237641758" name="text-439"/>
          <p:cNvSpPr txBox="1"/>
          <p:nvPr/>
        </p:nvSpPr>
        <p:spPr bwMode="auto">
          <a:xfrm>
            <a:off x="6263640" y="3520440"/>
            <a:ext cx="2286000" cy="320040"/>
          </a:xfrm>
          <a:prstGeom prst="rect">
            <a:avLst/>
          </a:prstGeom>
          <a:noFill/>
          <a:ln/>
        </p:spPr>
        <p:txBody>
          <a:bodyPr wrap="square" lIns="0" tIns="0" rIns="0" bIns="0" rtlCol="0" anchor="t"/>
          <a:lstStyle/>
          <a:p>
            <a:pPr marL="0" indent="0">
              <a:buNone/>
              <a:defRPr/>
            </a:pPr>
            <a:r>
              <a:rPr lang="en-US" sz="1600" b="1">
                <a:solidFill>
                  <a:schemeClr val="accent3"/>
                </a:solidFill>
              </a:rPr>
              <a:t>3  Alignment</a:t>
            </a:r>
            <a:endParaRPr lang="en-US" sz="1600"/>
          </a:p>
        </p:txBody>
      </p:sp>
      <p:sp>
        <p:nvSpPr>
          <p:cNvPr id="1081774611" name="text-440"/>
          <p:cNvSpPr txBox="1"/>
          <p:nvPr/>
        </p:nvSpPr>
        <p:spPr bwMode="auto">
          <a:xfrm>
            <a:off x="6263640" y="3886200"/>
            <a:ext cx="2286000" cy="685800"/>
          </a:xfrm>
          <a:prstGeom prst="rect">
            <a:avLst/>
          </a:prstGeom>
          <a:noFill/>
          <a:ln/>
        </p:spPr>
        <p:txBody>
          <a:bodyPr wrap="square" lIns="0" tIns="0" rIns="0" bIns="0" rtlCol="0" anchor="t"/>
          <a:lstStyle/>
          <a:p>
            <a:pPr marL="0" indent="0">
              <a:buNone/>
              <a:defRPr/>
            </a:pPr>
            <a:r>
              <a:rPr lang="en-US" sz="1400">
                <a:solidFill>
                  <a:schemeClr val="tx1"/>
                </a:solidFill>
              </a:rPr>
              <a:t>Tune with human feedback to be helpful and safe</a:t>
            </a:r>
            <a:endParaRPr lang="en-US" sz="1400"/>
          </a:p>
        </p:txBody>
      </p:sp>
      <p:sp>
        <p:nvSpPr>
          <p:cNvPr id="1660226213" name="Slide Number Placeholder 0"/>
          <p:cNvSpPr>
            <a:spLocks noGrp="1"/>
          </p:cNvSpPr>
          <p:nvPr>
            <p:ph type="sldNum" sz="quarter" idx="4294967295"/>
          </p:nvPr>
        </p:nvSpPr>
        <p:spPr bwMode="auto">
          <a:xfrm>
            <a:off x="8229600" y="4800600"/>
            <a:ext cx="457200" cy="228600"/>
          </a:xfrm>
          <a:prstGeom prst="rect">
            <a:avLst/>
          </a:prstGeom>
        </p:spPr>
        <p:txBody>
          <a:bodyPr/>
          <a:lstStyle>
            <a:lvl1pPr>
              <a:defRPr sz="1000">
                <a:solidFill>
                  <a:schemeClr val="accent5"/>
                </a:solidFill>
              </a:defRPr>
            </a:lvl1pPr>
          </a:lstStyle>
          <a:p>
            <a:pPr algn="r">
              <a:defRPr/>
            </a:pPr>
            <a:fld id="{F7021451-1387-4CA6-816F-3879F97B5CBC}" type="slidenum">
              <a:rPr lang="en-US" b="0"/>
              <a:t>18</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9">
    <p:spTree>
      <p:nvGrpSpPr>
        <p:cNvPr id="1" name=""/>
        <p:cNvGrpSpPr/>
        <p:nvPr/>
      </p:nvGrpSpPr>
      <p:grpSpPr bwMode="auto">
        <a:xfrm>
          <a:off x="0" y="0"/>
          <a:ext cx="0" cy="0"/>
          <a:chOff x="0" y="0"/>
          <a:chExt cx="0" cy="0"/>
        </a:xfrm>
      </p:grpSpPr>
      <p:sp>
        <p:nvSpPr>
          <p:cNvPr id="1170073448" name="Text 0"/>
          <p:cNvSpPr/>
          <p:nvPr>
            <p:ph type="title" idx="100" hasCustomPrompt="1"/>
          </p:nvPr>
        </p:nvSpPr>
        <p:spPr bwMode="auto">
          <a:xfrm>
            <a:off x="457200" y="274320"/>
            <a:ext cx="8229600" cy="731520"/>
          </a:xfrm>
          <a:prstGeom prst="rect">
            <a:avLst/>
          </a:prstGeom>
          <a:noFill/>
          <a:ln/>
        </p:spPr>
        <p:txBody>
          <a:bodyPr wrap="square" lIns="0" tIns="0" rIns="0" bIns="0" rtlCol="0" anchor="ctr"/>
          <a:lstStyle/>
          <a:p>
            <a:pPr marL="0" indent="0" algn="l">
              <a:buNone/>
              <a:defRPr/>
            </a:pPr>
            <a:r>
              <a:rPr lang="en-US" sz="3000" b="1">
                <a:solidFill>
                  <a:schemeClr val="tx2"/>
                </a:solidFill>
              </a:rPr>
              <a:t>Using generative AI well</a:t>
            </a:r>
            <a:endParaRPr lang="en-US" sz="3000"/>
          </a:p>
        </p:txBody>
      </p:sp>
      <p:sp>
        <p:nvSpPr>
          <p:cNvPr id="21309669" name="card-441"/>
          <p:cNvSpPr/>
          <p:nvPr/>
        </p:nvSpPr>
        <p:spPr bwMode="auto">
          <a:xfrm>
            <a:off x="457200" y="1234440"/>
            <a:ext cx="2606040" cy="3200400"/>
          </a:xfrm>
          <a:prstGeom prst="roundRect">
            <a:avLst>
              <a:gd name="adj" fmla="val 3509"/>
            </a:avLst>
          </a:prstGeom>
          <a:solidFill>
            <a:schemeClr val="bg2"/>
          </a:solidFill>
          <a:ln w="12700">
            <a:solidFill>
              <a:schemeClr val="bg2"/>
            </a:solidFill>
            <a:prstDash val="solid"/>
          </a:ln>
        </p:spPr>
      </p:sp>
      <p:sp>
        <p:nvSpPr>
          <p:cNvPr id="116344355" name="circle-442"/>
          <p:cNvSpPr/>
          <p:nvPr/>
        </p:nvSpPr>
        <p:spPr bwMode="auto">
          <a:xfrm>
            <a:off x="685800" y="1417320"/>
            <a:ext cx="502920" cy="502920"/>
          </a:xfrm>
          <a:prstGeom prst="ellipse">
            <a:avLst/>
          </a:prstGeom>
          <a:solidFill>
            <a:srgbClr val="0B8478"/>
          </a:solidFill>
          <a:ln w="12700">
            <a:solidFill>
              <a:srgbClr val="0B8478"/>
            </a:solidFill>
            <a:prstDash val="solid"/>
          </a:ln>
        </p:spPr>
      </p:sp>
      <p:pic>
        <p:nvPicPr>
          <p:cNvPr id="1279038804" name="icon-443" descr="preencoded.png"/>
          <p:cNvPicPr>
            <a:picLocks noChangeAspect="1"/>
          </p:cNvPicPr>
          <p:nvPr/>
        </p:nvPicPr>
        <p:blipFill rotWithShape="1">
          <a:blip r:embed="rId3"/>
          <a:stretch/>
        </p:blipFill>
        <p:spPr bwMode="auto">
          <a:xfrm>
            <a:off x="826618" y="1558138"/>
            <a:ext cx="221285" cy="221285"/>
          </a:xfrm>
          <a:prstGeom prst="rect">
            <a:avLst/>
          </a:prstGeom>
        </p:spPr>
      </p:pic>
      <p:sp>
        <p:nvSpPr>
          <p:cNvPr id="1166845031" name="text-444"/>
          <p:cNvSpPr txBox="1"/>
          <p:nvPr/>
        </p:nvSpPr>
        <p:spPr bwMode="auto">
          <a:xfrm>
            <a:off x="1325880" y="1508759"/>
            <a:ext cx="1645920" cy="320040"/>
          </a:xfrm>
          <a:prstGeom prst="rect">
            <a:avLst/>
          </a:prstGeom>
          <a:noFill/>
          <a:ln/>
        </p:spPr>
        <p:txBody>
          <a:bodyPr wrap="square" lIns="0" tIns="0" rIns="0" bIns="0" rtlCol="0" anchor="t"/>
          <a:lstStyle/>
          <a:p>
            <a:pPr marL="0" indent="0">
              <a:buNone/>
              <a:defRPr/>
            </a:pPr>
            <a:r>
              <a:rPr lang="en-US" sz="1700" b="1">
                <a:solidFill>
                  <a:schemeClr val="tx1"/>
                </a:solidFill>
              </a:rPr>
              <a:t>Strengths</a:t>
            </a:r>
            <a:endParaRPr lang="en-US" sz="1700"/>
          </a:p>
        </p:txBody>
      </p:sp>
      <p:sp>
        <p:nvSpPr>
          <p:cNvPr id="729938078" name="list-445"/>
          <p:cNvSpPr txBox="1"/>
          <p:nvPr/>
        </p:nvSpPr>
        <p:spPr bwMode="auto">
          <a:xfrm>
            <a:off x="685800" y="2194560"/>
            <a:ext cx="2240280" cy="2148840"/>
          </a:xfrm>
          <a:prstGeom prst="rect">
            <a:avLst/>
          </a:prstGeom>
          <a:noFill/>
          <a:ln/>
        </p:spPr>
        <p:txBody>
          <a:bodyPr wrap="square" lIns="0" tIns="0" rIns="0" bIns="0" rtlCol="0" anchor="t"/>
          <a:lstStyle/>
          <a:p>
            <a:pPr marL="177800" indent="-177800">
              <a:spcAft>
                <a:spcPts val="1000"/>
              </a:spcAft>
              <a:buSzPct val="100000"/>
              <a:buChar char="•"/>
              <a:defRPr/>
            </a:pPr>
            <a:r>
              <a:rPr lang="en-US" sz="1600">
                <a:solidFill>
                  <a:schemeClr val="tx1"/>
                </a:solidFill>
              </a:rPr>
              <a:t>Fast first drafts</a:t>
            </a:r>
            <a:endParaRPr lang="en-US" sz="1600"/>
          </a:p>
          <a:p>
            <a:pPr marL="177800" indent="-177800">
              <a:spcAft>
                <a:spcPts val="1000"/>
              </a:spcAft>
              <a:buSzPct val="100000"/>
              <a:buChar char="•"/>
              <a:defRPr/>
            </a:pPr>
            <a:r>
              <a:rPr lang="en-US" sz="1600">
                <a:solidFill>
                  <a:schemeClr val="tx1"/>
                </a:solidFill>
              </a:rPr>
              <a:t>Summarising and translating</a:t>
            </a:r>
            <a:endParaRPr lang="en-US" sz="1600"/>
          </a:p>
          <a:p>
            <a:pPr marL="177800" indent="-177800">
              <a:spcAft>
                <a:spcPts val="1000"/>
              </a:spcAft>
              <a:buSzPct val="100000"/>
              <a:buChar char="•"/>
              <a:defRPr/>
            </a:pPr>
            <a:r>
              <a:rPr lang="en-US" sz="1600">
                <a:solidFill>
                  <a:schemeClr val="tx1"/>
                </a:solidFill>
              </a:rPr>
              <a:t>Help with code and data</a:t>
            </a:r>
            <a:endParaRPr lang="en-US" sz="1600"/>
          </a:p>
          <a:p>
            <a:pPr marL="177800" indent="-177800">
              <a:spcAft>
                <a:spcPts val="1000"/>
              </a:spcAft>
              <a:buSzPct val="100000"/>
              <a:buChar char="•"/>
              <a:defRPr/>
            </a:pPr>
            <a:r>
              <a:rPr lang="en-US" sz="1600">
                <a:solidFill>
                  <a:schemeClr val="tx1"/>
                </a:solidFill>
              </a:rPr>
              <a:t>Brainstorming ideas</a:t>
            </a:r>
            <a:endParaRPr lang="en-US" sz="1600"/>
          </a:p>
        </p:txBody>
      </p:sp>
      <p:sp>
        <p:nvSpPr>
          <p:cNvPr id="1441552418" name="card-446"/>
          <p:cNvSpPr/>
          <p:nvPr/>
        </p:nvSpPr>
        <p:spPr bwMode="auto">
          <a:xfrm>
            <a:off x="3268980" y="1234440"/>
            <a:ext cx="2606040" cy="3200400"/>
          </a:xfrm>
          <a:prstGeom prst="roundRect">
            <a:avLst>
              <a:gd name="adj" fmla="val 3509"/>
            </a:avLst>
          </a:prstGeom>
          <a:solidFill>
            <a:schemeClr val="bg2"/>
          </a:solidFill>
          <a:ln w="12700">
            <a:solidFill>
              <a:schemeClr val="bg2"/>
            </a:solidFill>
            <a:prstDash val="solid"/>
          </a:ln>
        </p:spPr>
      </p:sp>
      <p:sp>
        <p:nvSpPr>
          <p:cNvPr id="1494206602" name="circle-447"/>
          <p:cNvSpPr/>
          <p:nvPr/>
        </p:nvSpPr>
        <p:spPr bwMode="auto">
          <a:xfrm>
            <a:off x="3497580" y="1417320"/>
            <a:ext cx="502920" cy="502920"/>
          </a:xfrm>
          <a:prstGeom prst="ellipse">
            <a:avLst/>
          </a:prstGeom>
          <a:solidFill>
            <a:srgbClr val="D93C41"/>
          </a:solidFill>
          <a:ln w="12700">
            <a:solidFill>
              <a:srgbClr val="D93C41"/>
            </a:solidFill>
            <a:prstDash val="solid"/>
          </a:ln>
        </p:spPr>
      </p:sp>
      <p:pic>
        <p:nvPicPr>
          <p:cNvPr id="1832280683" name="icon-448" descr="preencoded.png"/>
          <p:cNvPicPr>
            <a:picLocks noChangeAspect="1"/>
          </p:cNvPicPr>
          <p:nvPr/>
        </p:nvPicPr>
        <p:blipFill rotWithShape="1">
          <a:blip r:embed="rId4"/>
          <a:stretch/>
        </p:blipFill>
        <p:spPr bwMode="auto">
          <a:xfrm>
            <a:off x="3638398" y="1558138"/>
            <a:ext cx="221285" cy="221285"/>
          </a:xfrm>
          <a:prstGeom prst="rect">
            <a:avLst/>
          </a:prstGeom>
        </p:spPr>
      </p:pic>
      <p:sp>
        <p:nvSpPr>
          <p:cNvPr id="117806196" name="text-449"/>
          <p:cNvSpPr txBox="1"/>
          <p:nvPr/>
        </p:nvSpPr>
        <p:spPr bwMode="auto">
          <a:xfrm>
            <a:off x="4137660" y="1508759"/>
            <a:ext cx="1645920" cy="320040"/>
          </a:xfrm>
          <a:prstGeom prst="rect">
            <a:avLst/>
          </a:prstGeom>
          <a:noFill/>
          <a:ln/>
        </p:spPr>
        <p:txBody>
          <a:bodyPr wrap="square" lIns="0" tIns="0" rIns="0" bIns="0" rtlCol="0" anchor="t"/>
          <a:lstStyle/>
          <a:p>
            <a:pPr marL="0" indent="0">
              <a:buNone/>
              <a:defRPr/>
            </a:pPr>
            <a:r>
              <a:rPr lang="en-US" sz="1700" b="1">
                <a:solidFill>
                  <a:schemeClr val="tx1"/>
                </a:solidFill>
              </a:rPr>
              <a:t>Watch-outs</a:t>
            </a:r>
            <a:endParaRPr lang="en-US" sz="1700"/>
          </a:p>
        </p:txBody>
      </p:sp>
      <p:sp>
        <p:nvSpPr>
          <p:cNvPr id="110470953" name="list-450"/>
          <p:cNvSpPr txBox="1"/>
          <p:nvPr/>
        </p:nvSpPr>
        <p:spPr bwMode="auto">
          <a:xfrm>
            <a:off x="3497580" y="2194560"/>
            <a:ext cx="2240280" cy="2148840"/>
          </a:xfrm>
          <a:prstGeom prst="rect">
            <a:avLst/>
          </a:prstGeom>
          <a:noFill/>
          <a:ln/>
        </p:spPr>
        <p:txBody>
          <a:bodyPr wrap="square" lIns="0" tIns="0" rIns="0" bIns="0" rtlCol="0" anchor="t"/>
          <a:lstStyle/>
          <a:p>
            <a:pPr marL="177800" indent="-177800">
              <a:spcAft>
                <a:spcPts val="1000"/>
              </a:spcAft>
              <a:buSzPct val="100000"/>
              <a:buChar char="•"/>
              <a:defRPr/>
            </a:pPr>
            <a:r>
              <a:rPr lang="en-US" sz="1600">
                <a:solidFill>
                  <a:schemeClr val="tx1"/>
                </a:solidFill>
              </a:rPr>
              <a:t>Hallucinations: confident but wrong</a:t>
            </a:r>
            <a:endParaRPr lang="en-US" sz="1600"/>
          </a:p>
          <a:p>
            <a:pPr marL="177800" indent="-177800">
              <a:spcAft>
                <a:spcPts val="1000"/>
              </a:spcAft>
              <a:buSzPct val="100000"/>
              <a:buChar char="•"/>
              <a:defRPr/>
            </a:pPr>
            <a:r>
              <a:rPr lang="en-US" sz="1600">
                <a:solidFill>
                  <a:schemeClr val="tx1"/>
                </a:solidFill>
              </a:rPr>
              <a:t>Bias from training data</a:t>
            </a:r>
            <a:endParaRPr lang="en-US" sz="1600"/>
          </a:p>
          <a:p>
            <a:pPr marL="177800" indent="-177800">
              <a:spcAft>
                <a:spcPts val="1000"/>
              </a:spcAft>
              <a:buSzPct val="100000"/>
              <a:buChar char="•"/>
              <a:defRPr/>
            </a:pPr>
            <a:r>
              <a:rPr lang="en-US" sz="1600">
                <a:solidFill>
                  <a:schemeClr val="tx1"/>
                </a:solidFill>
              </a:rPr>
              <a:t>Privacy and copyright risks</a:t>
            </a:r>
            <a:endParaRPr lang="en-US" sz="1600"/>
          </a:p>
          <a:p>
            <a:pPr marL="177800" indent="-177800">
              <a:spcAft>
                <a:spcPts val="1000"/>
              </a:spcAft>
              <a:buSzPct val="100000"/>
              <a:buChar char="•"/>
              <a:defRPr/>
            </a:pPr>
            <a:r>
              <a:rPr lang="en-US" sz="1600">
                <a:solidFill>
                  <a:schemeClr val="tx1"/>
                </a:solidFill>
              </a:rPr>
              <a:t>Not a source of truth</a:t>
            </a:r>
            <a:endParaRPr lang="en-US" sz="1600"/>
          </a:p>
        </p:txBody>
      </p:sp>
      <p:sp>
        <p:nvSpPr>
          <p:cNvPr id="1132631898" name="card-451"/>
          <p:cNvSpPr/>
          <p:nvPr/>
        </p:nvSpPr>
        <p:spPr bwMode="auto">
          <a:xfrm>
            <a:off x="6080760" y="1234440"/>
            <a:ext cx="2606040" cy="3200400"/>
          </a:xfrm>
          <a:prstGeom prst="roundRect">
            <a:avLst>
              <a:gd name="adj" fmla="val 3509"/>
            </a:avLst>
          </a:prstGeom>
          <a:solidFill>
            <a:schemeClr val="bg2"/>
          </a:solidFill>
          <a:ln w="12700">
            <a:solidFill>
              <a:schemeClr val="bg2"/>
            </a:solidFill>
            <a:prstDash val="solid"/>
          </a:ln>
        </p:spPr>
      </p:sp>
      <p:sp>
        <p:nvSpPr>
          <p:cNvPr id="471830797" name="circle-452"/>
          <p:cNvSpPr/>
          <p:nvPr/>
        </p:nvSpPr>
        <p:spPr bwMode="auto">
          <a:xfrm>
            <a:off x="6309360" y="1417320"/>
            <a:ext cx="502920" cy="502920"/>
          </a:xfrm>
          <a:prstGeom prst="ellipse">
            <a:avLst/>
          </a:prstGeom>
          <a:solidFill>
            <a:srgbClr val="5B5BD6"/>
          </a:solidFill>
          <a:ln w="12700">
            <a:solidFill>
              <a:srgbClr val="5B5BD6"/>
            </a:solidFill>
            <a:prstDash val="solid"/>
          </a:ln>
        </p:spPr>
      </p:sp>
      <p:pic>
        <p:nvPicPr>
          <p:cNvPr id="146137339" name="icon-453" descr="preencoded.png"/>
          <p:cNvPicPr>
            <a:picLocks noChangeAspect="1"/>
          </p:cNvPicPr>
          <p:nvPr/>
        </p:nvPicPr>
        <p:blipFill rotWithShape="1">
          <a:blip r:embed="rId5"/>
          <a:stretch/>
        </p:blipFill>
        <p:spPr bwMode="auto">
          <a:xfrm>
            <a:off x="6450178" y="1558138"/>
            <a:ext cx="221285" cy="221285"/>
          </a:xfrm>
          <a:prstGeom prst="rect">
            <a:avLst/>
          </a:prstGeom>
        </p:spPr>
      </p:pic>
      <p:sp>
        <p:nvSpPr>
          <p:cNvPr id="1744763289" name="text-454"/>
          <p:cNvSpPr txBox="1"/>
          <p:nvPr/>
        </p:nvSpPr>
        <p:spPr bwMode="auto">
          <a:xfrm>
            <a:off x="6949440" y="1508759"/>
            <a:ext cx="1645920" cy="320040"/>
          </a:xfrm>
          <a:prstGeom prst="rect">
            <a:avLst/>
          </a:prstGeom>
          <a:noFill/>
          <a:ln/>
        </p:spPr>
        <p:txBody>
          <a:bodyPr wrap="square" lIns="0" tIns="0" rIns="0" bIns="0" rtlCol="0" anchor="t"/>
          <a:lstStyle/>
          <a:p>
            <a:pPr marL="0" indent="0">
              <a:buNone/>
              <a:defRPr/>
            </a:pPr>
            <a:r>
              <a:rPr lang="en-US" sz="1700" b="1">
                <a:solidFill>
                  <a:schemeClr val="tx1"/>
                </a:solidFill>
              </a:rPr>
              <a:t>Good practice</a:t>
            </a:r>
            <a:endParaRPr lang="en-US" sz="1700"/>
          </a:p>
        </p:txBody>
      </p:sp>
      <p:sp>
        <p:nvSpPr>
          <p:cNvPr id="2142404645" name="list-455"/>
          <p:cNvSpPr txBox="1"/>
          <p:nvPr/>
        </p:nvSpPr>
        <p:spPr bwMode="auto">
          <a:xfrm>
            <a:off x="6309360" y="2194560"/>
            <a:ext cx="2240280" cy="2148840"/>
          </a:xfrm>
          <a:prstGeom prst="rect">
            <a:avLst/>
          </a:prstGeom>
          <a:noFill/>
          <a:ln/>
        </p:spPr>
        <p:txBody>
          <a:bodyPr wrap="square" lIns="0" tIns="0" rIns="0" bIns="0" rtlCol="0" anchor="t"/>
          <a:lstStyle/>
          <a:p>
            <a:pPr marL="177800" indent="-177800">
              <a:spcAft>
                <a:spcPts val="1000"/>
              </a:spcAft>
              <a:buSzPct val="100000"/>
              <a:buChar char="•"/>
              <a:defRPr/>
            </a:pPr>
            <a:r>
              <a:rPr lang="en-US" sz="1600">
                <a:solidFill>
                  <a:schemeClr val="tx1"/>
                </a:solidFill>
              </a:rPr>
              <a:t>Be specific and give context</a:t>
            </a:r>
            <a:endParaRPr lang="en-US" sz="1600"/>
          </a:p>
          <a:p>
            <a:pPr marL="177800" indent="-177800">
              <a:spcAft>
                <a:spcPts val="1000"/>
              </a:spcAft>
              <a:buSzPct val="100000"/>
              <a:buChar char="•"/>
              <a:defRPr/>
            </a:pPr>
            <a:r>
              <a:rPr lang="en-US" sz="1600">
                <a:solidFill>
                  <a:schemeClr val="tx1"/>
                </a:solidFill>
              </a:rPr>
              <a:t>Iterate on the output</a:t>
            </a:r>
            <a:endParaRPr lang="en-US" sz="1600"/>
          </a:p>
          <a:p>
            <a:pPr marL="177800" indent="-177800">
              <a:spcAft>
                <a:spcPts val="1000"/>
              </a:spcAft>
              <a:buSzPct val="100000"/>
              <a:buChar char="•"/>
              <a:defRPr/>
            </a:pPr>
            <a:r>
              <a:rPr lang="en-US" sz="1600">
                <a:solidFill>
                  <a:schemeClr val="tx1"/>
                </a:solidFill>
              </a:rPr>
              <a:t>Verify facts and sources</a:t>
            </a:r>
            <a:endParaRPr lang="en-US" sz="1600"/>
          </a:p>
          <a:p>
            <a:pPr marL="177800" indent="-177800">
              <a:spcAft>
                <a:spcPts val="1000"/>
              </a:spcAft>
              <a:buSzPct val="100000"/>
              <a:buChar char="•"/>
              <a:defRPr/>
            </a:pPr>
            <a:r>
              <a:rPr lang="en-US" sz="1600">
                <a:solidFill>
                  <a:schemeClr val="tx1"/>
                </a:solidFill>
              </a:rPr>
              <a:t>Keep a human in the loop</a:t>
            </a:r>
            <a:endParaRPr lang="en-US" sz="1600"/>
          </a:p>
        </p:txBody>
      </p:sp>
      <p:sp>
        <p:nvSpPr>
          <p:cNvPr id="322847408" name="Slide Number Placeholder 0"/>
          <p:cNvSpPr>
            <a:spLocks noGrp="1"/>
          </p:cNvSpPr>
          <p:nvPr>
            <p:ph type="sldNum" sz="quarter" idx="4294967295"/>
          </p:nvPr>
        </p:nvSpPr>
        <p:spPr bwMode="auto">
          <a:xfrm>
            <a:off x="8229600" y="4800600"/>
            <a:ext cx="457200" cy="228600"/>
          </a:xfrm>
          <a:prstGeom prst="rect">
            <a:avLst/>
          </a:prstGeom>
        </p:spPr>
        <p:txBody>
          <a:bodyPr/>
          <a:lstStyle>
            <a:lvl1pPr>
              <a:defRPr sz="1000">
                <a:solidFill>
                  <a:schemeClr val="accent5"/>
                </a:solidFill>
              </a:defRPr>
            </a:lvl1pPr>
          </a:lstStyle>
          <a:p>
            <a:pPr algn="r">
              <a:defRPr/>
            </a:pPr>
            <a:fld id="{F7021451-1387-4CA6-816F-3879F97B5CBC}" type="slidenum">
              <a:rPr lang="en-US" b="0"/>
              <a:t>19</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0">
    <p:spTree>
      <p:nvGrpSpPr>
        <p:cNvPr id="1" name=""/>
        <p:cNvGrpSpPr/>
        <p:nvPr/>
      </p:nvGrpSpPr>
      <p:grpSpPr bwMode="auto">
        <a:xfrm>
          <a:off x="0" y="0"/>
          <a:ext cx="0" cy="0"/>
          <a:chOff x="0" y="0"/>
          <a:chExt cx="0" cy="0"/>
        </a:xfrm>
      </p:grpSpPr>
      <p:sp>
        <p:nvSpPr>
          <p:cNvPr id="139216331" name="text-456"/>
          <p:cNvSpPr txBox="1"/>
          <p:nvPr/>
        </p:nvSpPr>
        <p:spPr bwMode="auto">
          <a:xfrm>
            <a:off x="822960" y="914400"/>
            <a:ext cx="2743200" cy="1097280"/>
          </a:xfrm>
          <a:prstGeom prst="rect">
            <a:avLst/>
          </a:prstGeom>
          <a:noFill/>
          <a:ln/>
        </p:spPr>
        <p:txBody>
          <a:bodyPr wrap="square" lIns="0" tIns="0" rIns="0" bIns="0" rtlCol="0" anchor="t"/>
          <a:lstStyle/>
          <a:p>
            <a:pPr marL="0" indent="0">
              <a:buNone/>
              <a:defRPr/>
            </a:pPr>
            <a:r>
              <a:rPr lang="en-US" sz="7200" b="1">
                <a:solidFill>
                  <a:schemeClr val="accent2"/>
                </a:solidFill>
              </a:rPr>
              <a:t>04</a:t>
            </a:r>
            <a:endParaRPr lang="en-US" sz="7200"/>
          </a:p>
        </p:txBody>
      </p:sp>
      <p:sp>
        <p:nvSpPr>
          <p:cNvPr id="126859701" name="text-457"/>
          <p:cNvSpPr txBox="1"/>
          <p:nvPr/>
        </p:nvSpPr>
        <p:spPr bwMode="auto">
          <a:xfrm>
            <a:off x="822960" y="2011680"/>
            <a:ext cx="5669280" cy="1188720"/>
          </a:xfrm>
          <a:prstGeom prst="rect">
            <a:avLst/>
          </a:prstGeom>
          <a:noFill/>
          <a:ln/>
        </p:spPr>
        <p:txBody>
          <a:bodyPr wrap="square" lIns="0" tIns="0" rIns="0" bIns="0" rtlCol="0" anchor="b"/>
          <a:lstStyle/>
          <a:p>
            <a:pPr marL="0" indent="0">
              <a:buNone/>
              <a:defRPr/>
            </a:pPr>
            <a:r>
              <a:rPr lang="en-US" sz="3600" b="1">
                <a:solidFill>
                  <a:schemeClr val="bg1"/>
                </a:solidFill>
                <a:latin typeface="Cambria"/>
                <a:ea typeface="Cambria"/>
                <a:cs typeface="Cambria"/>
              </a:rPr>
              <a:t>Applications and lifecycle</a:t>
            </a:r>
            <a:endParaRPr lang="en-US" sz="3600"/>
          </a:p>
        </p:txBody>
      </p:sp>
      <p:sp>
        <p:nvSpPr>
          <p:cNvPr id="1071161977" name="text-458"/>
          <p:cNvSpPr txBox="1"/>
          <p:nvPr/>
        </p:nvSpPr>
        <p:spPr bwMode="auto">
          <a:xfrm>
            <a:off x="822960" y="3383280"/>
            <a:ext cx="5486400" cy="822960"/>
          </a:xfrm>
          <a:prstGeom prst="rect">
            <a:avLst/>
          </a:prstGeom>
          <a:noFill/>
          <a:ln/>
        </p:spPr>
        <p:txBody>
          <a:bodyPr wrap="square" lIns="0" tIns="0" rIns="0" bIns="0" rtlCol="0" anchor="t"/>
          <a:lstStyle/>
          <a:p>
            <a:pPr marL="0" indent="0">
              <a:buNone/>
              <a:defRPr/>
            </a:pPr>
            <a:r>
              <a:rPr lang="en-US" sz="1800">
                <a:solidFill>
                  <a:schemeClr val="bg2"/>
                </a:solidFill>
              </a:rPr>
              <a:t>Where AI is used, and how a project runs from idea to deployment</a:t>
            </a:r>
            <a:endParaRPr lang="en-US" sz="1800"/>
          </a:p>
        </p:txBody>
      </p:sp>
      <p:sp>
        <p:nvSpPr>
          <p:cNvPr id="1325033703" name="circle-459"/>
          <p:cNvSpPr/>
          <p:nvPr/>
        </p:nvSpPr>
        <p:spPr bwMode="auto">
          <a:xfrm>
            <a:off x="6766560" y="1371600"/>
            <a:ext cx="1737360" cy="1737360"/>
          </a:xfrm>
          <a:prstGeom prst="ellipse">
            <a:avLst/>
          </a:prstGeom>
          <a:solidFill>
            <a:srgbClr val="0B8478"/>
          </a:solidFill>
          <a:ln w="12700">
            <a:solidFill>
              <a:srgbClr val="0B8478"/>
            </a:solidFill>
            <a:prstDash val="solid"/>
          </a:ln>
        </p:spPr>
      </p:sp>
      <p:pic>
        <p:nvPicPr>
          <p:cNvPr id="1472584588" name="icon-460" descr="preencoded.png"/>
          <p:cNvPicPr>
            <a:picLocks noChangeAspect="1"/>
          </p:cNvPicPr>
          <p:nvPr/>
        </p:nvPicPr>
        <p:blipFill rotWithShape="1">
          <a:blip r:embed="rId3"/>
          <a:stretch/>
        </p:blipFill>
        <p:spPr bwMode="auto">
          <a:xfrm>
            <a:off x="7223760" y="1828800"/>
            <a:ext cx="822960" cy="82296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1">
    <p:spTree>
      <p:nvGrpSpPr>
        <p:cNvPr id="1" name=""/>
        <p:cNvGrpSpPr/>
        <p:nvPr/>
      </p:nvGrpSpPr>
      <p:grpSpPr bwMode="auto">
        <a:xfrm>
          <a:off x="0" y="0"/>
          <a:ext cx="0" cy="0"/>
          <a:chOff x="0" y="0"/>
          <a:chExt cx="0" cy="0"/>
        </a:xfrm>
      </p:grpSpPr>
      <p:sp>
        <p:nvSpPr>
          <p:cNvPr id="1085457792" name="Text 0"/>
          <p:cNvSpPr/>
          <p:nvPr>
            <p:ph type="title" idx="100" hasCustomPrompt="1"/>
          </p:nvPr>
        </p:nvSpPr>
        <p:spPr bwMode="auto">
          <a:xfrm>
            <a:off x="457200" y="274320"/>
            <a:ext cx="8229600" cy="731520"/>
          </a:xfrm>
          <a:prstGeom prst="rect">
            <a:avLst/>
          </a:prstGeom>
          <a:noFill/>
          <a:ln/>
        </p:spPr>
        <p:txBody>
          <a:bodyPr wrap="square" lIns="0" tIns="0" rIns="0" bIns="0" rtlCol="0" anchor="ctr"/>
          <a:lstStyle/>
          <a:p>
            <a:pPr marL="0" indent="0" algn="l">
              <a:buNone/>
              <a:defRPr/>
            </a:pPr>
            <a:r>
              <a:rPr lang="en-US" sz="3000" b="1">
                <a:solidFill>
                  <a:schemeClr val="tx2"/>
                </a:solidFill>
              </a:rPr>
              <a:t>Real-world applications</a:t>
            </a:r>
            <a:endParaRPr lang="en-US" sz="3000"/>
          </a:p>
        </p:txBody>
      </p:sp>
      <p:sp>
        <p:nvSpPr>
          <p:cNvPr id="838748456" name="card-461"/>
          <p:cNvSpPr/>
          <p:nvPr/>
        </p:nvSpPr>
        <p:spPr bwMode="auto">
          <a:xfrm>
            <a:off x="457200" y="1234440"/>
            <a:ext cx="2606040" cy="1600200"/>
          </a:xfrm>
          <a:prstGeom prst="roundRect">
            <a:avLst>
              <a:gd name="adj" fmla="val 5714"/>
            </a:avLst>
          </a:prstGeom>
          <a:solidFill>
            <a:schemeClr val="bg2"/>
          </a:solidFill>
          <a:ln w="12700">
            <a:solidFill>
              <a:schemeClr val="bg2"/>
            </a:solidFill>
            <a:prstDash val="solid"/>
          </a:ln>
        </p:spPr>
      </p:sp>
      <p:sp>
        <p:nvSpPr>
          <p:cNvPr id="230521846" name="circle-462"/>
          <p:cNvSpPr/>
          <p:nvPr/>
        </p:nvSpPr>
        <p:spPr bwMode="auto">
          <a:xfrm>
            <a:off x="640080" y="1417320"/>
            <a:ext cx="457200" cy="457200"/>
          </a:xfrm>
          <a:prstGeom prst="ellipse">
            <a:avLst/>
          </a:prstGeom>
          <a:solidFill>
            <a:srgbClr val="D93C41"/>
          </a:solidFill>
          <a:ln w="12700">
            <a:solidFill>
              <a:srgbClr val="D93C41"/>
            </a:solidFill>
            <a:prstDash val="solid"/>
          </a:ln>
        </p:spPr>
      </p:sp>
      <p:pic>
        <p:nvPicPr>
          <p:cNvPr id="282160702" name="icon-463" descr="preencoded.png"/>
          <p:cNvPicPr>
            <a:picLocks noChangeAspect="1"/>
          </p:cNvPicPr>
          <p:nvPr/>
        </p:nvPicPr>
        <p:blipFill rotWithShape="1">
          <a:blip r:embed="rId3"/>
          <a:stretch/>
        </p:blipFill>
        <p:spPr bwMode="auto">
          <a:xfrm>
            <a:off x="768096" y="1545336"/>
            <a:ext cx="201168" cy="201168"/>
          </a:xfrm>
          <a:prstGeom prst="rect">
            <a:avLst/>
          </a:prstGeom>
        </p:spPr>
      </p:pic>
      <p:sp>
        <p:nvSpPr>
          <p:cNvPr id="176805101" name="text-464"/>
          <p:cNvSpPr txBox="1"/>
          <p:nvPr/>
        </p:nvSpPr>
        <p:spPr bwMode="auto">
          <a:xfrm>
            <a:off x="1234440" y="1481328"/>
            <a:ext cx="1737360" cy="320040"/>
          </a:xfrm>
          <a:prstGeom prst="rect">
            <a:avLst/>
          </a:prstGeom>
          <a:noFill/>
          <a:ln/>
        </p:spPr>
        <p:txBody>
          <a:bodyPr wrap="square" lIns="0" tIns="0" rIns="0" bIns="0" rtlCol="0" anchor="t"/>
          <a:lstStyle/>
          <a:p>
            <a:pPr marL="0" indent="0">
              <a:buNone/>
              <a:defRPr/>
            </a:pPr>
            <a:r>
              <a:rPr lang="en-US" sz="1600" b="1">
                <a:solidFill>
                  <a:schemeClr val="tx1"/>
                </a:solidFill>
              </a:rPr>
              <a:t>Healthcare</a:t>
            </a:r>
            <a:endParaRPr lang="en-US" sz="1600"/>
          </a:p>
        </p:txBody>
      </p:sp>
      <p:sp>
        <p:nvSpPr>
          <p:cNvPr id="483277535" name="text-465"/>
          <p:cNvSpPr txBox="1"/>
          <p:nvPr/>
        </p:nvSpPr>
        <p:spPr bwMode="auto">
          <a:xfrm>
            <a:off x="640080" y="2011680"/>
            <a:ext cx="2286000" cy="777240"/>
          </a:xfrm>
          <a:prstGeom prst="rect">
            <a:avLst/>
          </a:prstGeom>
          <a:noFill/>
          <a:ln/>
        </p:spPr>
        <p:txBody>
          <a:bodyPr wrap="square" lIns="0" tIns="0" rIns="0" bIns="0" rtlCol="0" anchor="t"/>
          <a:lstStyle/>
          <a:p>
            <a:pPr marL="0" indent="0">
              <a:buNone/>
              <a:defRPr/>
            </a:pPr>
            <a:r>
              <a:rPr lang="en-US" sz="1400">
                <a:solidFill>
                  <a:schemeClr val="tx1"/>
                </a:solidFill>
              </a:rPr>
              <a:t>Reads scans, predicts risk, drafts clinical notes</a:t>
            </a:r>
            <a:endParaRPr lang="en-US" sz="1400"/>
          </a:p>
        </p:txBody>
      </p:sp>
      <p:sp>
        <p:nvSpPr>
          <p:cNvPr id="1394094640" name="card-466"/>
          <p:cNvSpPr/>
          <p:nvPr/>
        </p:nvSpPr>
        <p:spPr bwMode="auto">
          <a:xfrm>
            <a:off x="3268980" y="1234440"/>
            <a:ext cx="2606040" cy="1600200"/>
          </a:xfrm>
          <a:prstGeom prst="roundRect">
            <a:avLst>
              <a:gd name="adj" fmla="val 5714"/>
            </a:avLst>
          </a:prstGeom>
          <a:solidFill>
            <a:schemeClr val="bg2"/>
          </a:solidFill>
          <a:ln w="12700">
            <a:solidFill>
              <a:schemeClr val="bg2"/>
            </a:solidFill>
            <a:prstDash val="solid"/>
          </a:ln>
        </p:spPr>
      </p:sp>
      <p:sp>
        <p:nvSpPr>
          <p:cNvPr id="1498214657" name="circle-467"/>
          <p:cNvSpPr/>
          <p:nvPr/>
        </p:nvSpPr>
        <p:spPr bwMode="auto">
          <a:xfrm>
            <a:off x="3451860" y="1417320"/>
            <a:ext cx="457200" cy="457200"/>
          </a:xfrm>
          <a:prstGeom prst="ellipse">
            <a:avLst/>
          </a:prstGeom>
          <a:solidFill>
            <a:srgbClr val="2F6FED"/>
          </a:solidFill>
          <a:ln w="12700">
            <a:solidFill>
              <a:srgbClr val="2F6FED"/>
            </a:solidFill>
            <a:prstDash val="solid"/>
          </a:ln>
        </p:spPr>
      </p:sp>
      <p:pic>
        <p:nvPicPr>
          <p:cNvPr id="112865518" name="icon-468" descr="preencoded.png"/>
          <p:cNvPicPr>
            <a:picLocks noChangeAspect="1"/>
          </p:cNvPicPr>
          <p:nvPr/>
        </p:nvPicPr>
        <p:blipFill rotWithShape="1">
          <a:blip r:embed="rId4"/>
          <a:stretch/>
        </p:blipFill>
        <p:spPr bwMode="auto">
          <a:xfrm>
            <a:off x="3579876" y="1545336"/>
            <a:ext cx="201168" cy="201168"/>
          </a:xfrm>
          <a:prstGeom prst="rect">
            <a:avLst/>
          </a:prstGeom>
        </p:spPr>
      </p:pic>
      <p:sp>
        <p:nvSpPr>
          <p:cNvPr id="693241666" name="text-469"/>
          <p:cNvSpPr txBox="1"/>
          <p:nvPr/>
        </p:nvSpPr>
        <p:spPr bwMode="auto">
          <a:xfrm>
            <a:off x="4046220" y="1481328"/>
            <a:ext cx="1737360" cy="320040"/>
          </a:xfrm>
          <a:prstGeom prst="rect">
            <a:avLst/>
          </a:prstGeom>
          <a:noFill/>
          <a:ln/>
        </p:spPr>
        <p:txBody>
          <a:bodyPr wrap="square" lIns="0" tIns="0" rIns="0" bIns="0" rtlCol="0" anchor="t"/>
          <a:lstStyle/>
          <a:p>
            <a:pPr marL="0" indent="0">
              <a:buNone/>
              <a:defRPr/>
            </a:pPr>
            <a:r>
              <a:rPr lang="en-US" sz="1600" b="1">
                <a:solidFill>
                  <a:schemeClr val="tx1"/>
                </a:solidFill>
              </a:rPr>
              <a:t>Finance</a:t>
            </a:r>
            <a:endParaRPr lang="en-US" sz="1600"/>
          </a:p>
        </p:txBody>
      </p:sp>
      <p:sp>
        <p:nvSpPr>
          <p:cNvPr id="1376736028" name="text-470"/>
          <p:cNvSpPr txBox="1"/>
          <p:nvPr/>
        </p:nvSpPr>
        <p:spPr bwMode="auto">
          <a:xfrm>
            <a:off x="3451860" y="2011680"/>
            <a:ext cx="2286000" cy="777240"/>
          </a:xfrm>
          <a:prstGeom prst="rect">
            <a:avLst/>
          </a:prstGeom>
          <a:noFill/>
          <a:ln/>
        </p:spPr>
        <p:txBody>
          <a:bodyPr wrap="square" lIns="0" tIns="0" rIns="0" bIns="0" rtlCol="0" anchor="t"/>
          <a:lstStyle/>
          <a:p>
            <a:pPr marL="0" indent="0">
              <a:buNone/>
              <a:defRPr/>
            </a:pPr>
            <a:r>
              <a:rPr lang="en-US" sz="1400">
                <a:solidFill>
                  <a:schemeClr val="tx1"/>
                </a:solidFill>
              </a:rPr>
              <a:t>Detects fraud, scores credit, summarises reports</a:t>
            </a:r>
            <a:endParaRPr lang="en-US" sz="1400"/>
          </a:p>
        </p:txBody>
      </p:sp>
      <p:sp>
        <p:nvSpPr>
          <p:cNvPr id="503340508" name="card-471"/>
          <p:cNvSpPr/>
          <p:nvPr/>
        </p:nvSpPr>
        <p:spPr bwMode="auto">
          <a:xfrm>
            <a:off x="6080760" y="1234440"/>
            <a:ext cx="2606040" cy="1600200"/>
          </a:xfrm>
          <a:prstGeom prst="roundRect">
            <a:avLst>
              <a:gd name="adj" fmla="val 5714"/>
            </a:avLst>
          </a:prstGeom>
          <a:solidFill>
            <a:schemeClr val="bg2"/>
          </a:solidFill>
          <a:ln w="12700">
            <a:solidFill>
              <a:schemeClr val="bg2"/>
            </a:solidFill>
            <a:prstDash val="solid"/>
          </a:ln>
        </p:spPr>
      </p:sp>
      <p:sp>
        <p:nvSpPr>
          <p:cNvPr id="1076964744" name="circle-472"/>
          <p:cNvSpPr/>
          <p:nvPr/>
        </p:nvSpPr>
        <p:spPr bwMode="auto">
          <a:xfrm>
            <a:off x="6263640" y="1417320"/>
            <a:ext cx="457200" cy="457200"/>
          </a:xfrm>
          <a:prstGeom prst="ellipse">
            <a:avLst/>
          </a:prstGeom>
          <a:solidFill>
            <a:srgbClr val="F59E0B"/>
          </a:solidFill>
          <a:ln w="12700">
            <a:solidFill>
              <a:srgbClr val="F59E0B"/>
            </a:solidFill>
            <a:prstDash val="solid"/>
          </a:ln>
        </p:spPr>
      </p:sp>
      <p:pic>
        <p:nvPicPr>
          <p:cNvPr id="864216338" name="icon-473" descr="preencoded.png"/>
          <p:cNvPicPr>
            <a:picLocks noChangeAspect="1"/>
          </p:cNvPicPr>
          <p:nvPr/>
        </p:nvPicPr>
        <p:blipFill rotWithShape="1">
          <a:blip r:embed="rId5"/>
          <a:stretch/>
        </p:blipFill>
        <p:spPr bwMode="auto">
          <a:xfrm>
            <a:off x="6391656" y="1545336"/>
            <a:ext cx="201168" cy="201168"/>
          </a:xfrm>
          <a:prstGeom prst="rect">
            <a:avLst/>
          </a:prstGeom>
        </p:spPr>
      </p:pic>
      <p:sp>
        <p:nvSpPr>
          <p:cNvPr id="146251917" name="text-474"/>
          <p:cNvSpPr txBox="1"/>
          <p:nvPr/>
        </p:nvSpPr>
        <p:spPr bwMode="auto">
          <a:xfrm>
            <a:off x="6858000" y="1481328"/>
            <a:ext cx="1737360" cy="320040"/>
          </a:xfrm>
          <a:prstGeom prst="rect">
            <a:avLst/>
          </a:prstGeom>
          <a:noFill/>
          <a:ln/>
        </p:spPr>
        <p:txBody>
          <a:bodyPr wrap="square" lIns="0" tIns="0" rIns="0" bIns="0" rtlCol="0" anchor="t"/>
          <a:lstStyle/>
          <a:p>
            <a:pPr marL="0" indent="0">
              <a:buNone/>
              <a:defRPr/>
            </a:pPr>
            <a:r>
              <a:rPr lang="en-US" sz="1600" b="1">
                <a:solidFill>
                  <a:schemeClr val="tx1"/>
                </a:solidFill>
              </a:rPr>
              <a:t>Retail</a:t>
            </a:r>
            <a:endParaRPr lang="en-US" sz="1600"/>
          </a:p>
        </p:txBody>
      </p:sp>
      <p:sp>
        <p:nvSpPr>
          <p:cNvPr id="1535991777" name="text-475"/>
          <p:cNvSpPr txBox="1"/>
          <p:nvPr/>
        </p:nvSpPr>
        <p:spPr bwMode="auto">
          <a:xfrm>
            <a:off x="6263640" y="2011680"/>
            <a:ext cx="2286000" cy="777240"/>
          </a:xfrm>
          <a:prstGeom prst="rect">
            <a:avLst/>
          </a:prstGeom>
          <a:noFill/>
          <a:ln/>
        </p:spPr>
        <p:txBody>
          <a:bodyPr wrap="square" lIns="0" tIns="0" rIns="0" bIns="0" rtlCol="0" anchor="t"/>
          <a:lstStyle/>
          <a:p>
            <a:pPr marL="0" indent="0">
              <a:buNone/>
              <a:defRPr/>
            </a:pPr>
            <a:r>
              <a:rPr lang="en-US" sz="1400">
                <a:solidFill>
                  <a:schemeClr val="tx1"/>
                </a:solidFill>
              </a:rPr>
              <a:t>Recommends products, forecasts demand, writes copy</a:t>
            </a:r>
            <a:endParaRPr lang="en-US" sz="1400"/>
          </a:p>
        </p:txBody>
      </p:sp>
      <p:sp>
        <p:nvSpPr>
          <p:cNvPr id="652684731" name="card-476"/>
          <p:cNvSpPr/>
          <p:nvPr/>
        </p:nvSpPr>
        <p:spPr bwMode="auto">
          <a:xfrm>
            <a:off x="457200" y="3017519"/>
            <a:ext cx="2606040" cy="1600200"/>
          </a:xfrm>
          <a:prstGeom prst="roundRect">
            <a:avLst>
              <a:gd name="adj" fmla="val 5714"/>
            </a:avLst>
          </a:prstGeom>
          <a:solidFill>
            <a:schemeClr val="bg2"/>
          </a:solidFill>
          <a:ln w="12700">
            <a:solidFill>
              <a:schemeClr val="bg2"/>
            </a:solidFill>
            <a:prstDash val="solid"/>
          </a:ln>
        </p:spPr>
      </p:sp>
      <p:sp>
        <p:nvSpPr>
          <p:cNvPr id="229123596" name="circle-477"/>
          <p:cNvSpPr/>
          <p:nvPr/>
        </p:nvSpPr>
        <p:spPr bwMode="auto">
          <a:xfrm>
            <a:off x="640080" y="3200400"/>
            <a:ext cx="457200" cy="457200"/>
          </a:xfrm>
          <a:prstGeom prst="ellipse">
            <a:avLst/>
          </a:prstGeom>
          <a:solidFill>
            <a:srgbClr val="64748B"/>
          </a:solidFill>
          <a:ln w="12700">
            <a:solidFill>
              <a:srgbClr val="64748B"/>
            </a:solidFill>
            <a:prstDash val="solid"/>
          </a:ln>
        </p:spPr>
      </p:sp>
      <p:pic>
        <p:nvPicPr>
          <p:cNvPr id="1530997876" name="icon-478" descr="preencoded.png"/>
          <p:cNvPicPr>
            <a:picLocks noChangeAspect="1"/>
          </p:cNvPicPr>
          <p:nvPr/>
        </p:nvPicPr>
        <p:blipFill rotWithShape="1">
          <a:blip r:embed="rId6"/>
          <a:stretch/>
        </p:blipFill>
        <p:spPr bwMode="auto">
          <a:xfrm>
            <a:off x="768096" y="3328416"/>
            <a:ext cx="201168" cy="201168"/>
          </a:xfrm>
          <a:prstGeom prst="rect">
            <a:avLst/>
          </a:prstGeom>
        </p:spPr>
      </p:pic>
      <p:sp>
        <p:nvSpPr>
          <p:cNvPr id="802353752" name="text-479"/>
          <p:cNvSpPr txBox="1"/>
          <p:nvPr/>
        </p:nvSpPr>
        <p:spPr bwMode="auto">
          <a:xfrm>
            <a:off x="1234440" y="3264408"/>
            <a:ext cx="1737360" cy="320040"/>
          </a:xfrm>
          <a:prstGeom prst="rect">
            <a:avLst/>
          </a:prstGeom>
          <a:noFill/>
          <a:ln/>
        </p:spPr>
        <p:txBody>
          <a:bodyPr wrap="square" lIns="0" tIns="0" rIns="0" bIns="0" rtlCol="0" anchor="t"/>
          <a:lstStyle/>
          <a:p>
            <a:pPr marL="0" indent="0">
              <a:buNone/>
              <a:defRPr/>
            </a:pPr>
            <a:r>
              <a:rPr lang="en-US" sz="1600" b="1">
                <a:solidFill>
                  <a:schemeClr val="tx1"/>
                </a:solidFill>
              </a:rPr>
              <a:t>Manufacturing</a:t>
            </a:r>
            <a:endParaRPr lang="en-US" sz="1600"/>
          </a:p>
        </p:txBody>
      </p:sp>
      <p:sp>
        <p:nvSpPr>
          <p:cNvPr id="1766048395" name="text-480"/>
          <p:cNvSpPr txBox="1"/>
          <p:nvPr/>
        </p:nvSpPr>
        <p:spPr bwMode="auto">
          <a:xfrm>
            <a:off x="640080" y="3794760"/>
            <a:ext cx="2286000" cy="777240"/>
          </a:xfrm>
          <a:prstGeom prst="rect">
            <a:avLst/>
          </a:prstGeom>
          <a:noFill/>
          <a:ln/>
        </p:spPr>
        <p:txBody>
          <a:bodyPr wrap="square" lIns="0" tIns="0" rIns="0" bIns="0" rtlCol="0" anchor="t"/>
          <a:lstStyle/>
          <a:p>
            <a:pPr marL="0" indent="0">
              <a:buNone/>
              <a:defRPr/>
            </a:pPr>
            <a:r>
              <a:rPr lang="en-US" sz="1400">
                <a:solidFill>
                  <a:schemeClr val="tx1"/>
                </a:solidFill>
              </a:rPr>
              <a:t>Predicts breakdowns, inspects quality by camera</a:t>
            </a:r>
            <a:endParaRPr lang="en-US" sz="1400"/>
          </a:p>
        </p:txBody>
      </p:sp>
      <p:sp>
        <p:nvSpPr>
          <p:cNvPr id="724464835" name="card-481"/>
          <p:cNvSpPr/>
          <p:nvPr/>
        </p:nvSpPr>
        <p:spPr bwMode="auto">
          <a:xfrm>
            <a:off x="3268980" y="3017519"/>
            <a:ext cx="2606040" cy="1600200"/>
          </a:xfrm>
          <a:prstGeom prst="roundRect">
            <a:avLst>
              <a:gd name="adj" fmla="val 5714"/>
            </a:avLst>
          </a:prstGeom>
          <a:solidFill>
            <a:schemeClr val="bg2"/>
          </a:solidFill>
          <a:ln w="12700">
            <a:solidFill>
              <a:schemeClr val="bg2"/>
            </a:solidFill>
            <a:prstDash val="solid"/>
          </a:ln>
        </p:spPr>
      </p:sp>
      <p:sp>
        <p:nvSpPr>
          <p:cNvPr id="2051563174" name="circle-482"/>
          <p:cNvSpPr/>
          <p:nvPr/>
        </p:nvSpPr>
        <p:spPr bwMode="auto">
          <a:xfrm>
            <a:off x="3451860" y="3200400"/>
            <a:ext cx="457200" cy="457200"/>
          </a:xfrm>
          <a:prstGeom prst="ellipse">
            <a:avLst/>
          </a:prstGeom>
          <a:solidFill>
            <a:srgbClr val="0B8478"/>
          </a:solidFill>
          <a:ln w="12700">
            <a:solidFill>
              <a:srgbClr val="0B8478"/>
            </a:solidFill>
            <a:prstDash val="solid"/>
          </a:ln>
        </p:spPr>
      </p:sp>
      <p:pic>
        <p:nvPicPr>
          <p:cNvPr id="4698469" name="icon-483" descr="preencoded.png"/>
          <p:cNvPicPr>
            <a:picLocks noChangeAspect="1"/>
          </p:cNvPicPr>
          <p:nvPr/>
        </p:nvPicPr>
        <p:blipFill rotWithShape="1">
          <a:blip r:embed="rId7"/>
          <a:stretch/>
        </p:blipFill>
        <p:spPr bwMode="auto">
          <a:xfrm>
            <a:off x="3579876" y="3328416"/>
            <a:ext cx="201168" cy="201168"/>
          </a:xfrm>
          <a:prstGeom prst="rect">
            <a:avLst/>
          </a:prstGeom>
        </p:spPr>
      </p:pic>
      <p:sp>
        <p:nvSpPr>
          <p:cNvPr id="2110303717" name="text-484"/>
          <p:cNvSpPr txBox="1"/>
          <p:nvPr/>
        </p:nvSpPr>
        <p:spPr bwMode="auto">
          <a:xfrm>
            <a:off x="4046220" y="3264408"/>
            <a:ext cx="1737360" cy="320040"/>
          </a:xfrm>
          <a:prstGeom prst="rect">
            <a:avLst/>
          </a:prstGeom>
          <a:noFill/>
          <a:ln/>
        </p:spPr>
        <p:txBody>
          <a:bodyPr wrap="square" lIns="0" tIns="0" rIns="0" bIns="0" rtlCol="0" anchor="t"/>
          <a:lstStyle/>
          <a:p>
            <a:pPr marL="0" indent="0">
              <a:buNone/>
              <a:defRPr/>
            </a:pPr>
            <a:r>
              <a:rPr lang="en-US" sz="1600" b="1">
                <a:solidFill>
                  <a:schemeClr val="tx1"/>
                </a:solidFill>
              </a:rPr>
              <a:t>Transport</a:t>
            </a:r>
            <a:endParaRPr lang="en-US" sz="1600"/>
          </a:p>
        </p:txBody>
      </p:sp>
      <p:sp>
        <p:nvSpPr>
          <p:cNvPr id="226595083" name="text-485"/>
          <p:cNvSpPr txBox="1"/>
          <p:nvPr/>
        </p:nvSpPr>
        <p:spPr bwMode="auto">
          <a:xfrm>
            <a:off x="3451860" y="3794760"/>
            <a:ext cx="2286000" cy="777240"/>
          </a:xfrm>
          <a:prstGeom prst="rect">
            <a:avLst/>
          </a:prstGeom>
          <a:noFill/>
          <a:ln/>
        </p:spPr>
        <p:txBody>
          <a:bodyPr wrap="square" lIns="0" tIns="0" rIns="0" bIns="0" rtlCol="0" anchor="t"/>
          <a:lstStyle/>
          <a:p>
            <a:pPr marL="0" indent="0">
              <a:buNone/>
              <a:defRPr/>
            </a:pPr>
            <a:r>
              <a:rPr lang="en-US" sz="1400">
                <a:solidFill>
                  <a:schemeClr val="tx1"/>
                </a:solidFill>
              </a:rPr>
              <a:t>Self-driving, route planning, arrival-time prediction</a:t>
            </a:r>
            <a:endParaRPr lang="en-US" sz="1400"/>
          </a:p>
        </p:txBody>
      </p:sp>
      <p:sp>
        <p:nvSpPr>
          <p:cNvPr id="9291148" name="card-486"/>
          <p:cNvSpPr/>
          <p:nvPr/>
        </p:nvSpPr>
        <p:spPr bwMode="auto">
          <a:xfrm>
            <a:off x="6080760" y="3017519"/>
            <a:ext cx="2606040" cy="1600200"/>
          </a:xfrm>
          <a:prstGeom prst="roundRect">
            <a:avLst>
              <a:gd name="adj" fmla="val 5714"/>
            </a:avLst>
          </a:prstGeom>
          <a:solidFill>
            <a:schemeClr val="bg2"/>
          </a:solidFill>
          <a:ln w="12700">
            <a:solidFill>
              <a:schemeClr val="bg2"/>
            </a:solidFill>
            <a:prstDash val="solid"/>
          </a:ln>
        </p:spPr>
      </p:sp>
      <p:sp>
        <p:nvSpPr>
          <p:cNvPr id="1364819587" name="circle-487"/>
          <p:cNvSpPr/>
          <p:nvPr/>
        </p:nvSpPr>
        <p:spPr bwMode="auto">
          <a:xfrm>
            <a:off x="6263640" y="3200400"/>
            <a:ext cx="457200" cy="457200"/>
          </a:xfrm>
          <a:prstGeom prst="ellipse">
            <a:avLst/>
          </a:prstGeom>
          <a:solidFill>
            <a:srgbClr val="5B5BD6"/>
          </a:solidFill>
          <a:ln w="12700">
            <a:solidFill>
              <a:srgbClr val="5B5BD6"/>
            </a:solidFill>
            <a:prstDash val="solid"/>
          </a:ln>
        </p:spPr>
      </p:sp>
      <p:pic>
        <p:nvPicPr>
          <p:cNvPr id="1426382357" name="icon-488" descr="preencoded.png"/>
          <p:cNvPicPr>
            <a:picLocks noChangeAspect="1"/>
          </p:cNvPicPr>
          <p:nvPr/>
        </p:nvPicPr>
        <p:blipFill rotWithShape="1">
          <a:blip r:embed="rId8"/>
          <a:stretch/>
        </p:blipFill>
        <p:spPr bwMode="auto">
          <a:xfrm>
            <a:off x="6391656" y="3328416"/>
            <a:ext cx="201168" cy="201168"/>
          </a:xfrm>
          <a:prstGeom prst="rect">
            <a:avLst/>
          </a:prstGeom>
        </p:spPr>
      </p:pic>
      <p:sp>
        <p:nvSpPr>
          <p:cNvPr id="526761631" name="text-489"/>
          <p:cNvSpPr txBox="1"/>
          <p:nvPr/>
        </p:nvSpPr>
        <p:spPr bwMode="auto">
          <a:xfrm>
            <a:off x="6858000" y="3264408"/>
            <a:ext cx="1737360" cy="320040"/>
          </a:xfrm>
          <a:prstGeom prst="rect">
            <a:avLst/>
          </a:prstGeom>
          <a:noFill/>
          <a:ln/>
        </p:spPr>
        <p:txBody>
          <a:bodyPr wrap="square" lIns="0" tIns="0" rIns="0" bIns="0" rtlCol="0" anchor="t"/>
          <a:lstStyle/>
          <a:p>
            <a:pPr marL="0" indent="0">
              <a:buNone/>
              <a:defRPr/>
            </a:pPr>
            <a:r>
              <a:rPr lang="en-US" sz="1600" b="1">
                <a:solidFill>
                  <a:schemeClr val="tx1"/>
                </a:solidFill>
              </a:rPr>
              <a:t>Education</a:t>
            </a:r>
            <a:endParaRPr lang="en-US" sz="1600"/>
          </a:p>
        </p:txBody>
      </p:sp>
      <p:sp>
        <p:nvSpPr>
          <p:cNvPr id="795892529" name="text-490"/>
          <p:cNvSpPr txBox="1"/>
          <p:nvPr/>
        </p:nvSpPr>
        <p:spPr bwMode="auto">
          <a:xfrm>
            <a:off x="6263640" y="3794760"/>
            <a:ext cx="2286000" cy="777240"/>
          </a:xfrm>
          <a:prstGeom prst="rect">
            <a:avLst/>
          </a:prstGeom>
          <a:noFill/>
          <a:ln/>
        </p:spPr>
        <p:txBody>
          <a:bodyPr wrap="square" lIns="0" tIns="0" rIns="0" bIns="0" rtlCol="0" anchor="t"/>
          <a:lstStyle/>
          <a:p>
            <a:pPr marL="0" indent="0">
              <a:buNone/>
              <a:defRPr/>
            </a:pPr>
            <a:r>
              <a:rPr lang="en-US" sz="1400">
                <a:solidFill>
                  <a:schemeClr val="tx1"/>
                </a:solidFill>
              </a:rPr>
              <a:t>Adaptive learning, tutoring, content creation</a:t>
            </a:r>
            <a:endParaRPr lang="en-US" sz="1400"/>
          </a:p>
        </p:txBody>
      </p:sp>
      <p:sp>
        <p:nvSpPr>
          <p:cNvPr id="1265709346" name="Slide Number Placeholder 0"/>
          <p:cNvSpPr>
            <a:spLocks noGrp="1"/>
          </p:cNvSpPr>
          <p:nvPr>
            <p:ph type="sldNum" sz="quarter" idx="4294967295"/>
          </p:nvPr>
        </p:nvSpPr>
        <p:spPr bwMode="auto">
          <a:xfrm>
            <a:off x="8229600" y="4800600"/>
            <a:ext cx="457200" cy="228600"/>
          </a:xfrm>
          <a:prstGeom prst="rect">
            <a:avLst/>
          </a:prstGeom>
        </p:spPr>
        <p:txBody>
          <a:bodyPr/>
          <a:lstStyle>
            <a:lvl1pPr>
              <a:defRPr sz="1000">
                <a:solidFill>
                  <a:schemeClr val="accent5"/>
                </a:solidFill>
              </a:defRPr>
            </a:lvl1pPr>
          </a:lstStyle>
          <a:p>
            <a:pPr algn="r">
              <a:defRPr/>
            </a:pPr>
            <a:fld id="{F7021451-1387-4CA6-816F-3879F97B5CBC}" type="slidenum">
              <a:rPr lang="en-US" b="0"/>
              <a:t>21</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2">
    <p:spTree>
      <p:nvGrpSpPr>
        <p:cNvPr id="1" name=""/>
        <p:cNvGrpSpPr/>
        <p:nvPr/>
      </p:nvGrpSpPr>
      <p:grpSpPr bwMode="auto">
        <a:xfrm>
          <a:off x="0" y="0"/>
          <a:ext cx="0" cy="0"/>
          <a:chOff x="0" y="0"/>
          <a:chExt cx="0" cy="0"/>
        </a:xfrm>
      </p:grpSpPr>
      <p:sp>
        <p:nvSpPr>
          <p:cNvPr id="1624529320" name="Text 0"/>
          <p:cNvSpPr/>
          <p:nvPr>
            <p:ph type="title" idx="100" hasCustomPrompt="1"/>
          </p:nvPr>
        </p:nvSpPr>
        <p:spPr bwMode="auto">
          <a:xfrm>
            <a:off x="457200" y="274320"/>
            <a:ext cx="8229600" cy="731520"/>
          </a:xfrm>
          <a:prstGeom prst="rect">
            <a:avLst/>
          </a:prstGeom>
          <a:noFill/>
          <a:ln/>
        </p:spPr>
        <p:txBody>
          <a:bodyPr wrap="square" lIns="0" tIns="0" rIns="0" bIns="0" rtlCol="0" anchor="ctr"/>
          <a:lstStyle/>
          <a:p>
            <a:pPr marL="0" indent="0" algn="l">
              <a:buNone/>
              <a:defRPr/>
            </a:pPr>
            <a:r>
              <a:rPr lang="en-US" sz="3000" b="1">
                <a:solidFill>
                  <a:schemeClr val="tx2"/>
                </a:solidFill>
              </a:rPr>
              <a:t>The AI project lifecycle</a:t>
            </a:r>
            <a:endParaRPr lang="en-US" sz="3000"/>
          </a:p>
        </p:txBody>
      </p:sp>
      <p:sp>
        <p:nvSpPr>
          <p:cNvPr id="1469420692" name="card-491"/>
          <p:cNvSpPr/>
          <p:nvPr/>
        </p:nvSpPr>
        <p:spPr bwMode="auto">
          <a:xfrm>
            <a:off x="457200" y="1234440"/>
            <a:ext cx="1920240" cy="1600200"/>
          </a:xfrm>
          <a:prstGeom prst="roundRect">
            <a:avLst>
              <a:gd name="adj" fmla="val 5714"/>
            </a:avLst>
          </a:prstGeom>
          <a:solidFill>
            <a:schemeClr val="bg2"/>
          </a:solidFill>
          <a:ln w="12700">
            <a:solidFill>
              <a:schemeClr val="bg2"/>
            </a:solidFill>
            <a:prstDash val="solid"/>
          </a:ln>
        </p:spPr>
      </p:sp>
      <p:sp>
        <p:nvSpPr>
          <p:cNvPr id="1122672689" name="circle-492"/>
          <p:cNvSpPr/>
          <p:nvPr/>
        </p:nvSpPr>
        <p:spPr bwMode="auto">
          <a:xfrm>
            <a:off x="594360" y="1399032"/>
            <a:ext cx="365760" cy="365760"/>
          </a:xfrm>
          <a:prstGeom prst="ellipse">
            <a:avLst/>
          </a:prstGeom>
          <a:solidFill>
            <a:srgbClr val="2F6FED"/>
          </a:solidFill>
          <a:ln w="12700">
            <a:solidFill>
              <a:srgbClr val="2F6FED"/>
            </a:solidFill>
            <a:prstDash val="solid"/>
          </a:ln>
        </p:spPr>
      </p:sp>
      <p:sp>
        <p:nvSpPr>
          <p:cNvPr id="998689337" name="text-493"/>
          <p:cNvSpPr txBox="1"/>
          <p:nvPr/>
        </p:nvSpPr>
        <p:spPr bwMode="auto">
          <a:xfrm>
            <a:off x="594360" y="1399032"/>
            <a:ext cx="365760" cy="365760"/>
          </a:xfrm>
          <a:prstGeom prst="rect">
            <a:avLst/>
          </a:prstGeom>
          <a:noFill/>
          <a:ln/>
        </p:spPr>
        <p:txBody>
          <a:bodyPr wrap="square" lIns="0" tIns="0" rIns="0" bIns="0" rtlCol="0" anchor="ctr"/>
          <a:lstStyle/>
          <a:p>
            <a:pPr marL="0" indent="0" algn="ctr">
              <a:buNone/>
              <a:defRPr/>
            </a:pPr>
            <a:r>
              <a:rPr lang="en-US" sz="1500" b="1">
                <a:solidFill>
                  <a:schemeClr val="bg1"/>
                </a:solidFill>
              </a:rPr>
              <a:t>1</a:t>
            </a:r>
            <a:endParaRPr lang="en-US" sz="1500"/>
          </a:p>
        </p:txBody>
      </p:sp>
      <p:sp>
        <p:nvSpPr>
          <p:cNvPr id="1621066538" name="text-494"/>
          <p:cNvSpPr txBox="1"/>
          <p:nvPr/>
        </p:nvSpPr>
        <p:spPr bwMode="auto">
          <a:xfrm>
            <a:off x="1051560" y="1344168"/>
            <a:ext cx="1280160" cy="502920"/>
          </a:xfrm>
          <a:prstGeom prst="rect">
            <a:avLst/>
          </a:prstGeom>
          <a:noFill/>
          <a:ln/>
        </p:spPr>
        <p:txBody>
          <a:bodyPr wrap="square" lIns="0" tIns="0" rIns="0" bIns="0" rtlCol="0" anchor="ctr"/>
          <a:lstStyle/>
          <a:p>
            <a:pPr marL="0" indent="0">
              <a:buNone/>
              <a:defRPr/>
            </a:pPr>
            <a:r>
              <a:rPr lang="en-US" sz="1400" b="1">
                <a:solidFill>
                  <a:schemeClr val="tx1"/>
                </a:solidFill>
              </a:rPr>
              <a:t>Define the problem</a:t>
            </a:r>
            <a:endParaRPr lang="en-US" sz="1400"/>
          </a:p>
        </p:txBody>
      </p:sp>
      <p:sp>
        <p:nvSpPr>
          <p:cNvPr id="1127051648" name="text-495"/>
          <p:cNvSpPr txBox="1"/>
          <p:nvPr/>
        </p:nvSpPr>
        <p:spPr bwMode="auto">
          <a:xfrm>
            <a:off x="594360" y="1965960"/>
            <a:ext cx="1691640" cy="822960"/>
          </a:xfrm>
          <a:prstGeom prst="rect">
            <a:avLst/>
          </a:prstGeom>
          <a:noFill/>
          <a:ln/>
        </p:spPr>
        <p:txBody>
          <a:bodyPr wrap="square" lIns="0" tIns="0" rIns="0" bIns="0" rtlCol="0" anchor="t"/>
          <a:lstStyle/>
          <a:p>
            <a:pPr marL="0" indent="0">
              <a:buNone/>
              <a:defRPr/>
            </a:pPr>
            <a:r>
              <a:rPr lang="en-US" sz="1400">
                <a:solidFill>
                  <a:schemeClr val="tx1"/>
                </a:solidFill>
              </a:rPr>
              <a:t>What task, and how will we measure success?</a:t>
            </a:r>
            <a:endParaRPr lang="en-US" sz="1400"/>
          </a:p>
        </p:txBody>
      </p:sp>
      <p:sp>
        <p:nvSpPr>
          <p:cNvPr id="874079645" name="card-496"/>
          <p:cNvSpPr/>
          <p:nvPr/>
        </p:nvSpPr>
        <p:spPr bwMode="auto">
          <a:xfrm>
            <a:off x="2560320" y="1234440"/>
            <a:ext cx="1920240" cy="1600200"/>
          </a:xfrm>
          <a:prstGeom prst="roundRect">
            <a:avLst>
              <a:gd name="adj" fmla="val 5714"/>
            </a:avLst>
          </a:prstGeom>
          <a:solidFill>
            <a:schemeClr val="bg2"/>
          </a:solidFill>
          <a:ln w="12700">
            <a:solidFill>
              <a:schemeClr val="bg2"/>
            </a:solidFill>
            <a:prstDash val="solid"/>
          </a:ln>
        </p:spPr>
      </p:sp>
      <p:sp>
        <p:nvSpPr>
          <p:cNvPr id="188936364" name="circle-497"/>
          <p:cNvSpPr/>
          <p:nvPr/>
        </p:nvSpPr>
        <p:spPr bwMode="auto">
          <a:xfrm>
            <a:off x="2697480" y="1399032"/>
            <a:ext cx="365760" cy="365760"/>
          </a:xfrm>
          <a:prstGeom prst="ellipse">
            <a:avLst/>
          </a:prstGeom>
          <a:solidFill>
            <a:srgbClr val="2F6FED"/>
          </a:solidFill>
          <a:ln w="12700">
            <a:solidFill>
              <a:srgbClr val="2F6FED"/>
            </a:solidFill>
            <a:prstDash val="solid"/>
          </a:ln>
        </p:spPr>
      </p:sp>
      <p:sp>
        <p:nvSpPr>
          <p:cNvPr id="546337092" name="text-498"/>
          <p:cNvSpPr txBox="1"/>
          <p:nvPr/>
        </p:nvSpPr>
        <p:spPr bwMode="auto">
          <a:xfrm>
            <a:off x="2697480" y="1399032"/>
            <a:ext cx="365760" cy="365760"/>
          </a:xfrm>
          <a:prstGeom prst="rect">
            <a:avLst/>
          </a:prstGeom>
          <a:noFill/>
          <a:ln/>
        </p:spPr>
        <p:txBody>
          <a:bodyPr wrap="square" lIns="0" tIns="0" rIns="0" bIns="0" rtlCol="0" anchor="ctr"/>
          <a:lstStyle/>
          <a:p>
            <a:pPr marL="0" indent="0" algn="ctr">
              <a:buNone/>
              <a:defRPr/>
            </a:pPr>
            <a:r>
              <a:rPr lang="en-US" sz="1500" b="1">
                <a:solidFill>
                  <a:schemeClr val="bg1"/>
                </a:solidFill>
              </a:rPr>
              <a:t>2</a:t>
            </a:r>
            <a:endParaRPr lang="en-US" sz="1500"/>
          </a:p>
        </p:txBody>
      </p:sp>
      <p:sp>
        <p:nvSpPr>
          <p:cNvPr id="1520188803" name="text-499"/>
          <p:cNvSpPr txBox="1"/>
          <p:nvPr/>
        </p:nvSpPr>
        <p:spPr bwMode="auto">
          <a:xfrm>
            <a:off x="3154680" y="1344168"/>
            <a:ext cx="1280160" cy="502920"/>
          </a:xfrm>
          <a:prstGeom prst="rect">
            <a:avLst/>
          </a:prstGeom>
          <a:noFill/>
          <a:ln/>
        </p:spPr>
        <p:txBody>
          <a:bodyPr wrap="square" lIns="0" tIns="0" rIns="0" bIns="0" rtlCol="0" anchor="ctr"/>
          <a:lstStyle/>
          <a:p>
            <a:pPr marL="0" indent="0">
              <a:buNone/>
              <a:defRPr/>
            </a:pPr>
            <a:r>
              <a:rPr lang="en-US" sz="1400" b="1">
                <a:solidFill>
                  <a:schemeClr val="tx1"/>
                </a:solidFill>
              </a:rPr>
              <a:t>Find data</a:t>
            </a:r>
            <a:endParaRPr lang="en-US" sz="1400"/>
          </a:p>
        </p:txBody>
      </p:sp>
      <p:sp>
        <p:nvSpPr>
          <p:cNvPr id="65030713" name="text-500"/>
          <p:cNvSpPr txBox="1"/>
          <p:nvPr/>
        </p:nvSpPr>
        <p:spPr bwMode="auto">
          <a:xfrm>
            <a:off x="2697480" y="1965960"/>
            <a:ext cx="1691640" cy="822960"/>
          </a:xfrm>
          <a:prstGeom prst="rect">
            <a:avLst/>
          </a:prstGeom>
          <a:noFill/>
          <a:ln/>
        </p:spPr>
        <p:txBody>
          <a:bodyPr wrap="square" lIns="0" tIns="0" rIns="0" bIns="0" rtlCol="0" anchor="t"/>
          <a:lstStyle/>
          <a:p>
            <a:pPr marL="0" indent="0">
              <a:buNone/>
              <a:defRPr/>
            </a:pPr>
            <a:r>
              <a:rPr lang="en-US" sz="1400">
                <a:solidFill>
                  <a:schemeClr val="tx1"/>
                </a:solidFill>
              </a:rPr>
              <a:t>Collect examples that match the goal.</a:t>
            </a:r>
            <a:endParaRPr lang="en-US" sz="1400"/>
          </a:p>
        </p:txBody>
      </p:sp>
      <p:sp>
        <p:nvSpPr>
          <p:cNvPr id="1572836999" name="card-501"/>
          <p:cNvSpPr/>
          <p:nvPr/>
        </p:nvSpPr>
        <p:spPr bwMode="auto">
          <a:xfrm>
            <a:off x="4663440" y="1234440"/>
            <a:ext cx="1920240" cy="1600200"/>
          </a:xfrm>
          <a:prstGeom prst="roundRect">
            <a:avLst>
              <a:gd name="adj" fmla="val 5714"/>
            </a:avLst>
          </a:prstGeom>
          <a:solidFill>
            <a:schemeClr val="bg2"/>
          </a:solidFill>
          <a:ln w="12700">
            <a:solidFill>
              <a:schemeClr val="bg2"/>
            </a:solidFill>
            <a:prstDash val="solid"/>
          </a:ln>
        </p:spPr>
      </p:sp>
      <p:sp>
        <p:nvSpPr>
          <p:cNvPr id="1605976253" name="circle-502"/>
          <p:cNvSpPr/>
          <p:nvPr/>
        </p:nvSpPr>
        <p:spPr bwMode="auto">
          <a:xfrm>
            <a:off x="4800600" y="1399032"/>
            <a:ext cx="365760" cy="365760"/>
          </a:xfrm>
          <a:prstGeom prst="ellipse">
            <a:avLst/>
          </a:prstGeom>
          <a:solidFill>
            <a:srgbClr val="2F6FED"/>
          </a:solidFill>
          <a:ln w="12700">
            <a:solidFill>
              <a:srgbClr val="2F6FED"/>
            </a:solidFill>
            <a:prstDash val="solid"/>
          </a:ln>
        </p:spPr>
      </p:sp>
      <p:sp>
        <p:nvSpPr>
          <p:cNvPr id="7956312" name="text-503"/>
          <p:cNvSpPr txBox="1"/>
          <p:nvPr/>
        </p:nvSpPr>
        <p:spPr bwMode="auto">
          <a:xfrm>
            <a:off x="4800600" y="1399032"/>
            <a:ext cx="365760" cy="365760"/>
          </a:xfrm>
          <a:prstGeom prst="rect">
            <a:avLst/>
          </a:prstGeom>
          <a:noFill/>
          <a:ln/>
        </p:spPr>
        <p:txBody>
          <a:bodyPr wrap="square" lIns="0" tIns="0" rIns="0" bIns="0" rtlCol="0" anchor="ctr"/>
          <a:lstStyle/>
          <a:p>
            <a:pPr marL="0" indent="0" algn="ctr">
              <a:buNone/>
              <a:defRPr/>
            </a:pPr>
            <a:r>
              <a:rPr lang="en-US" sz="1500" b="1">
                <a:solidFill>
                  <a:schemeClr val="bg1"/>
                </a:solidFill>
              </a:rPr>
              <a:t>3</a:t>
            </a:r>
            <a:endParaRPr lang="en-US" sz="1500"/>
          </a:p>
        </p:txBody>
      </p:sp>
      <p:sp>
        <p:nvSpPr>
          <p:cNvPr id="951602822" name="text-504"/>
          <p:cNvSpPr txBox="1"/>
          <p:nvPr/>
        </p:nvSpPr>
        <p:spPr bwMode="auto">
          <a:xfrm>
            <a:off x="5257800" y="1344168"/>
            <a:ext cx="1280160" cy="502920"/>
          </a:xfrm>
          <a:prstGeom prst="rect">
            <a:avLst/>
          </a:prstGeom>
          <a:noFill/>
          <a:ln/>
        </p:spPr>
        <p:txBody>
          <a:bodyPr wrap="square" lIns="0" tIns="0" rIns="0" bIns="0" rtlCol="0" anchor="ctr"/>
          <a:lstStyle/>
          <a:p>
            <a:pPr marL="0" indent="0">
              <a:buNone/>
              <a:defRPr/>
            </a:pPr>
            <a:r>
              <a:rPr lang="en-US" sz="1400" b="1">
                <a:solidFill>
                  <a:schemeClr val="tx1"/>
                </a:solidFill>
              </a:rPr>
              <a:t>Clean data</a:t>
            </a:r>
            <a:endParaRPr lang="en-US" sz="1400"/>
          </a:p>
        </p:txBody>
      </p:sp>
      <p:sp>
        <p:nvSpPr>
          <p:cNvPr id="1608809079" name="text-505"/>
          <p:cNvSpPr txBox="1"/>
          <p:nvPr/>
        </p:nvSpPr>
        <p:spPr bwMode="auto">
          <a:xfrm>
            <a:off x="4800600" y="1965960"/>
            <a:ext cx="1691640" cy="822960"/>
          </a:xfrm>
          <a:prstGeom prst="rect">
            <a:avLst/>
          </a:prstGeom>
          <a:noFill/>
          <a:ln/>
        </p:spPr>
        <p:txBody>
          <a:bodyPr wrap="square" lIns="0" tIns="0" rIns="0" bIns="0" rtlCol="0" anchor="t"/>
          <a:lstStyle/>
          <a:p>
            <a:pPr marL="0" indent="0">
              <a:buNone/>
              <a:defRPr/>
            </a:pPr>
            <a:r>
              <a:rPr lang="en-US" sz="1400">
                <a:solidFill>
                  <a:schemeClr val="tx1"/>
                </a:solidFill>
              </a:rPr>
              <a:t>Fix errors, gaps and wrong labels.</a:t>
            </a:r>
            <a:endParaRPr lang="en-US" sz="1400"/>
          </a:p>
        </p:txBody>
      </p:sp>
      <p:sp>
        <p:nvSpPr>
          <p:cNvPr id="2043861910" name="card-506"/>
          <p:cNvSpPr/>
          <p:nvPr/>
        </p:nvSpPr>
        <p:spPr bwMode="auto">
          <a:xfrm>
            <a:off x="6766560" y="1234440"/>
            <a:ext cx="1920240" cy="1600200"/>
          </a:xfrm>
          <a:prstGeom prst="roundRect">
            <a:avLst>
              <a:gd name="adj" fmla="val 5714"/>
            </a:avLst>
          </a:prstGeom>
          <a:solidFill>
            <a:schemeClr val="bg2"/>
          </a:solidFill>
          <a:ln w="12700">
            <a:solidFill>
              <a:schemeClr val="bg2"/>
            </a:solidFill>
            <a:prstDash val="solid"/>
          </a:ln>
        </p:spPr>
      </p:sp>
      <p:sp>
        <p:nvSpPr>
          <p:cNvPr id="1397787521" name="circle-507"/>
          <p:cNvSpPr/>
          <p:nvPr/>
        </p:nvSpPr>
        <p:spPr bwMode="auto">
          <a:xfrm>
            <a:off x="6903720" y="1399032"/>
            <a:ext cx="365760" cy="365760"/>
          </a:xfrm>
          <a:prstGeom prst="ellipse">
            <a:avLst/>
          </a:prstGeom>
          <a:solidFill>
            <a:srgbClr val="5B5BD6"/>
          </a:solidFill>
          <a:ln w="12700">
            <a:solidFill>
              <a:srgbClr val="5B5BD6"/>
            </a:solidFill>
            <a:prstDash val="solid"/>
          </a:ln>
        </p:spPr>
      </p:sp>
      <p:sp>
        <p:nvSpPr>
          <p:cNvPr id="1113245255" name="text-508"/>
          <p:cNvSpPr txBox="1"/>
          <p:nvPr/>
        </p:nvSpPr>
        <p:spPr bwMode="auto">
          <a:xfrm>
            <a:off x="6903720" y="1399032"/>
            <a:ext cx="365760" cy="365760"/>
          </a:xfrm>
          <a:prstGeom prst="rect">
            <a:avLst/>
          </a:prstGeom>
          <a:noFill/>
          <a:ln/>
        </p:spPr>
        <p:txBody>
          <a:bodyPr wrap="square" lIns="0" tIns="0" rIns="0" bIns="0" rtlCol="0" anchor="ctr"/>
          <a:lstStyle/>
          <a:p>
            <a:pPr marL="0" indent="0" algn="ctr">
              <a:buNone/>
              <a:defRPr/>
            </a:pPr>
            <a:r>
              <a:rPr lang="en-US" sz="1500" b="1">
                <a:solidFill>
                  <a:schemeClr val="bg1"/>
                </a:solidFill>
              </a:rPr>
              <a:t>4</a:t>
            </a:r>
            <a:endParaRPr lang="en-US" sz="1500"/>
          </a:p>
        </p:txBody>
      </p:sp>
      <p:sp>
        <p:nvSpPr>
          <p:cNvPr id="1175082710" name="text-509"/>
          <p:cNvSpPr txBox="1"/>
          <p:nvPr/>
        </p:nvSpPr>
        <p:spPr bwMode="auto">
          <a:xfrm>
            <a:off x="7360920" y="1344168"/>
            <a:ext cx="1280160" cy="502920"/>
          </a:xfrm>
          <a:prstGeom prst="rect">
            <a:avLst/>
          </a:prstGeom>
          <a:noFill/>
          <a:ln/>
        </p:spPr>
        <p:txBody>
          <a:bodyPr wrap="square" lIns="0" tIns="0" rIns="0" bIns="0" rtlCol="0" anchor="ctr"/>
          <a:lstStyle/>
          <a:p>
            <a:pPr marL="0" indent="0">
              <a:buNone/>
              <a:defRPr/>
            </a:pPr>
            <a:r>
              <a:rPr lang="en-US" sz="1400" b="1">
                <a:solidFill>
                  <a:schemeClr val="tx1"/>
                </a:solidFill>
              </a:rPr>
              <a:t>Choose a model</a:t>
            </a:r>
            <a:endParaRPr lang="en-US" sz="1400"/>
          </a:p>
        </p:txBody>
      </p:sp>
      <p:sp>
        <p:nvSpPr>
          <p:cNvPr id="1672071023" name="text-510"/>
          <p:cNvSpPr txBox="1"/>
          <p:nvPr/>
        </p:nvSpPr>
        <p:spPr bwMode="auto">
          <a:xfrm>
            <a:off x="6903720" y="1965960"/>
            <a:ext cx="1691640" cy="822960"/>
          </a:xfrm>
          <a:prstGeom prst="rect">
            <a:avLst/>
          </a:prstGeom>
          <a:noFill/>
          <a:ln/>
        </p:spPr>
        <p:txBody>
          <a:bodyPr wrap="square" lIns="0" tIns="0" rIns="0" bIns="0" rtlCol="0" anchor="t"/>
          <a:lstStyle/>
          <a:p>
            <a:pPr marL="0" indent="0">
              <a:buNone/>
              <a:defRPr/>
            </a:pPr>
            <a:r>
              <a:rPr lang="en-US" sz="1400">
                <a:solidFill>
                  <a:schemeClr val="tx1"/>
                </a:solidFill>
              </a:rPr>
              <a:t>Match the model type to the problem.</a:t>
            </a:r>
            <a:endParaRPr lang="en-US" sz="1400"/>
          </a:p>
        </p:txBody>
      </p:sp>
      <p:sp>
        <p:nvSpPr>
          <p:cNvPr id="1225419622" name="card-511"/>
          <p:cNvSpPr/>
          <p:nvPr/>
        </p:nvSpPr>
        <p:spPr bwMode="auto">
          <a:xfrm>
            <a:off x="457200" y="3017519"/>
            <a:ext cx="1920240" cy="1600200"/>
          </a:xfrm>
          <a:prstGeom prst="roundRect">
            <a:avLst>
              <a:gd name="adj" fmla="val 5714"/>
            </a:avLst>
          </a:prstGeom>
          <a:solidFill>
            <a:schemeClr val="bg2"/>
          </a:solidFill>
          <a:ln w="12700">
            <a:solidFill>
              <a:schemeClr val="bg2"/>
            </a:solidFill>
            <a:prstDash val="solid"/>
          </a:ln>
        </p:spPr>
      </p:sp>
      <p:sp>
        <p:nvSpPr>
          <p:cNvPr id="183901346" name="circle-512"/>
          <p:cNvSpPr/>
          <p:nvPr/>
        </p:nvSpPr>
        <p:spPr bwMode="auto">
          <a:xfrm>
            <a:off x="594360" y="3182112"/>
            <a:ext cx="365760" cy="365760"/>
          </a:xfrm>
          <a:prstGeom prst="ellipse">
            <a:avLst/>
          </a:prstGeom>
          <a:solidFill>
            <a:srgbClr val="5B5BD6"/>
          </a:solidFill>
          <a:ln w="12700">
            <a:solidFill>
              <a:srgbClr val="5B5BD6"/>
            </a:solidFill>
            <a:prstDash val="solid"/>
          </a:ln>
        </p:spPr>
      </p:sp>
      <p:sp>
        <p:nvSpPr>
          <p:cNvPr id="1020718504" name="text-513"/>
          <p:cNvSpPr txBox="1"/>
          <p:nvPr/>
        </p:nvSpPr>
        <p:spPr bwMode="auto">
          <a:xfrm>
            <a:off x="594360" y="3182112"/>
            <a:ext cx="365760" cy="365760"/>
          </a:xfrm>
          <a:prstGeom prst="rect">
            <a:avLst/>
          </a:prstGeom>
          <a:noFill/>
          <a:ln/>
        </p:spPr>
        <p:txBody>
          <a:bodyPr wrap="square" lIns="0" tIns="0" rIns="0" bIns="0" rtlCol="0" anchor="ctr"/>
          <a:lstStyle/>
          <a:p>
            <a:pPr marL="0" indent="0" algn="ctr">
              <a:buNone/>
              <a:defRPr/>
            </a:pPr>
            <a:r>
              <a:rPr lang="en-US" sz="1500" b="1">
                <a:solidFill>
                  <a:schemeClr val="bg1"/>
                </a:solidFill>
              </a:rPr>
              <a:t>5</a:t>
            </a:r>
            <a:endParaRPr lang="en-US" sz="1500"/>
          </a:p>
        </p:txBody>
      </p:sp>
      <p:sp>
        <p:nvSpPr>
          <p:cNvPr id="319551936" name="text-514"/>
          <p:cNvSpPr txBox="1"/>
          <p:nvPr/>
        </p:nvSpPr>
        <p:spPr bwMode="auto">
          <a:xfrm>
            <a:off x="1051560" y="3127248"/>
            <a:ext cx="1280160" cy="502920"/>
          </a:xfrm>
          <a:prstGeom prst="rect">
            <a:avLst/>
          </a:prstGeom>
          <a:noFill/>
          <a:ln/>
        </p:spPr>
        <p:txBody>
          <a:bodyPr wrap="square" lIns="0" tIns="0" rIns="0" bIns="0" rtlCol="0" anchor="ctr"/>
          <a:lstStyle/>
          <a:p>
            <a:pPr marL="0" indent="0">
              <a:buNone/>
              <a:defRPr/>
            </a:pPr>
            <a:r>
              <a:rPr lang="en-US" sz="1400" b="1">
                <a:solidFill>
                  <a:schemeClr val="tx1"/>
                </a:solidFill>
              </a:rPr>
              <a:t>Train</a:t>
            </a:r>
            <a:endParaRPr lang="en-US" sz="1400"/>
          </a:p>
        </p:txBody>
      </p:sp>
      <p:sp>
        <p:nvSpPr>
          <p:cNvPr id="118801703" name="text-515"/>
          <p:cNvSpPr txBox="1"/>
          <p:nvPr/>
        </p:nvSpPr>
        <p:spPr bwMode="auto">
          <a:xfrm>
            <a:off x="594360" y="3749040"/>
            <a:ext cx="1691640" cy="822960"/>
          </a:xfrm>
          <a:prstGeom prst="rect">
            <a:avLst/>
          </a:prstGeom>
          <a:noFill/>
          <a:ln/>
        </p:spPr>
        <p:txBody>
          <a:bodyPr wrap="square" lIns="0" tIns="0" rIns="0" bIns="0" rtlCol="0" anchor="t"/>
          <a:lstStyle/>
          <a:p>
            <a:pPr marL="0" indent="0">
              <a:buNone/>
              <a:defRPr/>
            </a:pPr>
            <a:r>
              <a:rPr lang="en-US" sz="1400">
                <a:solidFill>
                  <a:schemeClr val="tx1"/>
                </a:solidFill>
              </a:rPr>
              <a:t>The model learns by minimising loss.</a:t>
            </a:r>
            <a:endParaRPr lang="en-US" sz="1400"/>
          </a:p>
        </p:txBody>
      </p:sp>
      <p:sp>
        <p:nvSpPr>
          <p:cNvPr id="321571677" name="card-516"/>
          <p:cNvSpPr/>
          <p:nvPr/>
        </p:nvSpPr>
        <p:spPr bwMode="auto">
          <a:xfrm>
            <a:off x="2560320" y="3017519"/>
            <a:ext cx="1920240" cy="1600200"/>
          </a:xfrm>
          <a:prstGeom prst="roundRect">
            <a:avLst>
              <a:gd name="adj" fmla="val 5714"/>
            </a:avLst>
          </a:prstGeom>
          <a:solidFill>
            <a:schemeClr val="bg2"/>
          </a:solidFill>
          <a:ln w="12700">
            <a:solidFill>
              <a:schemeClr val="bg2"/>
            </a:solidFill>
            <a:prstDash val="solid"/>
          </a:ln>
        </p:spPr>
      </p:sp>
      <p:sp>
        <p:nvSpPr>
          <p:cNvPr id="92058711" name="circle-517"/>
          <p:cNvSpPr/>
          <p:nvPr/>
        </p:nvSpPr>
        <p:spPr bwMode="auto">
          <a:xfrm>
            <a:off x="2697480" y="3182112"/>
            <a:ext cx="365760" cy="365760"/>
          </a:xfrm>
          <a:prstGeom prst="ellipse">
            <a:avLst/>
          </a:prstGeom>
          <a:solidFill>
            <a:srgbClr val="5B5BD6"/>
          </a:solidFill>
          <a:ln w="12700">
            <a:solidFill>
              <a:srgbClr val="5B5BD6"/>
            </a:solidFill>
            <a:prstDash val="solid"/>
          </a:ln>
        </p:spPr>
      </p:sp>
      <p:sp>
        <p:nvSpPr>
          <p:cNvPr id="1739587981" name="text-518"/>
          <p:cNvSpPr txBox="1"/>
          <p:nvPr/>
        </p:nvSpPr>
        <p:spPr bwMode="auto">
          <a:xfrm>
            <a:off x="2697480" y="3182112"/>
            <a:ext cx="365760" cy="365760"/>
          </a:xfrm>
          <a:prstGeom prst="rect">
            <a:avLst/>
          </a:prstGeom>
          <a:noFill/>
          <a:ln/>
        </p:spPr>
        <p:txBody>
          <a:bodyPr wrap="square" lIns="0" tIns="0" rIns="0" bIns="0" rtlCol="0" anchor="ctr"/>
          <a:lstStyle/>
          <a:p>
            <a:pPr marL="0" indent="0" algn="ctr">
              <a:buNone/>
              <a:defRPr/>
            </a:pPr>
            <a:r>
              <a:rPr lang="en-US" sz="1500" b="1">
                <a:solidFill>
                  <a:schemeClr val="bg1"/>
                </a:solidFill>
              </a:rPr>
              <a:t>6</a:t>
            </a:r>
            <a:endParaRPr lang="en-US" sz="1500"/>
          </a:p>
        </p:txBody>
      </p:sp>
      <p:sp>
        <p:nvSpPr>
          <p:cNvPr id="1774832929" name="text-519"/>
          <p:cNvSpPr txBox="1"/>
          <p:nvPr/>
        </p:nvSpPr>
        <p:spPr bwMode="auto">
          <a:xfrm>
            <a:off x="3154680" y="3127248"/>
            <a:ext cx="1280160" cy="502920"/>
          </a:xfrm>
          <a:prstGeom prst="rect">
            <a:avLst/>
          </a:prstGeom>
          <a:noFill/>
          <a:ln/>
        </p:spPr>
        <p:txBody>
          <a:bodyPr wrap="square" lIns="0" tIns="0" rIns="0" bIns="0" rtlCol="0" anchor="ctr"/>
          <a:lstStyle/>
          <a:p>
            <a:pPr marL="0" indent="0">
              <a:buNone/>
              <a:defRPr/>
            </a:pPr>
            <a:r>
              <a:rPr lang="en-US" sz="1400" b="1">
                <a:solidFill>
                  <a:schemeClr val="tx1"/>
                </a:solidFill>
              </a:rPr>
              <a:t>Test</a:t>
            </a:r>
            <a:endParaRPr lang="en-US" sz="1400"/>
          </a:p>
        </p:txBody>
      </p:sp>
      <p:sp>
        <p:nvSpPr>
          <p:cNvPr id="540842505" name="text-520"/>
          <p:cNvSpPr txBox="1"/>
          <p:nvPr/>
        </p:nvSpPr>
        <p:spPr bwMode="auto">
          <a:xfrm>
            <a:off x="2697480" y="3749040"/>
            <a:ext cx="1691640" cy="822960"/>
          </a:xfrm>
          <a:prstGeom prst="rect">
            <a:avLst/>
          </a:prstGeom>
          <a:noFill/>
          <a:ln/>
        </p:spPr>
        <p:txBody>
          <a:bodyPr wrap="square" lIns="0" tIns="0" rIns="0" bIns="0" rtlCol="0" anchor="t"/>
          <a:lstStyle/>
          <a:p>
            <a:pPr marL="0" indent="0">
              <a:buNone/>
              <a:defRPr/>
            </a:pPr>
            <a:r>
              <a:rPr lang="en-US" sz="1400">
                <a:solidFill>
                  <a:schemeClr val="tx1"/>
                </a:solidFill>
              </a:rPr>
              <a:t>Check accuracy on unseen data.</a:t>
            </a:r>
            <a:endParaRPr lang="en-US" sz="1400"/>
          </a:p>
        </p:txBody>
      </p:sp>
      <p:sp>
        <p:nvSpPr>
          <p:cNvPr id="1510971068" name="card-521"/>
          <p:cNvSpPr/>
          <p:nvPr/>
        </p:nvSpPr>
        <p:spPr bwMode="auto">
          <a:xfrm>
            <a:off x="4663440" y="3017519"/>
            <a:ext cx="1920240" cy="1600200"/>
          </a:xfrm>
          <a:prstGeom prst="roundRect">
            <a:avLst>
              <a:gd name="adj" fmla="val 5714"/>
            </a:avLst>
          </a:prstGeom>
          <a:solidFill>
            <a:schemeClr val="bg2"/>
          </a:solidFill>
          <a:ln w="12700">
            <a:solidFill>
              <a:schemeClr val="bg2"/>
            </a:solidFill>
            <a:prstDash val="solid"/>
          </a:ln>
        </p:spPr>
      </p:sp>
      <p:sp>
        <p:nvSpPr>
          <p:cNvPr id="973067969" name="circle-522"/>
          <p:cNvSpPr/>
          <p:nvPr/>
        </p:nvSpPr>
        <p:spPr bwMode="auto">
          <a:xfrm>
            <a:off x="4800600" y="3182112"/>
            <a:ext cx="365760" cy="365760"/>
          </a:xfrm>
          <a:prstGeom prst="ellipse">
            <a:avLst/>
          </a:prstGeom>
          <a:solidFill>
            <a:srgbClr val="0B8478"/>
          </a:solidFill>
          <a:ln w="12700">
            <a:solidFill>
              <a:srgbClr val="0B8478"/>
            </a:solidFill>
            <a:prstDash val="solid"/>
          </a:ln>
        </p:spPr>
      </p:sp>
      <p:sp>
        <p:nvSpPr>
          <p:cNvPr id="1191152305" name="text-523"/>
          <p:cNvSpPr txBox="1"/>
          <p:nvPr/>
        </p:nvSpPr>
        <p:spPr bwMode="auto">
          <a:xfrm>
            <a:off x="4800600" y="3182112"/>
            <a:ext cx="365760" cy="365760"/>
          </a:xfrm>
          <a:prstGeom prst="rect">
            <a:avLst/>
          </a:prstGeom>
          <a:noFill/>
          <a:ln/>
        </p:spPr>
        <p:txBody>
          <a:bodyPr wrap="square" lIns="0" tIns="0" rIns="0" bIns="0" rtlCol="0" anchor="ctr"/>
          <a:lstStyle/>
          <a:p>
            <a:pPr marL="0" indent="0" algn="ctr">
              <a:buNone/>
              <a:defRPr/>
            </a:pPr>
            <a:r>
              <a:rPr lang="en-US" sz="1500" b="1">
                <a:solidFill>
                  <a:schemeClr val="bg1"/>
                </a:solidFill>
              </a:rPr>
              <a:t>7</a:t>
            </a:r>
            <a:endParaRPr lang="en-US" sz="1500"/>
          </a:p>
        </p:txBody>
      </p:sp>
      <p:sp>
        <p:nvSpPr>
          <p:cNvPr id="1100751644" name="text-524"/>
          <p:cNvSpPr txBox="1"/>
          <p:nvPr/>
        </p:nvSpPr>
        <p:spPr bwMode="auto">
          <a:xfrm>
            <a:off x="5257800" y="3127248"/>
            <a:ext cx="1280160" cy="502920"/>
          </a:xfrm>
          <a:prstGeom prst="rect">
            <a:avLst/>
          </a:prstGeom>
          <a:noFill/>
          <a:ln/>
        </p:spPr>
        <p:txBody>
          <a:bodyPr wrap="square" lIns="0" tIns="0" rIns="0" bIns="0" rtlCol="0" anchor="ctr"/>
          <a:lstStyle/>
          <a:p>
            <a:pPr marL="0" indent="0">
              <a:buNone/>
              <a:defRPr/>
            </a:pPr>
            <a:r>
              <a:rPr lang="en-US" sz="1400" b="1">
                <a:solidFill>
                  <a:schemeClr val="tx1"/>
                </a:solidFill>
              </a:rPr>
              <a:t>Deploy and monitor</a:t>
            </a:r>
            <a:endParaRPr lang="en-US" sz="1400"/>
          </a:p>
        </p:txBody>
      </p:sp>
      <p:sp>
        <p:nvSpPr>
          <p:cNvPr id="581333282" name="text-525"/>
          <p:cNvSpPr txBox="1"/>
          <p:nvPr/>
        </p:nvSpPr>
        <p:spPr bwMode="auto">
          <a:xfrm>
            <a:off x="4800600" y="3749040"/>
            <a:ext cx="1691640" cy="822960"/>
          </a:xfrm>
          <a:prstGeom prst="rect">
            <a:avLst/>
          </a:prstGeom>
          <a:noFill/>
          <a:ln/>
        </p:spPr>
        <p:txBody>
          <a:bodyPr wrap="square" lIns="0" tIns="0" rIns="0" bIns="0" rtlCol="0" anchor="t"/>
          <a:lstStyle/>
          <a:p>
            <a:pPr marL="0" indent="0">
              <a:buNone/>
              <a:defRPr/>
            </a:pPr>
            <a:r>
              <a:rPr lang="en-US" sz="1400">
                <a:solidFill>
                  <a:schemeClr val="tx1"/>
                </a:solidFill>
              </a:rPr>
              <a:t>Release, watch for drift, retrain.</a:t>
            </a:r>
            <a:endParaRPr lang="en-US" sz="1400"/>
          </a:p>
        </p:txBody>
      </p:sp>
      <p:sp>
        <p:nvSpPr>
          <p:cNvPr id="275058404" name="card-526"/>
          <p:cNvSpPr/>
          <p:nvPr/>
        </p:nvSpPr>
        <p:spPr bwMode="auto">
          <a:xfrm>
            <a:off x="6766560" y="3017519"/>
            <a:ext cx="1920240" cy="1600200"/>
          </a:xfrm>
          <a:prstGeom prst="roundRect">
            <a:avLst>
              <a:gd name="adj" fmla="val 5714"/>
            </a:avLst>
          </a:prstGeom>
          <a:solidFill>
            <a:schemeClr val="accent1"/>
          </a:solidFill>
          <a:ln w="12700">
            <a:solidFill>
              <a:schemeClr val="accent1"/>
            </a:solidFill>
            <a:prstDash val="solid"/>
          </a:ln>
        </p:spPr>
      </p:sp>
      <p:sp>
        <p:nvSpPr>
          <p:cNvPr id="754957311" name="text-527"/>
          <p:cNvSpPr txBox="1"/>
          <p:nvPr/>
        </p:nvSpPr>
        <p:spPr bwMode="auto">
          <a:xfrm>
            <a:off x="6903720" y="3154680"/>
            <a:ext cx="1645920" cy="365760"/>
          </a:xfrm>
          <a:prstGeom prst="rect">
            <a:avLst/>
          </a:prstGeom>
          <a:noFill/>
          <a:ln/>
        </p:spPr>
        <p:txBody>
          <a:bodyPr wrap="square" lIns="0" tIns="0" rIns="0" bIns="0" rtlCol="0" anchor="t"/>
          <a:lstStyle/>
          <a:p>
            <a:pPr marL="0" indent="0">
              <a:buNone/>
              <a:defRPr/>
            </a:pPr>
            <a:r>
              <a:rPr lang="en-US" sz="1700" b="1">
                <a:solidFill>
                  <a:schemeClr val="bg1"/>
                </a:solidFill>
              </a:rPr>
              <a:t>Iterate</a:t>
            </a:r>
            <a:endParaRPr lang="en-US" sz="1700"/>
          </a:p>
        </p:txBody>
      </p:sp>
      <p:sp>
        <p:nvSpPr>
          <p:cNvPr id="1724530640" name="text-528"/>
          <p:cNvSpPr txBox="1"/>
          <p:nvPr/>
        </p:nvSpPr>
        <p:spPr bwMode="auto">
          <a:xfrm>
            <a:off x="6903720" y="3566160"/>
            <a:ext cx="1691640" cy="1097280"/>
          </a:xfrm>
          <a:prstGeom prst="rect">
            <a:avLst/>
          </a:prstGeom>
          <a:noFill/>
          <a:ln/>
        </p:spPr>
        <p:txBody>
          <a:bodyPr wrap="square" lIns="0" tIns="0" rIns="0" bIns="0" rtlCol="0" anchor="t"/>
          <a:lstStyle/>
          <a:p>
            <a:pPr marL="0" indent="0">
              <a:buNone/>
              <a:defRPr/>
            </a:pPr>
            <a:r>
              <a:rPr lang="en-US" sz="1400">
                <a:solidFill>
                  <a:schemeClr val="bg1"/>
                </a:solidFill>
              </a:rPr>
              <a:t>Results often send you back to the data and the model.</a:t>
            </a:r>
            <a:endParaRPr lang="en-US" sz="1400"/>
          </a:p>
        </p:txBody>
      </p:sp>
      <p:sp>
        <p:nvSpPr>
          <p:cNvPr id="1148236869" name="Slide Number Placeholder 0"/>
          <p:cNvSpPr>
            <a:spLocks noGrp="1"/>
          </p:cNvSpPr>
          <p:nvPr>
            <p:ph type="sldNum" sz="quarter" idx="4294967295"/>
          </p:nvPr>
        </p:nvSpPr>
        <p:spPr bwMode="auto">
          <a:xfrm>
            <a:off x="8229600" y="4800600"/>
            <a:ext cx="457200" cy="228600"/>
          </a:xfrm>
          <a:prstGeom prst="rect">
            <a:avLst/>
          </a:prstGeom>
        </p:spPr>
        <p:txBody>
          <a:bodyPr/>
          <a:lstStyle>
            <a:lvl1pPr>
              <a:defRPr sz="1000">
                <a:solidFill>
                  <a:schemeClr val="accent5"/>
                </a:solidFill>
              </a:defRPr>
            </a:lvl1pPr>
          </a:lstStyle>
          <a:p>
            <a:pPr algn="r">
              <a:defRPr/>
            </a:pPr>
            <a:fld id="{F7021451-1387-4CA6-816F-3879F97B5CBC}" type="slidenum">
              <a:rPr lang="en-US" b="0"/>
              <a:t>22</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3">
    <p:spTree>
      <p:nvGrpSpPr>
        <p:cNvPr id="1" name=""/>
        <p:cNvGrpSpPr/>
        <p:nvPr/>
      </p:nvGrpSpPr>
      <p:grpSpPr bwMode="auto">
        <a:xfrm>
          <a:off x="0" y="0"/>
          <a:ext cx="0" cy="0"/>
          <a:chOff x="0" y="0"/>
          <a:chExt cx="0" cy="0"/>
        </a:xfrm>
      </p:grpSpPr>
      <p:sp>
        <p:nvSpPr>
          <p:cNvPr id="1057269403" name="Text 0"/>
          <p:cNvSpPr/>
          <p:nvPr>
            <p:ph type="title" idx="100" hasCustomPrompt="1"/>
          </p:nvPr>
        </p:nvSpPr>
        <p:spPr bwMode="auto">
          <a:xfrm>
            <a:off x="457200" y="274320"/>
            <a:ext cx="8229600" cy="731520"/>
          </a:xfrm>
          <a:prstGeom prst="rect">
            <a:avLst/>
          </a:prstGeom>
          <a:noFill/>
          <a:ln/>
        </p:spPr>
        <p:txBody>
          <a:bodyPr wrap="square" lIns="0" tIns="0" rIns="0" bIns="0" rtlCol="0" anchor="ctr"/>
          <a:lstStyle/>
          <a:p>
            <a:pPr marL="0" indent="0" algn="l">
              <a:buNone/>
              <a:defRPr/>
            </a:pPr>
            <a:r>
              <a:rPr lang="en-US" sz="3000" b="1">
                <a:solidFill>
                  <a:schemeClr val="tx2"/>
                </a:solidFill>
              </a:rPr>
              <a:t>Four questions for any AI project</a:t>
            </a:r>
            <a:endParaRPr lang="en-US" sz="3000"/>
          </a:p>
        </p:txBody>
      </p:sp>
      <p:sp>
        <p:nvSpPr>
          <p:cNvPr id="1573309036" name="card-529"/>
          <p:cNvSpPr/>
          <p:nvPr/>
        </p:nvSpPr>
        <p:spPr bwMode="auto">
          <a:xfrm>
            <a:off x="457200" y="1280160"/>
            <a:ext cx="1920240" cy="2468880"/>
          </a:xfrm>
          <a:prstGeom prst="roundRect">
            <a:avLst>
              <a:gd name="adj" fmla="val 4762"/>
            </a:avLst>
          </a:prstGeom>
          <a:solidFill>
            <a:schemeClr val="bg2"/>
          </a:solidFill>
          <a:ln w="12700">
            <a:solidFill>
              <a:schemeClr val="bg2"/>
            </a:solidFill>
            <a:prstDash val="solid"/>
          </a:ln>
        </p:spPr>
      </p:sp>
      <p:sp>
        <p:nvSpPr>
          <p:cNvPr id="72402007" name="text-530"/>
          <p:cNvSpPr txBox="1"/>
          <p:nvPr/>
        </p:nvSpPr>
        <p:spPr bwMode="auto">
          <a:xfrm>
            <a:off x="640080" y="1463040"/>
            <a:ext cx="1600200" cy="731520"/>
          </a:xfrm>
          <a:prstGeom prst="rect">
            <a:avLst/>
          </a:prstGeom>
          <a:noFill/>
          <a:ln/>
        </p:spPr>
        <p:txBody>
          <a:bodyPr wrap="square" lIns="0" tIns="0" rIns="0" bIns="0" rtlCol="0" anchor="ctr"/>
          <a:lstStyle/>
          <a:p>
            <a:pPr marL="0" indent="0">
              <a:buNone/>
              <a:defRPr/>
            </a:pPr>
            <a:r>
              <a:rPr lang="en-US" sz="2100" b="1">
                <a:solidFill>
                  <a:srgbClr val="2F6FED"/>
                </a:solidFill>
              </a:rPr>
              <a:t>Goal?</a:t>
            </a:r>
            <a:endParaRPr lang="en-US" sz="2100"/>
          </a:p>
        </p:txBody>
      </p:sp>
      <p:sp>
        <p:nvSpPr>
          <p:cNvPr id="637976430" name="text-531"/>
          <p:cNvSpPr txBox="1"/>
          <p:nvPr/>
        </p:nvSpPr>
        <p:spPr bwMode="auto">
          <a:xfrm>
            <a:off x="640080" y="2331720"/>
            <a:ext cx="1600200" cy="1280160"/>
          </a:xfrm>
          <a:prstGeom prst="rect">
            <a:avLst/>
          </a:prstGeom>
          <a:noFill/>
          <a:ln/>
        </p:spPr>
        <p:txBody>
          <a:bodyPr wrap="square" lIns="0" tIns="0" rIns="0" bIns="0" rtlCol="0" anchor="t"/>
          <a:lstStyle/>
          <a:p>
            <a:pPr marL="0" indent="0">
              <a:buNone/>
              <a:defRPr/>
            </a:pPr>
            <a:r>
              <a:rPr lang="en-US" sz="1400">
                <a:solidFill>
                  <a:schemeClr val="tx1"/>
                </a:solidFill>
              </a:rPr>
              <a:t>Label a photo as cat or dog.</a:t>
            </a:r>
            <a:endParaRPr lang="en-US" sz="1400"/>
          </a:p>
        </p:txBody>
      </p:sp>
      <p:sp>
        <p:nvSpPr>
          <p:cNvPr id="1243435492" name="card-532"/>
          <p:cNvSpPr/>
          <p:nvPr/>
        </p:nvSpPr>
        <p:spPr bwMode="auto">
          <a:xfrm>
            <a:off x="2560320" y="1280160"/>
            <a:ext cx="1920240" cy="2468880"/>
          </a:xfrm>
          <a:prstGeom prst="roundRect">
            <a:avLst>
              <a:gd name="adj" fmla="val 4762"/>
            </a:avLst>
          </a:prstGeom>
          <a:solidFill>
            <a:schemeClr val="bg2"/>
          </a:solidFill>
          <a:ln w="12700">
            <a:solidFill>
              <a:schemeClr val="bg2"/>
            </a:solidFill>
            <a:prstDash val="solid"/>
          </a:ln>
        </p:spPr>
      </p:sp>
      <p:sp>
        <p:nvSpPr>
          <p:cNvPr id="776561682" name="text-533"/>
          <p:cNvSpPr txBox="1"/>
          <p:nvPr/>
        </p:nvSpPr>
        <p:spPr bwMode="auto">
          <a:xfrm>
            <a:off x="2743200" y="1463040"/>
            <a:ext cx="1600200" cy="731520"/>
          </a:xfrm>
          <a:prstGeom prst="rect">
            <a:avLst/>
          </a:prstGeom>
          <a:noFill/>
          <a:ln/>
        </p:spPr>
        <p:txBody>
          <a:bodyPr wrap="square" lIns="0" tIns="0" rIns="0" bIns="0" rtlCol="0" anchor="ctr"/>
          <a:lstStyle/>
          <a:p>
            <a:pPr marL="0" indent="0">
              <a:buNone/>
              <a:defRPr/>
            </a:pPr>
            <a:r>
              <a:rPr lang="en-US" sz="2100" b="1">
                <a:solidFill>
                  <a:srgbClr val="5B5BD6"/>
                </a:solidFill>
              </a:rPr>
              <a:t>Training data?</a:t>
            </a:r>
            <a:endParaRPr lang="en-US" sz="2100"/>
          </a:p>
        </p:txBody>
      </p:sp>
      <p:sp>
        <p:nvSpPr>
          <p:cNvPr id="1893517521" name="text-534"/>
          <p:cNvSpPr txBox="1"/>
          <p:nvPr/>
        </p:nvSpPr>
        <p:spPr bwMode="auto">
          <a:xfrm>
            <a:off x="2743200" y="2331720"/>
            <a:ext cx="1600200" cy="1280160"/>
          </a:xfrm>
          <a:prstGeom prst="rect">
            <a:avLst/>
          </a:prstGeom>
          <a:noFill/>
          <a:ln/>
        </p:spPr>
        <p:txBody>
          <a:bodyPr wrap="square" lIns="0" tIns="0" rIns="0" bIns="0" rtlCol="0" anchor="t"/>
          <a:lstStyle/>
          <a:p>
            <a:pPr marL="0" indent="0">
              <a:buNone/>
              <a:defRPr/>
            </a:pPr>
            <a:r>
              <a:rPr lang="en-US" sz="1400">
                <a:solidFill>
                  <a:schemeClr val="tx1"/>
                </a:solidFill>
              </a:rPr>
              <a:t>Thousands of labelled photos, cleaned of mistakes.</a:t>
            </a:r>
            <a:endParaRPr lang="en-US" sz="1400"/>
          </a:p>
        </p:txBody>
      </p:sp>
      <p:sp>
        <p:nvSpPr>
          <p:cNvPr id="1036462890" name="card-535"/>
          <p:cNvSpPr/>
          <p:nvPr/>
        </p:nvSpPr>
        <p:spPr bwMode="auto">
          <a:xfrm>
            <a:off x="4663440" y="1280160"/>
            <a:ext cx="1920240" cy="2468880"/>
          </a:xfrm>
          <a:prstGeom prst="roundRect">
            <a:avLst>
              <a:gd name="adj" fmla="val 4762"/>
            </a:avLst>
          </a:prstGeom>
          <a:solidFill>
            <a:schemeClr val="bg2"/>
          </a:solidFill>
          <a:ln w="12700">
            <a:solidFill>
              <a:schemeClr val="bg2"/>
            </a:solidFill>
            <a:prstDash val="solid"/>
          </a:ln>
        </p:spPr>
      </p:sp>
      <p:sp>
        <p:nvSpPr>
          <p:cNvPr id="644481124" name="text-536"/>
          <p:cNvSpPr txBox="1"/>
          <p:nvPr/>
        </p:nvSpPr>
        <p:spPr bwMode="auto">
          <a:xfrm>
            <a:off x="4846320" y="1463040"/>
            <a:ext cx="1600200" cy="731520"/>
          </a:xfrm>
          <a:prstGeom prst="rect">
            <a:avLst/>
          </a:prstGeom>
          <a:noFill/>
          <a:ln/>
        </p:spPr>
        <p:txBody>
          <a:bodyPr wrap="square" lIns="0" tIns="0" rIns="0" bIns="0" rtlCol="0" anchor="ctr"/>
          <a:lstStyle/>
          <a:p>
            <a:pPr marL="0" indent="0">
              <a:buNone/>
              <a:defRPr/>
            </a:pPr>
            <a:r>
              <a:rPr lang="en-US" sz="2100" b="1">
                <a:solidFill>
                  <a:srgbClr val="0B8478"/>
                </a:solidFill>
              </a:rPr>
              <a:t>Model?</a:t>
            </a:r>
            <a:endParaRPr lang="en-US" sz="2100"/>
          </a:p>
        </p:txBody>
      </p:sp>
      <p:sp>
        <p:nvSpPr>
          <p:cNvPr id="574436767" name="text-537"/>
          <p:cNvSpPr txBox="1"/>
          <p:nvPr/>
        </p:nvSpPr>
        <p:spPr bwMode="auto">
          <a:xfrm>
            <a:off x="4846320" y="2331720"/>
            <a:ext cx="1600200" cy="1280160"/>
          </a:xfrm>
          <a:prstGeom prst="rect">
            <a:avLst/>
          </a:prstGeom>
          <a:noFill/>
          <a:ln/>
        </p:spPr>
        <p:txBody>
          <a:bodyPr wrap="square" lIns="0" tIns="0" rIns="0" bIns="0" rtlCol="0" anchor="t"/>
          <a:lstStyle/>
          <a:p>
            <a:pPr marL="0" indent="0">
              <a:buNone/>
              <a:defRPr/>
            </a:pPr>
            <a:r>
              <a:rPr lang="en-US" sz="1400">
                <a:solidFill>
                  <a:schemeClr val="tx1"/>
                </a:solidFill>
              </a:rPr>
              <a:t>A CNN image classifier.</a:t>
            </a:r>
            <a:endParaRPr lang="en-US" sz="1400"/>
          </a:p>
        </p:txBody>
      </p:sp>
      <p:sp>
        <p:nvSpPr>
          <p:cNvPr id="1542192539" name="card-538"/>
          <p:cNvSpPr/>
          <p:nvPr/>
        </p:nvSpPr>
        <p:spPr bwMode="auto">
          <a:xfrm>
            <a:off x="6766560" y="1280160"/>
            <a:ext cx="1920240" cy="2468880"/>
          </a:xfrm>
          <a:prstGeom prst="roundRect">
            <a:avLst>
              <a:gd name="adj" fmla="val 4762"/>
            </a:avLst>
          </a:prstGeom>
          <a:solidFill>
            <a:schemeClr val="bg2"/>
          </a:solidFill>
          <a:ln w="12700">
            <a:solidFill>
              <a:schemeClr val="bg2"/>
            </a:solidFill>
            <a:prstDash val="solid"/>
          </a:ln>
        </p:spPr>
      </p:sp>
      <p:sp>
        <p:nvSpPr>
          <p:cNvPr id="1930038075" name="text-539"/>
          <p:cNvSpPr txBox="1"/>
          <p:nvPr/>
        </p:nvSpPr>
        <p:spPr bwMode="auto">
          <a:xfrm>
            <a:off x="6949440" y="1463040"/>
            <a:ext cx="1600200" cy="731520"/>
          </a:xfrm>
          <a:prstGeom prst="rect">
            <a:avLst/>
          </a:prstGeom>
          <a:noFill/>
          <a:ln/>
        </p:spPr>
        <p:txBody>
          <a:bodyPr wrap="square" lIns="0" tIns="0" rIns="0" bIns="0" rtlCol="0" anchor="ctr"/>
          <a:lstStyle/>
          <a:p>
            <a:pPr marL="0" indent="0">
              <a:buNone/>
              <a:defRPr/>
            </a:pPr>
            <a:r>
              <a:rPr lang="en-US" sz="2100" b="1">
                <a:solidFill>
                  <a:srgbClr val="D93C41"/>
                </a:solidFill>
              </a:rPr>
              <a:t>Accuracy?</a:t>
            </a:r>
            <a:endParaRPr lang="en-US" sz="2100"/>
          </a:p>
        </p:txBody>
      </p:sp>
      <p:sp>
        <p:nvSpPr>
          <p:cNvPr id="2053556789" name="text-540"/>
          <p:cNvSpPr txBox="1"/>
          <p:nvPr/>
        </p:nvSpPr>
        <p:spPr bwMode="auto">
          <a:xfrm>
            <a:off x="6949440" y="2331720"/>
            <a:ext cx="1600200" cy="1280160"/>
          </a:xfrm>
          <a:prstGeom prst="rect">
            <a:avLst/>
          </a:prstGeom>
          <a:noFill/>
          <a:ln/>
        </p:spPr>
        <p:txBody>
          <a:bodyPr wrap="square" lIns="0" tIns="0" rIns="0" bIns="0" rtlCol="0" anchor="t"/>
          <a:lstStyle/>
          <a:p>
            <a:pPr marL="0" indent="0">
              <a:buNone/>
              <a:defRPr/>
            </a:pPr>
            <a:r>
              <a:rPr lang="en-US" sz="1400">
                <a:solidFill>
                  <a:schemeClr val="tx1"/>
                </a:solidFill>
              </a:rPr>
              <a:t>Share correct on photos it has never seen.</a:t>
            </a:r>
            <a:endParaRPr lang="en-US" sz="1400"/>
          </a:p>
        </p:txBody>
      </p:sp>
      <p:sp>
        <p:nvSpPr>
          <p:cNvPr id="255033982" name="card-541"/>
          <p:cNvSpPr/>
          <p:nvPr/>
        </p:nvSpPr>
        <p:spPr bwMode="auto">
          <a:xfrm>
            <a:off x="457200" y="3931920"/>
            <a:ext cx="8229600" cy="685800"/>
          </a:xfrm>
          <a:prstGeom prst="roundRect">
            <a:avLst>
              <a:gd name="adj" fmla="val 13333"/>
            </a:avLst>
          </a:prstGeom>
          <a:solidFill>
            <a:schemeClr val="accent1"/>
          </a:solidFill>
          <a:ln w="12700">
            <a:solidFill>
              <a:schemeClr val="accent1"/>
            </a:solidFill>
            <a:prstDash val="solid"/>
          </a:ln>
        </p:spPr>
      </p:sp>
      <p:sp>
        <p:nvSpPr>
          <p:cNvPr id="2082568586" name="text-542"/>
          <p:cNvSpPr txBox="1"/>
          <p:nvPr/>
        </p:nvSpPr>
        <p:spPr bwMode="auto">
          <a:xfrm>
            <a:off x="685800" y="3931920"/>
            <a:ext cx="7772400" cy="685800"/>
          </a:xfrm>
          <a:prstGeom prst="rect">
            <a:avLst/>
          </a:prstGeom>
          <a:noFill/>
          <a:ln/>
        </p:spPr>
        <p:txBody>
          <a:bodyPr wrap="square" lIns="0" tIns="0" rIns="0" bIns="0" rtlCol="0" anchor="ctr"/>
          <a:lstStyle/>
          <a:p>
            <a:pPr marL="0" indent="0">
              <a:buNone/>
              <a:defRPr/>
            </a:pPr>
            <a:r>
              <a:rPr lang="en-US" sz="1400" b="1">
                <a:solidFill>
                  <a:schemeClr val="bg1"/>
                </a:solidFill>
              </a:rPr>
              <a:t>For a GenAI app, swap in: a foundation model, prompts or fine-tuning data, and quality and safety evaluations.</a:t>
            </a:r>
            <a:endParaRPr lang="en-US" sz="1400"/>
          </a:p>
        </p:txBody>
      </p:sp>
      <p:sp>
        <p:nvSpPr>
          <p:cNvPr id="143041698" name="Slide Number Placeholder 0"/>
          <p:cNvSpPr>
            <a:spLocks noGrp="1"/>
          </p:cNvSpPr>
          <p:nvPr>
            <p:ph type="sldNum" sz="quarter" idx="4294967295"/>
          </p:nvPr>
        </p:nvSpPr>
        <p:spPr bwMode="auto">
          <a:xfrm>
            <a:off x="8229600" y="4800600"/>
            <a:ext cx="457200" cy="228600"/>
          </a:xfrm>
          <a:prstGeom prst="rect">
            <a:avLst/>
          </a:prstGeom>
        </p:spPr>
        <p:txBody>
          <a:bodyPr/>
          <a:lstStyle>
            <a:lvl1pPr>
              <a:defRPr sz="1000">
                <a:solidFill>
                  <a:schemeClr val="accent5"/>
                </a:solidFill>
              </a:defRPr>
            </a:lvl1pPr>
          </a:lstStyle>
          <a:p>
            <a:pPr algn="r">
              <a:defRPr/>
            </a:pPr>
            <a:fld id="{F7021451-1387-4CA6-816F-3879F97B5CBC}" type="slidenum">
              <a:rPr lang="en-US" b="0"/>
              <a:t>23</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3">
    <p:spTree>
      <p:nvGrpSpPr>
        <p:cNvPr id="1" name=""/>
        <p:cNvGrpSpPr/>
        <p:nvPr/>
      </p:nvGrpSpPr>
      <p:grpSpPr bwMode="auto">
        <a:xfrm>
          <a:off x="0" y="0"/>
          <a:ext cx="0" cy="0"/>
          <a:chOff x="0" y="0"/>
          <a:chExt cx="0" cy="0"/>
        </a:xfrm>
      </p:grpSpPr>
      <p:sp>
        <p:nvSpPr>
          <p:cNvPr id="576674139" name="Text 1"/>
          <p:cNvSpPr/>
          <p:nvPr>
            <p:ph type="title" idx="101" hasCustomPrompt="1"/>
          </p:nvPr>
        </p:nvSpPr>
        <p:spPr bwMode="auto">
          <a:xfrm>
            <a:off x="457200" y="274320"/>
            <a:ext cx="8229600" cy="731520"/>
          </a:xfrm>
          <a:prstGeom prst="rect">
            <a:avLst/>
          </a:prstGeom>
          <a:noFill/>
          <a:ln/>
        </p:spPr>
        <p:txBody>
          <a:bodyPr wrap="square" lIns="0" tIns="0" rIns="0" bIns="0" rtlCol="0" anchor="ctr"/>
          <a:lstStyle/>
          <a:p>
            <a:pPr marL="0" indent="0" algn="l">
              <a:buNone/>
              <a:defRPr/>
            </a:pPr>
            <a:r>
              <a:rPr lang="en-US" sz="3400" b="1">
                <a:solidFill>
                  <a:schemeClr val="bg1"/>
                </a:solidFill>
              </a:rPr>
              <a:t>Key takeaways</a:t>
            </a:r>
            <a:endParaRPr lang="en-US" sz="3400"/>
          </a:p>
        </p:txBody>
      </p:sp>
      <p:sp>
        <p:nvSpPr>
          <p:cNvPr id="1633259039" name="circle-750"/>
          <p:cNvSpPr/>
          <p:nvPr/>
        </p:nvSpPr>
        <p:spPr bwMode="auto">
          <a:xfrm>
            <a:off x="457200" y="1280160"/>
            <a:ext cx="411480" cy="411480"/>
          </a:xfrm>
          <a:prstGeom prst="ellipse">
            <a:avLst/>
          </a:prstGeom>
          <a:solidFill>
            <a:srgbClr val="0B8478"/>
          </a:solidFill>
          <a:ln w="12700">
            <a:solidFill>
              <a:srgbClr val="0B8478"/>
            </a:solidFill>
            <a:prstDash val="solid"/>
          </a:ln>
        </p:spPr>
      </p:sp>
      <p:sp>
        <p:nvSpPr>
          <p:cNvPr id="24449303" name="text-751"/>
          <p:cNvSpPr txBox="1"/>
          <p:nvPr/>
        </p:nvSpPr>
        <p:spPr bwMode="auto">
          <a:xfrm>
            <a:off x="457200" y="1280160"/>
            <a:ext cx="411480" cy="411480"/>
          </a:xfrm>
          <a:prstGeom prst="rect">
            <a:avLst/>
          </a:prstGeom>
          <a:noFill/>
          <a:ln/>
        </p:spPr>
        <p:txBody>
          <a:bodyPr wrap="square" lIns="0" tIns="0" rIns="0" bIns="0" rtlCol="0" anchor="ctr"/>
          <a:lstStyle/>
          <a:p>
            <a:pPr marL="0" indent="0" algn="ctr">
              <a:buNone/>
              <a:defRPr/>
            </a:pPr>
            <a:r>
              <a:rPr lang="en-US" sz="1600" b="1">
                <a:solidFill>
                  <a:schemeClr val="bg1"/>
                </a:solidFill>
              </a:rPr>
              <a:t>1</a:t>
            </a:r>
            <a:endParaRPr lang="en-US" sz="1600"/>
          </a:p>
        </p:txBody>
      </p:sp>
      <p:sp>
        <p:nvSpPr>
          <p:cNvPr id="933242334" name="text-752"/>
          <p:cNvSpPr txBox="1"/>
          <p:nvPr/>
        </p:nvSpPr>
        <p:spPr bwMode="auto">
          <a:xfrm>
            <a:off x="1097280" y="1234440"/>
            <a:ext cx="5120640" cy="594360"/>
          </a:xfrm>
          <a:prstGeom prst="rect">
            <a:avLst/>
          </a:prstGeom>
          <a:noFill/>
          <a:ln/>
        </p:spPr>
        <p:txBody>
          <a:bodyPr wrap="square" lIns="0" tIns="0" rIns="0" bIns="0" rtlCol="0" anchor="ctr"/>
          <a:lstStyle/>
          <a:p>
            <a:pPr marL="0" indent="0">
              <a:buNone/>
              <a:defRPr/>
            </a:pPr>
            <a:r>
              <a:rPr lang="en-US" sz="1600">
                <a:solidFill>
                  <a:schemeClr val="bg1"/>
                </a:solidFill>
              </a:rPr>
              <a:t>AI contains ML, which contains deep learning, which contains generative AI.</a:t>
            </a:r>
            <a:endParaRPr lang="en-US" sz="1600"/>
          </a:p>
        </p:txBody>
      </p:sp>
      <p:sp>
        <p:nvSpPr>
          <p:cNvPr id="1522234618" name="circle-753"/>
          <p:cNvSpPr/>
          <p:nvPr/>
        </p:nvSpPr>
        <p:spPr bwMode="auto">
          <a:xfrm>
            <a:off x="457200" y="1965960"/>
            <a:ext cx="411480" cy="411480"/>
          </a:xfrm>
          <a:prstGeom prst="ellipse">
            <a:avLst/>
          </a:prstGeom>
          <a:solidFill>
            <a:srgbClr val="0B8478"/>
          </a:solidFill>
          <a:ln w="12700">
            <a:solidFill>
              <a:srgbClr val="0B8478"/>
            </a:solidFill>
            <a:prstDash val="solid"/>
          </a:ln>
        </p:spPr>
      </p:sp>
      <p:sp>
        <p:nvSpPr>
          <p:cNvPr id="112880451" name="text-754"/>
          <p:cNvSpPr txBox="1"/>
          <p:nvPr/>
        </p:nvSpPr>
        <p:spPr bwMode="auto">
          <a:xfrm>
            <a:off x="457200" y="1965960"/>
            <a:ext cx="411480" cy="411480"/>
          </a:xfrm>
          <a:prstGeom prst="rect">
            <a:avLst/>
          </a:prstGeom>
          <a:noFill/>
          <a:ln/>
        </p:spPr>
        <p:txBody>
          <a:bodyPr wrap="square" lIns="0" tIns="0" rIns="0" bIns="0" rtlCol="0" anchor="ctr"/>
          <a:lstStyle/>
          <a:p>
            <a:pPr marL="0" indent="0" algn="ctr">
              <a:buNone/>
              <a:defRPr/>
            </a:pPr>
            <a:r>
              <a:rPr lang="en-US" sz="1600" b="1">
                <a:solidFill>
                  <a:schemeClr val="bg1"/>
                </a:solidFill>
              </a:rPr>
              <a:t>2</a:t>
            </a:r>
            <a:endParaRPr lang="en-US" sz="1600"/>
          </a:p>
        </p:txBody>
      </p:sp>
      <p:sp>
        <p:nvSpPr>
          <p:cNvPr id="2125860385" name="text-755"/>
          <p:cNvSpPr txBox="1"/>
          <p:nvPr/>
        </p:nvSpPr>
        <p:spPr bwMode="auto">
          <a:xfrm>
            <a:off x="1097280" y="1920240"/>
            <a:ext cx="5120640" cy="594360"/>
          </a:xfrm>
          <a:prstGeom prst="rect">
            <a:avLst/>
          </a:prstGeom>
          <a:noFill/>
          <a:ln/>
        </p:spPr>
        <p:txBody>
          <a:bodyPr wrap="square" lIns="0" tIns="0" rIns="0" bIns="0" rtlCol="0" anchor="ctr"/>
          <a:lstStyle/>
          <a:p>
            <a:pPr marL="0" indent="0">
              <a:buNone/>
              <a:defRPr/>
            </a:pPr>
            <a:r>
              <a:rPr lang="en-US" sz="1600">
                <a:solidFill>
                  <a:schemeClr val="bg1"/>
                </a:solidFill>
              </a:rPr>
              <a:t>Deep learning learns features automatically by minimising a loss.</a:t>
            </a:r>
            <a:endParaRPr lang="en-US" sz="1600"/>
          </a:p>
        </p:txBody>
      </p:sp>
      <p:sp>
        <p:nvSpPr>
          <p:cNvPr id="2019274454" name="circle-756"/>
          <p:cNvSpPr/>
          <p:nvPr/>
        </p:nvSpPr>
        <p:spPr bwMode="auto">
          <a:xfrm>
            <a:off x="457200" y="2651760"/>
            <a:ext cx="411480" cy="411480"/>
          </a:xfrm>
          <a:prstGeom prst="ellipse">
            <a:avLst/>
          </a:prstGeom>
          <a:solidFill>
            <a:srgbClr val="0B8478"/>
          </a:solidFill>
          <a:ln w="12700">
            <a:solidFill>
              <a:srgbClr val="0B8478"/>
            </a:solidFill>
            <a:prstDash val="solid"/>
          </a:ln>
        </p:spPr>
      </p:sp>
      <p:sp>
        <p:nvSpPr>
          <p:cNvPr id="355827001" name="text-757"/>
          <p:cNvSpPr txBox="1"/>
          <p:nvPr/>
        </p:nvSpPr>
        <p:spPr bwMode="auto">
          <a:xfrm>
            <a:off x="457200" y="2651760"/>
            <a:ext cx="411480" cy="411480"/>
          </a:xfrm>
          <a:prstGeom prst="rect">
            <a:avLst/>
          </a:prstGeom>
          <a:noFill/>
          <a:ln/>
        </p:spPr>
        <p:txBody>
          <a:bodyPr wrap="square" lIns="0" tIns="0" rIns="0" bIns="0" rtlCol="0" anchor="ctr"/>
          <a:lstStyle/>
          <a:p>
            <a:pPr marL="0" indent="0" algn="ctr">
              <a:buNone/>
              <a:defRPr/>
            </a:pPr>
            <a:r>
              <a:rPr lang="en-US" sz="1600" b="1">
                <a:solidFill>
                  <a:schemeClr val="bg1"/>
                </a:solidFill>
              </a:rPr>
              <a:t>3</a:t>
            </a:r>
            <a:endParaRPr lang="en-US" sz="1600"/>
          </a:p>
        </p:txBody>
      </p:sp>
      <p:sp>
        <p:nvSpPr>
          <p:cNvPr id="1869560597" name="text-758"/>
          <p:cNvSpPr txBox="1"/>
          <p:nvPr/>
        </p:nvSpPr>
        <p:spPr bwMode="auto">
          <a:xfrm>
            <a:off x="1097280" y="2606040"/>
            <a:ext cx="5120640" cy="594360"/>
          </a:xfrm>
          <a:prstGeom prst="rect">
            <a:avLst/>
          </a:prstGeom>
          <a:noFill/>
          <a:ln/>
        </p:spPr>
        <p:txBody>
          <a:bodyPr wrap="square" lIns="0" tIns="0" rIns="0" bIns="0" rtlCol="0" anchor="ctr"/>
          <a:lstStyle/>
          <a:p>
            <a:pPr marL="0" indent="0">
              <a:buNone/>
              <a:defRPr/>
            </a:pPr>
            <a:r>
              <a:rPr lang="en-US" sz="1600">
                <a:solidFill>
                  <a:schemeClr val="bg1"/>
                </a:solidFill>
              </a:rPr>
              <a:t>Generative AI creates new content - always verify the output.</a:t>
            </a:r>
            <a:endParaRPr lang="en-US" sz="1600"/>
          </a:p>
        </p:txBody>
      </p:sp>
      <p:sp>
        <p:nvSpPr>
          <p:cNvPr id="1165647681" name="circle-759"/>
          <p:cNvSpPr/>
          <p:nvPr/>
        </p:nvSpPr>
        <p:spPr bwMode="auto">
          <a:xfrm>
            <a:off x="457200" y="3337560"/>
            <a:ext cx="411480" cy="411480"/>
          </a:xfrm>
          <a:prstGeom prst="ellipse">
            <a:avLst/>
          </a:prstGeom>
          <a:solidFill>
            <a:srgbClr val="0B8478"/>
          </a:solidFill>
          <a:ln w="12700">
            <a:solidFill>
              <a:srgbClr val="0B8478"/>
            </a:solidFill>
            <a:prstDash val="solid"/>
          </a:ln>
        </p:spPr>
      </p:sp>
      <p:sp>
        <p:nvSpPr>
          <p:cNvPr id="431397136" name="text-760"/>
          <p:cNvSpPr txBox="1"/>
          <p:nvPr/>
        </p:nvSpPr>
        <p:spPr bwMode="auto">
          <a:xfrm>
            <a:off x="457200" y="3337560"/>
            <a:ext cx="411480" cy="411480"/>
          </a:xfrm>
          <a:prstGeom prst="rect">
            <a:avLst/>
          </a:prstGeom>
          <a:noFill/>
          <a:ln/>
        </p:spPr>
        <p:txBody>
          <a:bodyPr wrap="square" lIns="0" tIns="0" rIns="0" bIns="0" rtlCol="0" anchor="ctr"/>
          <a:lstStyle/>
          <a:p>
            <a:pPr marL="0" indent="0" algn="ctr">
              <a:buNone/>
              <a:defRPr/>
            </a:pPr>
            <a:r>
              <a:rPr lang="en-US" sz="1600" b="1">
                <a:solidFill>
                  <a:schemeClr val="bg1"/>
                </a:solidFill>
              </a:rPr>
              <a:t>4</a:t>
            </a:r>
            <a:endParaRPr lang="en-US" sz="1600"/>
          </a:p>
        </p:txBody>
      </p:sp>
      <p:sp>
        <p:nvSpPr>
          <p:cNvPr id="1904738395" name="text-761"/>
          <p:cNvSpPr txBox="1"/>
          <p:nvPr/>
        </p:nvSpPr>
        <p:spPr bwMode="auto">
          <a:xfrm>
            <a:off x="1097280" y="3291840"/>
            <a:ext cx="5120640" cy="594360"/>
          </a:xfrm>
          <a:prstGeom prst="rect">
            <a:avLst/>
          </a:prstGeom>
          <a:noFill/>
          <a:ln/>
        </p:spPr>
        <p:txBody>
          <a:bodyPr wrap="square" lIns="0" tIns="0" rIns="0" bIns="0" rtlCol="0" anchor="ctr"/>
          <a:lstStyle/>
          <a:p>
            <a:pPr marL="0" indent="0">
              <a:buNone/>
              <a:defRPr/>
            </a:pPr>
            <a:r>
              <a:rPr lang="en-US" sz="1600">
                <a:solidFill>
                  <a:schemeClr val="bg1"/>
                </a:solidFill>
              </a:rPr>
              <a:t>Every AI project follows the lifecycle: define, data, model, test, deploy.</a:t>
            </a:r>
            <a:endParaRPr lang="en-US" sz="1600"/>
          </a:p>
        </p:txBody>
      </p:sp>
      <p:sp>
        <p:nvSpPr>
          <p:cNvPr id="2074324299" name="circle-762"/>
          <p:cNvSpPr/>
          <p:nvPr/>
        </p:nvSpPr>
        <p:spPr bwMode="auto">
          <a:xfrm>
            <a:off x="457200" y="4023360"/>
            <a:ext cx="411480" cy="411480"/>
          </a:xfrm>
          <a:prstGeom prst="ellipse">
            <a:avLst/>
          </a:prstGeom>
          <a:solidFill>
            <a:srgbClr val="0B8478"/>
          </a:solidFill>
          <a:ln w="12700">
            <a:solidFill>
              <a:srgbClr val="0B8478"/>
            </a:solidFill>
            <a:prstDash val="solid"/>
          </a:ln>
        </p:spPr>
      </p:sp>
      <p:sp>
        <p:nvSpPr>
          <p:cNvPr id="114669637" name="text-763"/>
          <p:cNvSpPr txBox="1"/>
          <p:nvPr/>
        </p:nvSpPr>
        <p:spPr bwMode="auto">
          <a:xfrm>
            <a:off x="457200" y="4023360"/>
            <a:ext cx="411480" cy="411480"/>
          </a:xfrm>
          <a:prstGeom prst="rect">
            <a:avLst/>
          </a:prstGeom>
          <a:noFill/>
          <a:ln/>
        </p:spPr>
        <p:txBody>
          <a:bodyPr wrap="square" lIns="0" tIns="0" rIns="0" bIns="0" rtlCol="0" anchor="ctr"/>
          <a:lstStyle/>
          <a:p>
            <a:pPr marL="0" indent="0" algn="ctr">
              <a:buNone/>
              <a:defRPr/>
            </a:pPr>
            <a:r>
              <a:rPr lang="en-US" sz="1600" b="1">
                <a:solidFill>
                  <a:schemeClr val="bg1"/>
                </a:solidFill>
              </a:rPr>
              <a:t>5</a:t>
            </a:r>
            <a:endParaRPr lang="en-US" sz="1600"/>
          </a:p>
        </p:txBody>
      </p:sp>
      <p:sp>
        <p:nvSpPr>
          <p:cNvPr id="636951700" name="text-764"/>
          <p:cNvSpPr txBox="1"/>
          <p:nvPr/>
        </p:nvSpPr>
        <p:spPr bwMode="auto">
          <a:xfrm>
            <a:off x="1097280" y="3977640"/>
            <a:ext cx="5120640" cy="594360"/>
          </a:xfrm>
          <a:prstGeom prst="rect">
            <a:avLst/>
          </a:prstGeom>
          <a:noFill/>
          <a:ln/>
        </p:spPr>
        <p:txBody>
          <a:bodyPr wrap="square" lIns="0" tIns="0" rIns="0" bIns="0" rtlCol="0" anchor="ctr"/>
          <a:lstStyle/>
          <a:p>
            <a:pPr marL="0" indent="0">
              <a:buNone/>
              <a:defRPr/>
            </a:pPr>
            <a:r>
              <a:rPr lang="en-US" sz="1600">
                <a:solidFill>
                  <a:schemeClr val="bg1"/>
                </a:solidFill>
              </a:rPr>
              <a:t>Analytics turns data into decisions: types, statistics, KPIs, pivots, charts.</a:t>
            </a:r>
            <a:endParaRPr lang="en-US" sz="1600"/>
          </a:p>
        </p:txBody>
      </p:sp>
      <p:sp>
        <p:nvSpPr>
          <p:cNvPr id="1476932251" name="circle-765"/>
          <p:cNvSpPr/>
          <p:nvPr/>
        </p:nvSpPr>
        <p:spPr bwMode="auto">
          <a:xfrm>
            <a:off x="6583680" y="1828800"/>
            <a:ext cx="2011680" cy="2011680"/>
          </a:xfrm>
          <a:prstGeom prst="ellipse">
            <a:avLst/>
          </a:prstGeom>
          <a:solidFill>
            <a:srgbClr val="F59E0B"/>
          </a:solidFill>
          <a:ln w="12700">
            <a:solidFill>
              <a:srgbClr val="F59E0B"/>
            </a:solidFill>
            <a:prstDash val="solid"/>
          </a:ln>
        </p:spPr>
      </p:sp>
      <p:sp>
        <p:nvSpPr>
          <p:cNvPr id="2136509865" name="text-766"/>
          <p:cNvSpPr txBox="1"/>
          <p:nvPr/>
        </p:nvSpPr>
        <p:spPr bwMode="auto">
          <a:xfrm>
            <a:off x="6583680" y="1828800"/>
            <a:ext cx="2011680" cy="2011680"/>
          </a:xfrm>
          <a:prstGeom prst="rect">
            <a:avLst/>
          </a:prstGeom>
          <a:noFill/>
          <a:ln/>
        </p:spPr>
        <p:txBody>
          <a:bodyPr wrap="square" lIns="0" tIns="0" rIns="0" bIns="0" rtlCol="0" anchor="ctr"/>
          <a:lstStyle/>
          <a:p>
            <a:pPr marL="0" indent="0" algn="ctr">
              <a:buNone/>
              <a:defRPr/>
            </a:pPr>
            <a:r>
              <a:rPr lang="en-US" sz="2400" b="1">
                <a:solidFill>
                  <a:schemeClr val="tx1"/>
                </a:solidFill>
                <a:latin typeface="Cambria"/>
                <a:ea typeface="Cambria"/>
                <a:cs typeface="Cambria"/>
              </a:rPr>
              <a:t>Questions?</a:t>
            </a: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4">
    <p:spTree>
      <p:nvGrpSpPr>
        <p:cNvPr id="1" name=""/>
        <p:cNvGrpSpPr/>
        <p:nvPr/>
      </p:nvGrpSpPr>
      <p:grpSpPr bwMode="auto">
        <a:xfrm>
          <a:off x="0" y="0"/>
          <a:ext cx="0" cy="0"/>
          <a:chOff x="0" y="0"/>
          <a:chExt cx="0" cy="0"/>
        </a:xfrm>
      </p:grpSpPr>
      <p:sp>
        <p:nvSpPr>
          <p:cNvPr id="324084723" name="Text 0"/>
          <p:cNvSpPr/>
          <p:nvPr>
            <p:ph type="title" idx="100" hasCustomPrompt="1"/>
          </p:nvPr>
        </p:nvSpPr>
        <p:spPr bwMode="auto">
          <a:xfrm>
            <a:off x="457200" y="274320"/>
            <a:ext cx="8229600" cy="731520"/>
          </a:xfrm>
          <a:prstGeom prst="rect">
            <a:avLst/>
          </a:prstGeom>
          <a:noFill/>
          <a:ln/>
        </p:spPr>
        <p:txBody>
          <a:bodyPr wrap="square" lIns="0" tIns="0" rIns="0" bIns="0" rtlCol="0" anchor="ctr"/>
          <a:lstStyle/>
          <a:p>
            <a:pPr marL="0" indent="0" algn="l">
              <a:buNone/>
              <a:defRPr/>
            </a:pPr>
            <a:r>
              <a:rPr lang="en-US" sz="3000" b="1">
                <a:solidFill>
                  <a:schemeClr val="tx2"/>
                </a:solidFill>
              </a:rPr>
              <a:t>Sources and credits</a:t>
            </a:r>
            <a:endParaRPr lang="en-US" sz="3000"/>
          </a:p>
        </p:txBody>
      </p:sp>
      <p:sp>
        <p:nvSpPr>
          <p:cNvPr id="1203242166" name="list-767"/>
          <p:cNvSpPr txBox="1"/>
          <p:nvPr/>
        </p:nvSpPr>
        <p:spPr bwMode="auto">
          <a:xfrm>
            <a:off x="457200" y="1280160"/>
            <a:ext cx="8229600" cy="3108960"/>
          </a:xfrm>
          <a:prstGeom prst="rect">
            <a:avLst/>
          </a:prstGeom>
          <a:noFill/>
          <a:ln/>
        </p:spPr>
        <p:txBody>
          <a:bodyPr wrap="square" lIns="0" tIns="0" rIns="0" bIns="0" rtlCol="0" anchor="t"/>
          <a:lstStyle/>
          <a:p>
            <a:pPr marL="177800" indent="-177800">
              <a:spcAft>
                <a:spcPts val="1200"/>
              </a:spcAft>
              <a:buSzPct val="100000"/>
              <a:buChar char="•"/>
              <a:defRPr/>
            </a:pPr>
            <a:r>
              <a:rPr lang="en-US" sz="1600">
                <a:solidFill>
                  <a:schemeClr val="tx1"/>
                </a:solidFill>
              </a:rPr>
              <a:t>AI 101 (RES.6-013, Fall 2021), Brandon Leshchinskiy, MIT OpenCourseWare, ocw.mit.edu. Concepts on AI, ML, learning types and the project lifecycle.</a:t>
            </a:r>
            <a:endParaRPr lang="en-US" sz="1600"/>
          </a:p>
          <a:p>
            <a:pPr marL="177800" indent="-177800">
              <a:spcAft>
                <a:spcPts val="1200"/>
              </a:spcAft>
              <a:buSzPct val="100000"/>
              <a:buChar char="•"/>
              <a:defRPr/>
            </a:pPr>
            <a:r>
              <a:rPr lang="en-US" sz="1600">
                <a:solidFill>
                  <a:schemeClr val="tx1"/>
                </a:solidFill>
              </a:rPr>
              <a:t>Introduction to Deep Learning, Zhenhua He, Texas A&amp;M High Performance Research Computing. Concepts on neural networks, training, CNNs.</a:t>
            </a:r>
            <a:endParaRPr lang="en-US" sz="1600"/>
          </a:p>
          <a:p>
            <a:pPr marL="177800" indent="-177800">
              <a:spcAft>
                <a:spcPts val="1200"/>
              </a:spcAft>
              <a:buSzPct val="100000"/>
              <a:buChar char="•"/>
              <a:defRPr/>
            </a:pPr>
            <a:r>
              <a:rPr lang="en-US" sz="1600">
                <a:solidFill>
                  <a:schemeClr val="tx1"/>
                </a:solidFill>
              </a:rPr>
              <a:t>All diagrams are redrawn; no third-party photos are included.</a:t>
            </a:r>
            <a:endParaRPr lang="en-US" sz="1600"/>
          </a:p>
        </p:txBody>
      </p:sp>
      <p:sp>
        <p:nvSpPr>
          <p:cNvPr id="210085088" name="Slide Number Placeholder 0"/>
          <p:cNvSpPr>
            <a:spLocks noGrp="1"/>
          </p:cNvSpPr>
          <p:nvPr>
            <p:ph type="sldNum" sz="quarter" idx="4294967295"/>
          </p:nvPr>
        </p:nvSpPr>
        <p:spPr bwMode="auto">
          <a:xfrm>
            <a:off x="8229600" y="4800600"/>
            <a:ext cx="457200" cy="228600"/>
          </a:xfrm>
          <a:prstGeom prst="rect">
            <a:avLst/>
          </a:prstGeom>
        </p:spPr>
        <p:txBody>
          <a:bodyPr/>
          <a:lstStyle>
            <a:lvl1pPr>
              <a:defRPr sz="1000">
                <a:solidFill>
                  <a:schemeClr val="accent5"/>
                </a:solidFill>
              </a:defRPr>
            </a:lvl1pPr>
          </a:lstStyle>
          <a:p>
            <a:pPr algn="r">
              <a:defRPr/>
            </a:pPr>
            <a:fld id="{F7021451-1387-4CA6-816F-3879F97B5CBC}" type="slidenum">
              <a:rPr lang="en-US" b="0"/>
              <a:t>34</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AI Lecture">
  <a:themeElements>
    <a:clrScheme name="AI Lecture">
      <a:dk1>
        <a:srgbClr val="0F172A"/>
      </a:dk1>
      <a:lt1>
        <a:srgbClr val="FFFFFF"/>
      </a:lt1>
      <a:dk2>
        <a:srgbClr val="12203F"/>
      </a:dk2>
      <a:lt2>
        <a:srgbClr val="F1F5F9"/>
      </a:lt2>
      <a:accent1>
        <a:srgbClr val="0B8478"/>
      </a:accent1>
      <a:accent2>
        <a:srgbClr val="F59E0B"/>
      </a:accent2>
      <a:accent3>
        <a:srgbClr val="5B5BD6"/>
      </a:accent3>
      <a:accent4>
        <a:srgbClr val="D93C41"/>
      </a:accent4>
      <a:accent5>
        <a:srgbClr val="64748B"/>
      </a:accent5>
      <a:accent6>
        <a:srgbClr val="2F6FED"/>
      </a:accent6>
      <a:hlink>
        <a:srgbClr val="0B8478"/>
      </a:hlink>
      <a:folHlink>
        <a:srgbClr val="64748B"/>
      </a:folHlink>
    </a:clrScheme>
    <a:fontScheme name="AI Lecture">
      <a:majorFont>
        <a:latin typeface="Cambria"/>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ONLYOFFICE/9.4.0.129</Application>
  <PresentationFormat>On-screen Show (4:3)</PresentationFormat>
  <Paragraphs>0</Paragraphs>
  <Slides>26</Slides>
  <Notes>26</Notes>
  <HiddenSlides>0</HiddenSlides>
  <MMClips>2</MMClips>
  <ScaleCrop>0</ScaleCrop>
  <HeadingPairs>
    <vt:vector size="4" baseType="variant">
      <vt:variant>
        <vt:lpstr>Theme</vt:lpstr>
      </vt:variant>
      <vt:variant>
        <vt:i4>1</vt:i4>
      </vt:variant>
      <vt:variant>
        <vt:lpstr>Slide Titles</vt:lpstr>
      </vt:variant>
      <vt:variant>
        <vt:i4>26</vt:i4>
      </vt:variant>
    </vt:vector>
  </HeadingPairs>
  <TitlesOfParts>
    <vt:vector size="27"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Deep Learning, Generative AI and Data Analytics</dc:title>
  <dc:subject>PptxGenJS Presentation</dc:subject>
  <dc:creator>PptxGenJS</dc:creator>
  <cp:lastModifiedBy/>
  <cp:revision>2</cp:revision>
  <dcterms:created xsi:type="dcterms:W3CDTF">2026-10-13T05:39:33Z</dcterms:created>
  <dcterms:modified xsi:type="dcterms:W3CDTF">2026-10-13T08:07:51Z</dcterms:modified>
</cp:coreProperties>
</file>