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mp4" ContentType="video/unknown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notesSlides/notesSlide48.xml" ContentType="application/vnd.openxmlformats-officedocument.presentationml.notes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8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3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5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55" d="100"/>
          <a:sy n="55" d="100"/>
        </p:scale>
        <p:origin x="1096" y="-404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 /><Relationship Id="rId60" Type="http://schemas.openxmlformats.org/officeDocument/2006/relationships/tableStyles" Target="tableStyles.xml" /><Relationship Id="rId6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50629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190458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9A5DC71-5B84-4F06-9668-7D9C8CDA1348}" type="datetimeFigureOut">
              <a:rPr lang="en-US"/>
              <a:t>5/19/2022</a:t>
            </a:fld>
            <a:endParaRPr lang="en-US"/>
          </a:p>
        </p:txBody>
      </p:sp>
      <p:sp>
        <p:nvSpPr>
          <p:cNvPr id="106681575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41006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058220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059933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E5468F7-2A92-4ED1-ADDA-74A3CF4860F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www.youtube.com/watch?v=JvbHu_bVa_g" TargetMode="External"/><Relationship Id="rId4" Type="http://schemas.openxmlformats.org/officeDocument/2006/relationships/hyperlink" Target="https://youtu.be/gGpFB3ms6rU" TargetMode="Externa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6696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108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8833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1200" b="1" i="0" u="sng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"/>
              </a:rPr>
              <a:t>Watch Mashable video about Google’s AI-based personal assistant:</a:t>
            </a:r>
            <a:endParaRPr sz="1200"/>
          </a:p>
          <a:p>
            <a:pPr algn="ctr">
              <a:defRPr/>
            </a:pPr>
            <a:r>
              <a:rPr lang="en-US" sz="1200" b="1" i="0" u="sng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"/>
              </a:rPr>
              <a:t>https://www.youtube.com/watch?v=JvbHu_bVa_g</a:t>
            </a:r>
            <a:endParaRPr lang="en-US" sz="12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2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4" tooltip=""/>
              </a:rPr>
              <a:t>https://youtu.be/gGpFB3ms6rU</a:t>
            </a:r>
            <a:endParaRPr/>
          </a:p>
          <a:p>
            <a:pPr algn="ctr">
              <a:defRPr/>
            </a:pPr>
            <a:endParaRPr sz="1200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60C0EB-52C6-9ECB-47EC-6B57182DA1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645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0135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29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2B97E3-38C3-6FA5-8F6D-1EE98B9515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455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4577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39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D9810-D035-5454-E132-9A3E137DB0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277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6391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0991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0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092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5578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093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8541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2654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103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70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6575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904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1654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207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0945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493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6501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751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70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8006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623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1781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19207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336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8535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3235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301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1549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6994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072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7175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9730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0284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5408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0551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594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2720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6977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4833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2330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7229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507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2772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0718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5403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3753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7979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0541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1373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7832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054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9950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1763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435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9598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88507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5525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0510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422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677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9317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6008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4236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28061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5168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463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7732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9327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523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7836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53379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29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7522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1557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984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638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930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62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0015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5692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426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7834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577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8734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6801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2618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533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061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619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389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9078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30492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543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054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3235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8460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954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290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2449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1271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0405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503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556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0185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000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219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9836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374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12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8251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064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3597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7525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970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2302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3288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461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1389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619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9577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5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882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249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1640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074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7374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8766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90931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4041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1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7411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557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7759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b="0" i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14916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11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5395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b="0" i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0148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72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3338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b="0" i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6110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3127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303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b="0" i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96038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224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785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sz="1200" b="0" i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04056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375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7191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sz="1200" b="0" i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77273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468F7-2A92-4ED1-ADDA-74A3CF4860F2}" type="slidenum">
              <a:rPr lang="en-US"/>
              <a:t>53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79108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73033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234966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1E46212-FD6B-837D-E979-C6E0ED92B6D6}" type="datetime2">
              <a:rPr lang="en-US"/>
              <a:t>Tuesday, October 13, 2026</a:t>
            </a:fld>
            <a:endParaRPr/>
          </a:p>
        </p:txBody>
      </p:sp>
      <p:sp>
        <p:nvSpPr>
          <p:cNvPr id="14967013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9973837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0396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08977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5331066-F989-BFE5-3947-97A92A1CD439}" type="datetime2">
              <a:rPr lang="en-US"/>
              <a:t>Tuesday, October 13, 2026</a:t>
            </a:fld>
            <a:endParaRPr/>
          </a:p>
        </p:txBody>
      </p:sp>
      <p:sp>
        <p:nvSpPr>
          <p:cNvPr id="20136529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4257914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10200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70766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5865674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138DBBF-DE5D-936A-EA2D-04E43E18CB36}" type="datetime2">
              <a:rPr lang="en-US"/>
              <a:t>Tuesday, October 13, 2026</a:t>
            </a:fld>
            <a:endParaRPr/>
          </a:p>
        </p:txBody>
      </p:sp>
      <p:sp>
        <p:nvSpPr>
          <p:cNvPr id="918429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20788395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1840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192509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013162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55823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4D7DE-229D-1F0A-DB52-58E61D6257C6}" type="datetime2">
              <a:rPr lang="en-US"/>
              <a:t>Tuesday, October 13, 2026</a:t>
            </a:fld>
            <a:endParaRPr/>
          </a:p>
        </p:txBody>
      </p:sp>
      <p:sp>
        <p:nvSpPr>
          <p:cNvPr id="12692556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8982025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0851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25865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4850282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407469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35031561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329075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634187-C04B-EF62-9CB8-9B92E214E3C6}" type="datetime2">
              <a:rPr lang="en-US"/>
              <a:t>Tuesday, October 13, 2026</a:t>
            </a:fld>
            <a:endParaRPr/>
          </a:p>
        </p:txBody>
      </p:sp>
      <p:sp>
        <p:nvSpPr>
          <p:cNvPr id="191544465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80233733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2884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496426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F949D0-4A2C-0F9D-21DD-47A1DDBBFAEC}" type="datetime2">
              <a:rPr lang="en-US"/>
              <a:t>Tuesday, October 13, 2026</a:t>
            </a:fld>
            <a:endParaRPr/>
          </a:p>
        </p:txBody>
      </p:sp>
      <p:sp>
        <p:nvSpPr>
          <p:cNvPr id="29405329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48111202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6429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CEAED20-B758-83B1-5991-89D450769FA2}" type="datetime2">
              <a:rPr lang="en-US"/>
              <a:t>Tuesday, October 13, 2026</a:t>
            </a:fld>
            <a:endParaRPr/>
          </a:p>
        </p:txBody>
      </p:sp>
      <p:sp>
        <p:nvSpPr>
          <p:cNvPr id="31023495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3773364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1414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247637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07800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6941077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B5E235F-4A4A-9D38-B78A-2EDABAC3A257}" type="datetime2">
              <a:rPr lang="en-US"/>
              <a:t>Tuesday, October 13, 2026</a:t>
            </a:fld>
            <a:endParaRPr/>
          </a:p>
        </p:txBody>
      </p:sp>
      <p:sp>
        <p:nvSpPr>
          <p:cNvPr id="18467541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8602691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60660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437257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070772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8912421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E0DE7BA-32D7-3CE1-796D-518D3CFE08CC}" type="datetime2">
              <a:rPr lang="en-US"/>
              <a:t>Tuesday, October 13, 2026</a:t>
            </a:fld>
            <a:endParaRPr/>
          </a:p>
        </p:txBody>
      </p:sp>
      <p:sp>
        <p:nvSpPr>
          <p:cNvPr id="4319047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5000656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9184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365025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76124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3D221E-9050-C7FA-EBD1-A47054DC64CA}" type="datetime2">
              <a:rPr lang="en-US"/>
              <a:t>Tuesday, October 13, 2026</a:t>
            </a:fld>
            <a:endParaRPr/>
          </a:p>
        </p:txBody>
      </p:sp>
      <p:sp>
        <p:nvSpPr>
          <p:cNvPr id="13990292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5560324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83564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822239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2450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CC2AAD-8E05-1C1F-04AC-FE3196610D34}" type="datetime2">
              <a:rPr lang="en-US"/>
              <a:t>Tuesday, October 13, 2026</a:t>
            </a:fld>
            <a:endParaRPr/>
          </a:p>
        </p:txBody>
      </p:sp>
      <p:sp>
        <p:nvSpPr>
          <p:cNvPr id="14410262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8334271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27777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28139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97648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226A1B-F714-B1DF-5F06-A45FB86A4DB6}" type="datetime2">
              <a:rPr lang="en-US"/>
              <a:t>Tuesday, October 13, 2026</a:t>
            </a:fld>
            <a:endParaRPr/>
          </a:p>
        </p:txBody>
      </p:sp>
      <p:sp>
        <p:nvSpPr>
          <p:cNvPr id="83847076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95301514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C2FF89-AFF4-4BA3-99C7-75CC2A16707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microsoft.com/office/2007/relationships/media" Target="../media/media1.mp4"/><Relationship Id="rId5" Type="http://schemas.openxmlformats.org/officeDocument/2006/relationships/video" Target="../media/media1.mp4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JvbHu_bVa_g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JvbHu_bVa_g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ocw.mit.edu/help/faq-fair-use/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ocw.mit.edu/help/faq-fair-use/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hyperlink" Target="https://ocw.mit.edu/help/faq-fair-use/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ocw.mit.edu/help/faq-fair-use/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hyperlink" Target="https://ocw.mit.edu/help/faq-fair-use/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ocw.mit.edu/help/faq-fair-use/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hyperlink" Target="https://ocw.mit.edu/help/faq-fair-use/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hyperlink" Target="https://ocw.mit.edu/help/faq-fair-use/" TargetMode="Externa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https://ocw.mit.edu/help/faq-fair-use/" TargetMode="Externa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hyperlink" Target="https://ocw.mit.edu/help/faq-fair-use/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hyperlink" Target="https://ocw.mit.edu/help/faq-fair-use/" TargetMode="Externa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hyperlink" Target="https://ocw.mit.edu/help/faq-fair-use/" TargetMode="Externa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hyperlink" Target="https://ocw.mit.edu/help/faq-fair-use/" TargetMode="Externa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hyperlink" Target="https://ocw.mit.edu/help/faq-fair-use/" TargetMode="Externa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hyperlink" Target="https://ocw.mit.edu/help/faq-fair-use/" TargetMode="Externa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hyperlink" Target="https://ocw.mit.edu/help/faq-fair-use/" TargetMode="Externa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hyperlink" Target="https://ocw.mit.edu/help/faq-fair-use/" TargetMode="Externa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hyperlink" Target="https://ocw.mit.edu/help/faq-fair-use/" TargetMode="Externa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hyperlink" Target="https://ocw.mit.edu/help/faq-fair-use/" TargetMode="Externa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hyperlink" Target="https://ocw.mit.edu/help/faq-fair-use/" TargetMode="Externa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hyperlink" Target="https://ocw.mit.edu/help/faq-fair-use/" TargetMode="Externa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hyperlink" Target="https://ocw.mit.edu/help/faq-fair-use/" TargetMode="Externa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hyperlink" Target="https://ocw.mit.edu/help/faq-fair-use/" TargetMode="Externa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Relationship Id="rId4" Type="http://schemas.openxmlformats.org/officeDocument/2006/relationships/hyperlink" Target="https://ocw.mit.edu/help/faq-fair-use/" TargetMode="Externa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Relationship Id="rId4" Type="http://schemas.openxmlformats.org/officeDocument/2006/relationships/hyperlink" Target="https://ocw.mit.edu/help/faq-fair-use/" TargetMode="Externa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.png"/><Relationship Id="rId4" Type="http://schemas.openxmlformats.org/officeDocument/2006/relationships/hyperlink" Target="https://ocw.mit.edu/help/faq-fair-use/" TargetMode="Externa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Relationship Id="rId4" Type="http://schemas.openxmlformats.org/officeDocument/2006/relationships/hyperlink" Target="https://ocw.mit.edu/help/faq-fair-use/" TargetMode="Externa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3.jpg"/><Relationship Id="rId4" Type="http://schemas.openxmlformats.org/officeDocument/2006/relationships/hyperlink" Target="https://ocw.mit.edu/help/faq-fair-use/" TargetMode="Externa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hyperlink" Target="https://ocw.mit.edu/help/faq-fair-use/" TargetMode="Externa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895971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marL="0" indent="0">
              <a:buNone/>
              <a:defRPr/>
            </a:pPr>
            <a:r>
              <a:rPr lang="en-US" sz="9600" b="1" i="0" u="none" strike="noStrike" cap="none" spc="0">
                <a:solidFill>
                  <a:srgbClr val="00B0F0"/>
                </a:solidFill>
                <a:latin typeface="Cambria"/>
                <a:ea typeface="Cambria"/>
                <a:cs typeface="Cambria"/>
              </a:rPr>
              <a:t>AI, Deep Learning &amp; Generative AI</a:t>
            </a:r>
            <a:endParaRPr sz="9600">
              <a:solidFill>
                <a:srgbClr val="00B0F0"/>
              </a:solidFill>
            </a:endParaRPr>
          </a:p>
        </p:txBody>
      </p:sp>
      <p:sp>
        <p:nvSpPr>
          <p:cNvPr id="1997428723" name="Subtitle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2800"/>
              <a:t>By Dr. Nudrat Nida</a:t>
            </a:r>
            <a:endParaRPr/>
          </a:p>
          <a:p>
            <a:pPr>
              <a:defRPr/>
            </a:pP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1247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6658531" name="Rectangle 2"/>
          <p:cNvSpPr/>
          <p:nvPr/>
        </p:nvSpPr>
        <p:spPr bwMode="auto">
          <a:xfrm>
            <a:off x="1099595" y="3338121"/>
            <a:ext cx="10521746" cy="366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24721898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2</a:t>
            </a:fld>
            <a:endParaRPr lang="en-US"/>
          </a:p>
        </p:txBody>
      </p:sp>
      <p:sp>
        <p:nvSpPr>
          <p:cNvPr id="16807971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620461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6E5B9123-A670-2804-08CB-DA8694D2669A}" type="datetime2">
              <a:rPr lang="en-US"/>
              <a:t/>
            </a:fld>
            <a:endParaRPr/>
          </a:p>
        </p:txBody>
      </p:sp>
      <p:pic>
        <p:nvPicPr>
          <p:cNvPr id="592362093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2480735" y="-3108"/>
            <a:ext cx="6724583" cy="6724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2855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5987961" name="Rectangle 2"/>
          <p:cNvSpPr/>
          <p:nvPr/>
        </p:nvSpPr>
        <p:spPr bwMode="auto">
          <a:xfrm>
            <a:off x="1099595" y="3338121"/>
            <a:ext cx="10521386" cy="1231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u="sng">
                <a:hlinkClick r:id="rId3" tooltip=""/>
              </a:rPr>
              <a:t>Watch Mashable video about Google’s AI-based personal assistant:</a:t>
            </a:r>
            <a:endParaRPr/>
          </a:p>
          <a:p>
            <a:pPr algn="ctr">
              <a:defRPr/>
            </a:pPr>
            <a:r>
              <a:rPr lang="en-US" sz="2800" b="1" u="sng">
                <a:hlinkClick r:id="rId3" tooltip=""/>
              </a:rPr>
              <a:t>https://www.youtube.com/watch?v=JvbHu_bVa_g</a:t>
            </a:r>
            <a:endParaRPr lang="en-US" sz="2800" b="1"/>
          </a:p>
          <a:p>
            <a:pPr>
              <a:defRPr/>
            </a:pPr>
            <a:endParaRPr lang="en-US"/>
          </a:p>
        </p:txBody>
      </p:sp>
      <p:sp>
        <p:nvSpPr>
          <p:cNvPr id="163349376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A9E888-4B58-A180-FB7D-96D4910EE92F}" type="slidenum">
              <a:rPr lang="en-US"/>
              <a:t>2</a:t>
            </a:fld>
            <a:endParaRPr lang="en-US"/>
          </a:p>
        </p:txBody>
      </p:sp>
      <p:sp>
        <p:nvSpPr>
          <p:cNvPr id="11913661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0324613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509F6E-EFD9-DDE6-AAA4-E46EA4D94706}" type="datetime2">
              <a:rPr lang="en-US"/>
              <a:t>Tuesday, October 13, 2026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913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4150571" name="Rectangle 2"/>
          <p:cNvSpPr/>
          <p:nvPr/>
        </p:nvSpPr>
        <p:spPr bwMode="auto">
          <a:xfrm>
            <a:off x="1099595" y="3338121"/>
            <a:ext cx="10521386" cy="1231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u="sng">
                <a:hlinkClick r:id="rId3" tooltip=""/>
              </a:rPr>
              <a:t>Watch Mashable video about Google’s AI-based personal assistant:</a:t>
            </a:r>
            <a:endParaRPr/>
          </a:p>
          <a:p>
            <a:pPr algn="ctr">
              <a:defRPr/>
            </a:pPr>
            <a:r>
              <a:rPr lang="en-US" sz="2800" b="1" u="sng">
                <a:hlinkClick r:id="rId3" tooltip=""/>
              </a:rPr>
              <a:t>https://www.youtube.com/watch?v=JvbHu_bVa_g</a:t>
            </a:r>
            <a:endParaRPr lang="en-US" sz="2800" b="1"/>
          </a:p>
          <a:p>
            <a:pPr>
              <a:defRPr/>
            </a:pPr>
            <a:endParaRPr lang="en-US"/>
          </a:p>
        </p:txBody>
      </p:sp>
      <p:sp>
        <p:nvSpPr>
          <p:cNvPr id="18213939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B2CF15-69C8-D549-FFF1-9CD688A6D973}" type="slidenum">
              <a:rPr lang="en-US"/>
              <a:t>2</a:t>
            </a:fld>
            <a:endParaRPr lang="en-US"/>
          </a:p>
        </p:txBody>
      </p:sp>
      <p:sp>
        <p:nvSpPr>
          <p:cNvPr id="4512605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5178358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B2B6B28-2AF3-E36A-DD5F-0C09F19F06F2}" type="datetime2">
              <a:rPr lang="en-US"/>
              <a:t>Tuesday, October 13, 2026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185353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With the right data and the right model, machine learning can solve </a:t>
            </a:r>
            <a:r>
              <a:rPr lang="en-US"/>
              <a:t>many problems.</a:t>
            </a:r>
            <a:endParaRPr lang="en-US"/>
          </a:p>
        </p:txBody>
      </p:sp>
      <p:sp>
        <p:nvSpPr>
          <p:cNvPr id="892926032" name="Rectangle 2"/>
          <p:cNvSpPr/>
          <p:nvPr/>
        </p:nvSpPr>
        <p:spPr bwMode="auto">
          <a:xfrm>
            <a:off x="1524000" y="2318749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5600" b="1">
                <a:solidFill>
                  <a:schemeClr val="accent1"/>
                </a:solidFill>
                <a:latin typeface="Eras Light ITC"/>
              </a:rPr>
              <a:t>B</a:t>
            </a:r>
            <a:r>
              <a:rPr lang="en-US" sz="5600" b="1">
                <a:solidFill>
                  <a:schemeClr val="accent1"/>
                </a:solidFill>
                <a:latin typeface="Eras Light ITC"/>
              </a:rPr>
              <a:t>ut </a:t>
            </a:r>
            <a:r>
              <a:rPr lang="en-US" sz="5600" b="1">
                <a:solidFill>
                  <a:schemeClr val="accent1"/>
                </a:solidFill>
                <a:latin typeface="Eras Light ITC"/>
              </a:rPr>
              <a:t>finding the right data and training the right model </a:t>
            </a:r>
            <a:endParaRPr lang="en-US" sz="5600" b="1">
              <a:solidFill>
                <a:schemeClr val="accent1"/>
              </a:solidFill>
              <a:latin typeface="Eras Light ITC"/>
            </a:endParaRPr>
          </a:p>
          <a:p>
            <a:pPr>
              <a:defRPr/>
            </a:pPr>
            <a:r>
              <a:rPr lang="en-US" sz="5600" b="1">
                <a:solidFill>
                  <a:schemeClr val="accent1"/>
                </a:solidFill>
                <a:latin typeface="Eras Light ITC"/>
              </a:rPr>
              <a:t>can </a:t>
            </a:r>
            <a:r>
              <a:rPr lang="en-US" sz="5600" b="1">
                <a:solidFill>
                  <a:schemeClr val="accent1"/>
                </a:solidFill>
                <a:latin typeface="Eras Light ITC"/>
              </a:rPr>
              <a:t>be difficult</a:t>
            </a:r>
            <a:r>
              <a:rPr lang="en-US" sz="5600" b="1">
                <a:solidFill>
                  <a:schemeClr val="accent1"/>
                </a:solidFill>
                <a:latin typeface="Eras Light ITC"/>
              </a:rPr>
              <a:t>.</a:t>
            </a:r>
            <a:endParaRPr lang="en-US" sz="56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93439987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3</a:t>
            </a:fld>
            <a:endParaRPr lang="en-US"/>
          </a:p>
        </p:txBody>
      </p:sp>
      <p:sp>
        <p:nvSpPr>
          <p:cNvPr id="2883830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3055148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A1ABDA0D-FE9D-3F98-768C-1814122DE6AD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2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9260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352950" name="Oval 2"/>
          <p:cNvSpPr/>
          <p:nvPr/>
        </p:nvSpPr>
        <p:spPr bwMode="auto">
          <a:xfrm>
            <a:off x="4160875" y="181642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4800"/>
              <a:t>AI</a:t>
            </a:r>
            <a:endParaRPr lang="en-US" sz="4800"/>
          </a:p>
        </p:txBody>
      </p:sp>
      <p:sp>
        <p:nvSpPr>
          <p:cNvPr id="1798343314" name="Oval 5"/>
          <p:cNvSpPr/>
          <p:nvPr/>
        </p:nvSpPr>
        <p:spPr bwMode="auto">
          <a:xfrm>
            <a:off x="2161952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26936237" name="Oval 6"/>
          <p:cNvSpPr/>
          <p:nvPr/>
        </p:nvSpPr>
        <p:spPr bwMode="auto">
          <a:xfrm>
            <a:off x="4160874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425595290" name="Oval 7"/>
          <p:cNvSpPr/>
          <p:nvPr/>
        </p:nvSpPr>
        <p:spPr bwMode="auto">
          <a:xfrm>
            <a:off x="6159796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4000"/>
              <a:t>ML</a:t>
            </a:r>
            <a:endParaRPr lang="en-US" sz="4000"/>
          </a:p>
        </p:txBody>
      </p:sp>
      <p:sp>
        <p:nvSpPr>
          <p:cNvPr id="1193397572" name="Oval 9"/>
          <p:cNvSpPr/>
          <p:nvPr/>
        </p:nvSpPr>
        <p:spPr bwMode="auto">
          <a:xfrm>
            <a:off x="4163532" y="3415704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140565674" name="Oval 10"/>
          <p:cNvSpPr/>
          <p:nvPr/>
        </p:nvSpPr>
        <p:spPr bwMode="auto">
          <a:xfrm>
            <a:off x="6159796" y="3415704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2083238303" name="Oval 11"/>
          <p:cNvSpPr/>
          <p:nvPr/>
        </p:nvSpPr>
        <p:spPr bwMode="auto">
          <a:xfrm>
            <a:off x="8057709" y="3415704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cxnSp>
        <p:nvCxnSpPr>
          <p:cNvPr id="647552583" name="Straight Connector 13"/>
          <p:cNvCxnSpPr>
            <a:stCxn id="721352950" idx="4"/>
            <a:endCxn id="1798343314" idx="0"/>
          </p:cNvCxnSpPr>
          <p:nvPr/>
        </p:nvCxnSpPr>
        <p:spPr bwMode="auto">
          <a:xfrm flipH="1">
            <a:off x="2794590" y="1510711"/>
            <a:ext cx="1998923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751481" name="Straight Connector 15"/>
          <p:cNvCxnSpPr>
            <a:stCxn id="721352950" idx="4"/>
            <a:endCxn id="26936237" idx="0"/>
          </p:cNvCxnSpPr>
          <p:nvPr/>
        </p:nvCxnSpPr>
        <p:spPr bwMode="auto">
          <a:xfrm flipH="1">
            <a:off x="4793512" y="1510711"/>
            <a:ext cx="1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8096249" name="Straight Connector 18"/>
          <p:cNvCxnSpPr>
            <a:stCxn id="721352950" idx="4"/>
            <a:endCxn id="425595290" idx="0"/>
          </p:cNvCxnSpPr>
          <p:nvPr/>
        </p:nvCxnSpPr>
        <p:spPr bwMode="auto">
          <a:xfrm>
            <a:off x="4793513" y="1510711"/>
            <a:ext cx="1998920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813698" name="Straight Connector 21"/>
          <p:cNvCxnSpPr>
            <a:stCxn id="425595290" idx="4"/>
            <a:endCxn id="1193397572" idx="0"/>
          </p:cNvCxnSpPr>
          <p:nvPr/>
        </p:nvCxnSpPr>
        <p:spPr bwMode="auto">
          <a:xfrm flipH="1">
            <a:off x="4796170" y="3127743"/>
            <a:ext cx="1996264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461114" name="Straight Connector 22"/>
          <p:cNvCxnSpPr>
            <a:stCxn id="425595290" idx="4"/>
            <a:endCxn id="140565674" idx="0"/>
          </p:cNvCxnSpPr>
          <p:nvPr/>
        </p:nvCxnSpPr>
        <p:spPr bwMode="auto">
          <a:xfrm>
            <a:off x="6792434" y="3127743"/>
            <a:ext cx="0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505907" name="Straight Connector 23"/>
          <p:cNvCxnSpPr>
            <a:stCxn id="425595290" idx="4"/>
            <a:endCxn id="2083238303" idx="0"/>
          </p:cNvCxnSpPr>
          <p:nvPr/>
        </p:nvCxnSpPr>
        <p:spPr bwMode="auto">
          <a:xfrm>
            <a:off x="6792434" y="3127743"/>
            <a:ext cx="1897913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523736" name="Oval 30"/>
          <p:cNvSpPr/>
          <p:nvPr/>
        </p:nvSpPr>
        <p:spPr bwMode="auto">
          <a:xfrm>
            <a:off x="7350643" y="5347289"/>
            <a:ext cx="2679405" cy="1329070"/>
          </a:xfrm>
          <a:prstGeom prst="ellipse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800"/>
              <a:t>Deep Learning</a:t>
            </a:r>
            <a:endParaRPr lang="en-US" sz="3800"/>
          </a:p>
        </p:txBody>
      </p:sp>
      <p:cxnSp>
        <p:nvCxnSpPr>
          <p:cNvPr id="472734032" name="Straight Connector 31"/>
          <p:cNvCxnSpPr>
            <a:stCxn id="364523736" idx="0"/>
            <a:endCxn id="2083238303" idx="4"/>
          </p:cNvCxnSpPr>
          <p:nvPr/>
        </p:nvCxnSpPr>
        <p:spPr bwMode="auto">
          <a:xfrm flipV="1">
            <a:off x="8690346" y="4744774"/>
            <a:ext cx="1" cy="6025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5889138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4</a:t>
            </a:fld>
            <a:endParaRPr lang="en-US"/>
          </a:p>
        </p:txBody>
      </p:sp>
      <p:sp>
        <p:nvSpPr>
          <p:cNvPr id="8215470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9905888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7430364D-0266-3236-7160-8992DA819BEC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34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834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93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9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559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5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75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9575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09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7809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9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559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39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9339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6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056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23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83238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8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68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6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9746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50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6350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2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452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73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273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8343314" grpId="0" animBg="1"/>
      <p:bldP spid="26936237" grpId="0" animBg="1"/>
      <p:bldP spid="425595290" grpId="0" animBg="1"/>
      <p:bldP spid="1193397572" grpId="0" animBg="1"/>
      <p:bldP spid="140565674" grpId="0" animBg="1"/>
      <p:bldP spid="2083238303" grpId="0" animBg="1"/>
      <p:bldP spid="3645237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2133138" name="Picture 3"/>
          <p:cNvPicPr>
            <a:picLocks noChangeAspect="1"/>
          </p:cNvPicPr>
          <p:nvPr/>
        </p:nvPicPr>
        <p:blipFill rotWithShape="1">
          <a:blip r:embed="rId3"/>
          <a:srcRect l="9642" t="10651" r="8888" b="15680"/>
          <a:stretch/>
        </p:blipFill>
        <p:spPr bwMode="auto">
          <a:xfrm>
            <a:off x="614917" y="531628"/>
            <a:ext cx="4725364" cy="31664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90311822" name="Picture 4"/>
          <p:cNvPicPr>
            <a:picLocks noChangeAspect="1"/>
          </p:cNvPicPr>
          <p:nvPr/>
        </p:nvPicPr>
        <p:blipFill rotWithShape="1">
          <a:blip r:embed="rId4"/>
          <a:srcRect l="5839" t="27947" r="61476" b="26364"/>
          <a:stretch/>
        </p:blipFill>
        <p:spPr bwMode="auto">
          <a:xfrm>
            <a:off x="4121854" y="1845774"/>
            <a:ext cx="3948292" cy="31664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07807505" name="Picture 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51719" y="3335512"/>
            <a:ext cx="4725364" cy="31664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01171055" name="Rectangle 6"/>
          <p:cNvSpPr/>
          <p:nvPr/>
        </p:nvSpPr>
        <p:spPr bwMode="auto">
          <a:xfrm>
            <a:off x="6851719" y="3335512"/>
            <a:ext cx="4725364" cy="3166451"/>
          </a:xfrm>
          <a:prstGeom prst="rect">
            <a:avLst/>
          </a:prstGeom>
          <a:solidFill>
            <a:schemeClr val="tx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7335088" name="TextBox 1"/>
          <p:cNvSpPr txBox="1"/>
          <p:nvPr/>
        </p:nvSpPr>
        <p:spPr bwMode="auto">
          <a:xfrm>
            <a:off x="0" y="6119336"/>
            <a:ext cx="63099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Car photo © Google; kitten photo </a:t>
            </a:r>
            <a:r>
              <a:rPr lang="en-US" sz="1400"/>
              <a:t>© </a:t>
            </a:r>
            <a:r>
              <a:rPr lang="en-US" sz="1400"/>
              <a:t>source unknown. </a:t>
            </a:r>
            <a:r>
              <a:rPr lang="en-US" sz="1400"/>
              <a:t>All </a:t>
            </a:r>
            <a:r>
              <a:rPr lang="en-US" sz="1400"/>
              <a:t>rights reserved</a:t>
            </a:r>
            <a:r>
              <a:rPr lang="en-US" sz="1400"/>
              <a:t>. </a:t>
            </a:r>
            <a:endParaRPr lang="en-US" sz="1400"/>
          </a:p>
          <a:p>
            <a:pPr>
              <a:defRPr/>
            </a:pPr>
            <a:r>
              <a:rPr lang="en-US" sz="1400"/>
              <a:t>This </a:t>
            </a:r>
            <a:r>
              <a:rPr lang="en-US" sz="1400"/>
              <a:t>content </a:t>
            </a:r>
            <a:r>
              <a:rPr lang="en-US" sz="1400"/>
              <a:t>is </a:t>
            </a:r>
            <a:r>
              <a:rPr lang="en-US" sz="1400"/>
              <a:t>excluded from our Creative </a:t>
            </a:r>
            <a:r>
              <a:rPr lang="en-US" sz="1400"/>
              <a:t>Commons license</a:t>
            </a:r>
            <a:r>
              <a:rPr lang="en-US" sz="1400"/>
              <a:t>. For more information, </a:t>
            </a:r>
            <a:endParaRPr lang="en-US" sz="1400"/>
          </a:p>
          <a:p>
            <a:pPr>
              <a:defRPr/>
            </a:pPr>
            <a:r>
              <a:rPr lang="en-US" sz="1400"/>
              <a:t>see </a:t>
            </a:r>
            <a:r>
              <a:rPr lang="en-US" sz="1400" u="sng">
                <a:hlinkClick r:id="rId6" tooltip=""/>
              </a:rPr>
              <a:t>https://ocw.mit.edu/help/faq-fair-use</a:t>
            </a:r>
            <a:r>
              <a:rPr lang="en-US" sz="1400" u="sng">
                <a:hlinkClick r:id="rId6" tooltip=""/>
              </a:rPr>
              <a:t>/</a:t>
            </a:r>
            <a:r>
              <a:rPr lang="en-US" sz="1400"/>
              <a:t>.</a:t>
            </a:r>
            <a:endParaRPr lang="en-US" sz="1400"/>
          </a:p>
        </p:txBody>
      </p:sp>
      <p:sp>
        <p:nvSpPr>
          <p:cNvPr id="8133487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5</a:t>
            </a:fld>
            <a:endParaRPr lang="en-US"/>
          </a:p>
        </p:txBody>
      </p:sp>
      <p:sp>
        <p:nvSpPr>
          <p:cNvPr id="18530737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7671635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237B7026-828E-489D-4116-984F30E6D594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13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31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80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7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0117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11710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911335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AI can be general or narrow.</a:t>
            </a:r>
            <a:br>
              <a:rPr lang="en-US"/>
            </a:br>
            <a:endParaRPr lang="en-US"/>
          </a:p>
        </p:txBody>
      </p:sp>
      <p:pic>
        <p:nvPicPr>
          <p:cNvPr id="690484784" name="Picture 7"/>
          <p:cNvPicPr>
            <a:picLocks noChangeAspect="1"/>
          </p:cNvPicPr>
          <p:nvPr/>
        </p:nvPicPr>
        <p:blipFill rotWithShape="1">
          <a:blip r:embed="rId3"/>
          <a:srcRect l="5556" t="0" r="6081" b="0"/>
          <a:stretch/>
        </p:blipFill>
        <p:spPr bwMode="auto">
          <a:xfrm>
            <a:off x="1137684" y="1924492"/>
            <a:ext cx="4763386" cy="3593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35791214" name="Picture 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590414" y="1924492"/>
            <a:ext cx="4763386" cy="3593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35149851" name="TextBox 1"/>
          <p:cNvSpPr txBox="1"/>
          <p:nvPr/>
        </p:nvSpPr>
        <p:spPr bwMode="auto">
          <a:xfrm>
            <a:off x="0" y="6110916"/>
            <a:ext cx="59204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Terminator image </a:t>
            </a:r>
            <a:r>
              <a:rPr lang="en-US" sz="1400"/>
              <a:t>© </a:t>
            </a:r>
            <a:r>
              <a:rPr lang="en-US" sz="1400"/>
              <a:t>Skydance</a:t>
            </a:r>
            <a:r>
              <a:rPr lang="en-US" sz="1400"/>
              <a:t> Media; car </a:t>
            </a:r>
            <a:r>
              <a:rPr lang="en-US" sz="1400"/>
              <a:t>photo © </a:t>
            </a:r>
            <a:r>
              <a:rPr lang="en-US" sz="1400"/>
              <a:t>Google. </a:t>
            </a:r>
            <a:r>
              <a:rPr lang="en-US" sz="1400"/>
              <a:t>All rights reserved. </a:t>
            </a:r>
            <a:endParaRPr/>
          </a:p>
          <a:p>
            <a:pPr>
              <a:defRPr/>
            </a:pPr>
            <a:r>
              <a:rPr lang="en-US" sz="1400"/>
              <a:t>This content is excluded from our Creative Commons license. For more </a:t>
            </a:r>
            <a:endParaRPr lang="en-US" sz="1400"/>
          </a:p>
          <a:p>
            <a:pPr>
              <a:defRPr/>
            </a:pPr>
            <a:r>
              <a:rPr lang="en-US" sz="1400"/>
              <a:t>information</a:t>
            </a:r>
            <a:r>
              <a:rPr lang="en-US" sz="1400"/>
              <a:t>, </a:t>
            </a:r>
            <a:r>
              <a:rPr lang="en-US" sz="1400"/>
              <a:t>see </a:t>
            </a:r>
            <a:r>
              <a:rPr lang="en-US" sz="1400" u="sng">
                <a:hlinkClick r:id="rId5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076222153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6</a:t>
            </a:fld>
            <a:endParaRPr lang="en-US"/>
          </a:p>
        </p:txBody>
      </p:sp>
      <p:sp>
        <p:nvSpPr>
          <p:cNvPr id="18649343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598998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D46DDCD6-ADFF-9C29-A2E4-D73723D4DDF0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48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79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225343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AI can be </a:t>
            </a:r>
            <a:r>
              <a:rPr lang="en-US" b="1"/>
              <a:t>general</a:t>
            </a:r>
            <a:r>
              <a:rPr lang="en-US"/>
              <a:t> or narrow.</a:t>
            </a:r>
            <a:br>
              <a:rPr lang="en-US"/>
            </a:br>
            <a:endParaRPr lang="en-US"/>
          </a:p>
        </p:txBody>
      </p:sp>
      <p:pic>
        <p:nvPicPr>
          <p:cNvPr id="1990326524" name="Picture 7"/>
          <p:cNvPicPr>
            <a:picLocks noChangeAspect="1"/>
          </p:cNvPicPr>
          <p:nvPr/>
        </p:nvPicPr>
        <p:blipFill rotWithShape="1">
          <a:blip r:embed="rId3"/>
          <a:srcRect l="189" t="0" r="58" b="0"/>
          <a:stretch/>
        </p:blipFill>
        <p:spPr bwMode="auto">
          <a:xfrm>
            <a:off x="2594344" y="1443584"/>
            <a:ext cx="7023383" cy="46938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15790231" name="TextBox 1"/>
          <p:cNvSpPr txBox="1"/>
          <p:nvPr/>
        </p:nvSpPr>
        <p:spPr bwMode="auto">
          <a:xfrm>
            <a:off x="0" y="6137433"/>
            <a:ext cx="53626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Terminator image © </a:t>
            </a:r>
            <a:r>
              <a:rPr lang="en-US" sz="1400"/>
              <a:t>Skydance</a:t>
            </a:r>
            <a:r>
              <a:rPr lang="en-US" sz="1400"/>
              <a:t> </a:t>
            </a:r>
            <a:r>
              <a:rPr lang="en-US" sz="1400"/>
              <a:t>Media. All </a:t>
            </a:r>
            <a:r>
              <a:rPr lang="en-US" sz="1400"/>
              <a:t>rights reserved. </a:t>
            </a:r>
            <a:endParaRPr/>
          </a:p>
          <a:p>
            <a:pPr>
              <a:defRPr/>
            </a:pPr>
            <a:r>
              <a:rPr lang="en-US" sz="1400"/>
              <a:t>This content is excluded from our Creative Commons license. For more </a:t>
            </a:r>
            <a:endParaRPr/>
          </a:p>
          <a:p>
            <a:pPr>
              <a:defRPr/>
            </a:pPr>
            <a:r>
              <a:rPr lang="en-US" sz="1400"/>
              <a:t>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</p:txBody>
      </p:sp>
      <p:sp>
        <p:nvSpPr>
          <p:cNvPr id="947405928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7</a:t>
            </a:fld>
            <a:endParaRPr lang="en-US"/>
          </a:p>
        </p:txBody>
      </p:sp>
      <p:sp>
        <p:nvSpPr>
          <p:cNvPr id="12740717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7734294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560919C6-C5CD-0AC2-F405-45F1271B9494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766712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AI can be </a:t>
            </a:r>
            <a:r>
              <a:rPr lang="en-US" b="1"/>
              <a:t>general</a:t>
            </a:r>
            <a:r>
              <a:rPr lang="en-US"/>
              <a:t> or narrow.</a:t>
            </a:r>
            <a:br>
              <a:rPr lang="en-US"/>
            </a:br>
            <a:endParaRPr lang="en-US"/>
          </a:p>
        </p:txBody>
      </p:sp>
      <p:pic>
        <p:nvPicPr>
          <p:cNvPr id="1707334216" name="Picture 7"/>
          <p:cNvPicPr>
            <a:picLocks noChangeAspect="1"/>
          </p:cNvPicPr>
          <p:nvPr/>
        </p:nvPicPr>
        <p:blipFill rotWithShape="1">
          <a:blip r:embed="rId3">
            <a:grayscl/>
          </a:blip>
          <a:srcRect l="189" t="0" r="58" b="0"/>
          <a:stretch/>
        </p:blipFill>
        <p:spPr bwMode="auto">
          <a:xfrm>
            <a:off x="2594344" y="1443584"/>
            <a:ext cx="7023383" cy="46938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49238778" name="Rectangle 1"/>
          <p:cNvSpPr/>
          <p:nvPr/>
        </p:nvSpPr>
        <p:spPr bwMode="auto">
          <a:xfrm>
            <a:off x="2594344" y="1443584"/>
            <a:ext cx="7023383" cy="469384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83870087" name="TextBox 2"/>
          <p:cNvSpPr txBox="1"/>
          <p:nvPr/>
        </p:nvSpPr>
        <p:spPr bwMode="auto">
          <a:xfrm>
            <a:off x="0" y="6137433"/>
            <a:ext cx="59204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Terminator image © </a:t>
            </a:r>
            <a:r>
              <a:rPr lang="en-US" sz="1400"/>
              <a:t>Skydance</a:t>
            </a:r>
            <a:r>
              <a:rPr lang="en-US" sz="1400"/>
              <a:t> Media; car photo © Google. All rights reserved. </a:t>
            </a:r>
            <a:endParaRPr/>
          </a:p>
          <a:p>
            <a:pPr>
              <a:defRPr/>
            </a:pPr>
            <a:r>
              <a:rPr lang="en-US" sz="1400"/>
              <a:t>This content is excluded from our Creative Commons license. For more </a:t>
            </a:r>
            <a:endParaRPr/>
          </a:p>
          <a:p>
            <a:pPr>
              <a:defRPr/>
            </a:pPr>
            <a:r>
              <a:rPr lang="en-US" sz="1400"/>
              <a:t>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72860708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8</a:t>
            </a:fld>
            <a:endParaRPr lang="en-US"/>
          </a:p>
        </p:txBody>
      </p:sp>
      <p:sp>
        <p:nvSpPr>
          <p:cNvPr id="9416021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20712971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C695494A-1A47-8009-5338-11F8FEF679A1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085286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AI can be general or </a:t>
            </a:r>
            <a:r>
              <a:rPr lang="en-US" b="1"/>
              <a:t>narrow</a:t>
            </a:r>
            <a:r>
              <a:rPr lang="en-US"/>
              <a:t>.</a:t>
            </a:r>
            <a:br>
              <a:rPr lang="en-US"/>
            </a:br>
            <a:endParaRPr lang="en-US"/>
          </a:p>
        </p:txBody>
      </p:sp>
      <p:pic>
        <p:nvPicPr>
          <p:cNvPr id="1212157598" name="Picture 8"/>
          <p:cNvPicPr>
            <a:picLocks noChangeAspect="1"/>
          </p:cNvPicPr>
          <p:nvPr/>
        </p:nvPicPr>
        <p:blipFill rotWithShape="1">
          <a:blip r:embed="rId3"/>
          <a:srcRect l="2716" t="10651" r="0" b="15680"/>
          <a:stretch/>
        </p:blipFill>
        <p:spPr bwMode="auto">
          <a:xfrm>
            <a:off x="2087015" y="1562986"/>
            <a:ext cx="8017970" cy="45808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58418368" name="TextBox 1"/>
          <p:cNvSpPr txBox="1"/>
          <p:nvPr/>
        </p:nvSpPr>
        <p:spPr bwMode="auto">
          <a:xfrm>
            <a:off x="92597" y="6377650"/>
            <a:ext cx="754495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© source unknown. All rights reserved. This content is excluded from our Creative Commons license. </a:t>
            </a:r>
            <a:endParaRPr lang="en-US" sz="1400"/>
          </a:p>
          <a:p>
            <a:pPr>
              <a:defRPr/>
            </a:pPr>
            <a:r>
              <a:rPr lang="en-US" sz="1400"/>
              <a:t>For </a:t>
            </a:r>
            <a:r>
              <a:rPr lang="en-US" sz="1400"/>
              <a:t>more 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122592854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9</a:t>
            </a:fld>
            <a:endParaRPr lang="en-US"/>
          </a:p>
        </p:txBody>
      </p:sp>
      <p:sp>
        <p:nvSpPr>
          <p:cNvPr id="4856176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5722837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AB94A463-D8E3-C535-A19D-532A7847F969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337118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AI can be general or narrow.</a:t>
            </a:r>
            <a:br>
              <a:rPr lang="en-US"/>
            </a:br>
            <a:endParaRPr lang="en-US"/>
          </a:p>
        </p:txBody>
      </p:sp>
      <p:pic>
        <p:nvPicPr>
          <p:cNvPr id="989680423" name="Picture 7"/>
          <p:cNvPicPr>
            <a:picLocks noChangeAspect="1"/>
          </p:cNvPicPr>
          <p:nvPr/>
        </p:nvPicPr>
        <p:blipFill rotWithShape="1">
          <a:blip r:embed="rId3">
            <a:grayscl/>
          </a:blip>
          <a:srcRect l="5556" t="0" r="6081" b="0"/>
          <a:stretch/>
        </p:blipFill>
        <p:spPr bwMode="auto">
          <a:xfrm>
            <a:off x="1137684" y="1924492"/>
            <a:ext cx="4763386" cy="3593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8305425" name="Picture 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590414" y="1924492"/>
            <a:ext cx="4763386" cy="3593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9340441" name="Rectangle 9"/>
          <p:cNvSpPr/>
          <p:nvPr/>
        </p:nvSpPr>
        <p:spPr bwMode="auto">
          <a:xfrm>
            <a:off x="1137684" y="1924492"/>
            <a:ext cx="4763385" cy="3593806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82899939" name="TextBox 1"/>
          <p:cNvSpPr txBox="1"/>
          <p:nvPr/>
        </p:nvSpPr>
        <p:spPr bwMode="auto">
          <a:xfrm>
            <a:off x="0" y="6111432"/>
            <a:ext cx="5920403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Terminator image © </a:t>
            </a:r>
            <a:r>
              <a:rPr lang="en-US" sz="1400"/>
              <a:t>Skydance</a:t>
            </a:r>
            <a:r>
              <a:rPr lang="en-US" sz="1400"/>
              <a:t> Media; car photo © Google. All rights reserved. </a:t>
            </a:r>
            <a:endParaRPr/>
          </a:p>
          <a:p>
            <a:pPr>
              <a:defRPr/>
            </a:pPr>
            <a:r>
              <a:rPr lang="en-US" sz="1400"/>
              <a:t>This content is excluded from our Creative Commons license. For more </a:t>
            </a:r>
            <a:endParaRPr/>
          </a:p>
          <a:p>
            <a:pPr>
              <a:defRPr/>
            </a:pPr>
            <a:r>
              <a:rPr lang="en-US" sz="1400"/>
              <a:t>information, see </a:t>
            </a:r>
            <a:r>
              <a:rPr lang="en-US" sz="1400" u="sng">
                <a:hlinkClick r:id="rId5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  <a:p>
            <a:pPr>
              <a:defRPr/>
            </a:pPr>
            <a:endParaRPr lang="en-US"/>
          </a:p>
        </p:txBody>
      </p:sp>
      <p:sp>
        <p:nvSpPr>
          <p:cNvPr id="1934674549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10</a:t>
            </a:fld>
            <a:endParaRPr lang="en-US"/>
          </a:p>
        </p:txBody>
      </p:sp>
      <p:sp>
        <p:nvSpPr>
          <p:cNvPr id="9484112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8843128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658A1B3D-F3B5-4AE5-7AB3-1ECCA0AC1BA8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592112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Typical “narrow” tasks include vision, language processing, and planning.</a:t>
            </a:r>
            <a:endParaRPr lang="en-US"/>
          </a:p>
        </p:txBody>
      </p:sp>
      <p:pic>
        <p:nvPicPr>
          <p:cNvPr id="1095689230" name="Picture 2"/>
          <p:cNvPicPr>
            <a:picLocks noChangeAspect="1"/>
          </p:cNvPicPr>
          <p:nvPr/>
        </p:nvPicPr>
        <p:blipFill rotWithShape="1">
          <a:blip r:embed="rId3"/>
          <a:srcRect l="11921" t="0" r="20061" b="0"/>
          <a:stretch/>
        </p:blipFill>
        <p:spPr bwMode="auto">
          <a:xfrm>
            <a:off x="1073888" y="2343029"/>
            <a:ext cx="3157869" cy="31048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88151742" name="Picture 3"/>
          <p:cNvPicPr>
            <a:picLocks noChangeAspect="1"/>
          </p:cNvPicPr>
          <p:nvPr/>
        </p:nvPicPr>
        <p:blipFill rotWithShape="1">
          <a:blip r:embed="rId4"/>
          <a:srcRect l="18538" t="0" r="13468" b="0"/>
          <a:stretch/>
        </p:blipFill>
        <p:spPr bwMode="auto">
          <a:xfrm>
            <a:off x="7962013" y="2343029"/>
            <a:ext cx="3391787" cy="31048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56716552" name="Picture 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11906" y="2343029"/>
            <a:ext cx="2169958" cy="31048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4902824" name="TextBox 5"/>
          <p:cNvSpPr txBox="1"/>
          <p:nvPr/>
        </p:nvSpPr>
        <p:spPr bwMode="auto">
          <a:xfrm>
            <a:off x="0" y="6285053"/>
            <a:ext cx="881882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Photo of eye © </a:t>
            </a:r>
            <a:r>
              <a:rPr lang="en-US" sz="1400"/>
              <a:t>source </a:t>
            </a:r>
            <a:r>
              <a:rPr lang="en-US" sz="1400"/>
              <a:t>unknown; smart speaker and map detail </a:t>
            </a:r>
            <a:r>
              <a:rPr lang="en-US" sz="1400"/>
              <a:t>© </a:t>
            </a:r>
            <a:r>
              <a:rPr lang="en-US" sz="1400"/>
              <a:t>Google. </a:t>
            </a:r>
            <a:r>
              <a:rPr lang="en-US" sz="1400"/>
              <a:t>All rights reserved. This content is excluded </a:t>
            </a:r>
            <a:endParaRPr lang="en-US" sz="1400"/>
          </a:p>
          <a:p>
            <a:pPr>
              <a:defRPr/>
            </a:pPr>
            <a:r>
              <a:rPr lang="en-US" sz="1400"/>
              <a:t>from our </a:t>
            </a:r>
            <a:r>
              <a:rPr lang="en-US" sz="1400"/>
              <a:t>Creative  </a:t>
            </a:r>
            <a:r>
              <a:rPr lang="en-US" sz="1400"/>
              <a:t>Commons </a:t>
            </a:r>
            <a:r>
              <a:rPr lang="en-US" sz="1400"/>
              <a:t>license. For more information, see </a:t>
            </a:r>
            <a:r>
              <a:rPr lang="en-US" sz="1400" u="sng">
                <a:hlinkClick r:id="rId6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216848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11</a:t>
            </a:fld>
            <a:endParaRPr lang="en-US"/>
          </a:p>
        </p:txBody>
      </p:sp>
      <p:sp>
        <p:nvSpPr>
          <p:cNvPr id="1710912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556012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0FB84E6A-C6FD-D526-8007-B7CE0FF9A2CC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71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15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917974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Typical “narrow” tasks include </a:t>
            </a:r>
            <a:r>
              <a:rPr lang="en-US" b="1"/>
              <a:t>vision</a:t>
            </a:r>
            <a:r>
              <a:rPr lang="en-US"/>
              <a:t>, language processing, and planning.</a:t>
            </a:r>
            <a:endParaRPr lang="en-US"/>
          </a:p>
        </p:txBody>
      </p:sp>
      <p:pic>
        <p:nvPicPr>
          <p:cNvPr id="1243389292" name="Picture 2"/>
          <p:cNvPicPr>
            <a:picLocks noChangeAspect="1"/>
          </p:cNvPicPr>
          <p:nvPr/>
        </p:nvPicPr>
        <p:blipFill rotWithShape="1">
          <a:blip r:embed="rId3"/>
          <a:srcRect l="3448" t="0" r="1968" b="0"/>
          <a:stretch/>
        </p:blipFill>
        <p:spPr bwMode="auto">
          <a:xfrm>
            <a:off x="3076353" y="2002788"/>
            <a:ext cx="6039293" cy="42701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41507226" name="TextBox 3"/>
          <p:cNvSpPr txBox="1"/>
          <p:nvPr/>
        </p:nvSpPr>
        <p:spPr bwMode="auto">
          <a:xfrm>
            <a:off x="0" y="6354501"/>
            <a:ext cx="70434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Photo of eye © source </a:t>
            </a:r>
            <a:r>
              <a:rPr lang="en-US" sz="1400"/>
              <a:t>unknown. All </a:t>
            </a:r>
            <a:r>
              <a:rPr lang="en-US" sz="1400"/>
              <a:t>rights reserved. This content is excluded </a:t>
            </a:r>
            <a:r>
              <a:rPr lang="en-US" sz="1400"/>
              <a:t>from our </a:t>
            </a:r>
            <a:endParaRPr/>
          </a:p>
          <a:p>
            <a:pPr>
              <a:defRPr/>
            </a:pPr>
            <a:r>
              <a:rPr lang="en-US" sz="1400"/>
              <a:t>Creative  </a:t>
            </a:r>
            <a:r>
              <a:rPr lang="en-US" sz="1400"/>
              <a:t>Commons license. For more 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</p:txBody>
      </p:sp>
      <p:sp>
        <p:nvSpPr>
          <p:cNvPr id="153074712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12</a:t>
            </a:fld>
            <a:endParaRPr lang="en-US"/>
          </a:p>
        </p:txBody>
      </p:sp>
      <p:sp>
        <p:nvSpPr>
          <p:cNvPr id="10879289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4274131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F74C6408-E6E5-BE64-560F-AE804D729E1B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577639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Typical “narrow” tasks include vision, </a:t>
            </a:r>
            <a:r>
              <a:rPr lang="en-US" b="1"/>
              <a:t>language</a:t>
            </a:r>
            <a:r>
              <a:rPr lang="en-US"/>
              <a:t> </a:t>
            </a:r>
            <a:r>
              <a:rPr lang="en-US" b="1"/>
              <a:t>processing</a:t>
            </a:r>
            <a:r>
              <a:rPr lang="en-US"/>
              <a:t>, and planning.</a:t>
            </a:r>
            <a:endParaRPr lang="en-US"/>
          </a:p>
        </p:txBody>
      </p:sp>
      <p:pic>
        <p:nvPicPr>
          <p:cNvPr id="1928213269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8248" y="2130405"/>
            <a:ext cx="3135504" cy="4486438"/>
          </a:xfrm>
          <a:prstGeom prst="rect">
            <a:avLst/>
          </a:prstGeom>
          <a:ln>
            <a:noFill/>
          </a:ln>
        </p:spPr>
      </p:pic>
      <p:sp>
        <p:nvSpPr>
          <p:cNvPr id="569793053" name="TextBox 2"/>
          <p:cNvSpPr txBox="1"/>
          <p:nvPr/>
        </p:nvSpPr>
        <p:spPr bwMode="auto">
          <a:xfrm>
            <a:off x="0" y="6317896"/>
            <a:ext cx="73333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Photo </a:t>
            </a:r>
            <a:r>
              <a:rPr lang="en-US" sz="1400"/>
              <a:t>© </a:t>
            </a:r>
            <a:r>
              <a:rPr lang="en-US" sz="1400"/>
              <a:t>Google. All rights reserved. This content is excluded </a:t>
            </a:r>
            <a:r>
              <a:rPr lang="en-US" sz="1400"/>
              <a:t>from </a:t>
            </a:r>
            <a:r>
              <a:rPr lang="en-US" sz="1400"/>
              <a:t>our </a:t>
            </a:r>
            <a:r>
              <a:rPr lang="en-US" sz="1400"/>
              <a:t>Creative </a:t>
            </a:r>
            <a:r>
              <a:rPr lang="en-US" sz="1400"/>
              <a:t>Commons license. </a:t>
            </a:r>
            <a:endParaRPr lang="en-US" sz="1400"/>
          </a:p>
          <a:p>
            <a:pPr>
              <a:defRPr/>
            </a:pPr>
            <a:r>
              <a:rPr lang="en-US" sz="1400"/>
              <a:t>For </a:t>
            </a:r>
            <a:r>
              <a:rPr lang="en-US" sz="1400"/>
              <a:t>more 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</p:txBody>
      </p:sp>
      <p:sp>
        <p:nvSpPr>
          <p:cNvPr id="11562247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13</a:t>
            </a:fld>
            <a:endParaRPr lang="en-US"/>
          </a:p>
        </p:txBody>
      </p:sp>
      <p:sp>
        <p:nvSpPr>
          <p:cNvPr id="191480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2759455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C2B01BAA-85A6-79F9-24CF-5D87D1E76CBA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716043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Typical “narrow” tasks include vision, language processing, and </a:t>
            </a:r>
            <a:r>
              <a:rPr lang="en-US" b="1"/>
              <a:t>planning</a:t>
            </a:r>
            <a:r>
              <a:rPr lang="en-US"/>
              <a:t>.</a:t>
            </a:r>
            <a:endParaRPr lang="en-US"/>
          </a:p>
        </p:txBody>
      </p:sp>
      <p:pic>
        <p:nvPicPr>
          <p:cNvPr id="648554945" name="Picture 3"/>
          <p:cNvPicPr>
            <a:picLocks noChangeAspect="1"/>
          </p:cNvPicPr>
          <p:nvPr/>
        </p:nvPicPr>
        <p:blipFill rotWithShape="1">
          <a:blip r:embed="rId3"/>
          <a:srcRect l="4931" t="0" r="2775" b="0"/>
          <a:stretch/>
        </p:blipFill>
        <p:spPr bwMode="auto">
          <a:xfrm>
            <a:off x="2757376" y="1896461"/>
            <a:ext cx="6677247" cy="45031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10977089" name="TextBox 2"/>
          <p:cNvSpPr txBox="1"/>
          <p:nvPr/>
        </p:nvSpPr>
        <p:spPr bwMode="auto">
          <a:xfrm>
            <a:off x="0" y="6399621"/>
            <a:ext cx="68573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© </a:t>
            </a:r>
            <a:r>
              <a:rPr lang="en-US" sz="1400"/>
              <a:t>Google. </a:t>
            </a:r>
            <a:r>
              <a:rPr lang="en-US" sz="1400"/>
              <a:t>All rights reserved. This content is excluded from our Creative Commons license. </a:t>
            </a:r>
            <a:endParaRPr lang="en-US" sz="1400"/>
          </a:p>
          <a:p>
            <a:pPr>
              <a:defRPr/>
            </a:pPr>
            <a:r>
              <a:rPr lang="en-US" sz="1400"/>
              <a:t>For </a:t>
            </a:r>
            <a:r>
              <a:rPr lang="en-US" sz="1400"/>
              <a:t>more 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</p:txBody>
      </p:sp>
      <p:sp>
        <p:nvSpPr>
          <p:cNvPr id="4158162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14</a:t>
            </a:fld>
            <a:endParaRPr lang="en-US"/>
          </a:p>
        </p:txBody>
      </p:sp>
      <p:sp>
        <p:nvSpPr>
          <p:cNvPr id="7534770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21409141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20677F22-A86B-C992-9895-8922A98DFD14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355318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Typical “narrow” tasks include vision, language processing, and planning.</a:t>
            </a:r>
            <a:endParaRPr lang="en-US"/>
          </a:p>
        </p:txBody>
      </p:sp>
      <p:pic>
        <p:nvPicPr>
          <p:cNvPr id="440917009" name="Picture 2"/>
          <p:cNvPicPr>
            <a:picLocks noChangeAspect="1"/>
          </p:cNvPicPr>
          <p:nvPr/>
        </p:nvPicPr>
        <p:blipFill rotWithShape="1">
          <a:blip r:embed="rId3"/>
          <a:srcRect l="11921" t="0" r="20061" b="0"/>
          <a:stretch/>
        </p:blipFill>
        <p:spPr bwMode="auto">
          <a:xfrm>
            <a:off x="1073888" y="2343029"/>
            <a:ext cx="3157869" cy="31048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2481542" name="Picture 3"/>
          <p:cNvPicPr>
            <a:picLocks noChangeAspect="1"/>
          </p:cNvPicPr>
          <p:nvPr/>
        </p:nvPicPr>
        <p:blipFill rotWithShape="1">
          <a:blip r:embed="rId4"/>
          <a:srcRect l="18538" t="0" r="13468" b="0"/>
          <a:stretch/>
        </p:blipFill>
        <p:spPr bwMode="auto">
          <a:xfrm>
            <a:off x="7962013" y="2343029"/>
            <a:ext cx="3391787" cy="31048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55387731" name="Picture 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11906" y="2343029"/>
            <a:ext cx="2169958" cy="31048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80383611" name="TextBox 5"/>
          <p:cNvSpPr txBox="1"/>
          <p:nvPr/>
        </p:nvSpPr>
        <p:spPr bwMode="auto">
          <a:xfrm flipH="1">
            <a:off x="0" y="6238754"/>
            <a:ext cx="116910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/>
              <a:t>Photo of eye © source unknown; smart speaker and map detail © Google. All rights reserved. This content is excluded </a:t>
            </a:r>
            <a:endParaRPr/>
          </a:p>
          <a:p>
            <a:pPr>
              <a:defRPr/>
            </a:pPr>
            <a:r>
              <a:rPr lang="en-US" sz="1400"/>
              <a:t>from our Creative  Commons license. For more information, see </a:t>
            </a:r>
            <a:r>
              <a:rPr lang="en-US" sz="1400" u="sng">
                <a:hlinkClick r:id="rId6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  <a:p>
            <a:pPr>
              <a:defRPr/>
            </a:pPr>
            <a:endParaRPr lang="en-US"/>
          </a:p>
        </p:txBody>
      </p:sp>
      <p:sp>
        <p:nvSpPr>
          <p:cNvPr id="591857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15</a:t>
            </a:fld>
            <a:endParaRPr lang="en-US"/>
          </a:p>
        </p:txBody>
      </p:sp>
      <p:sp>
        <p:nvSpPr>
          <p:cNvPr id="20038146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5175186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732944F1-695A-2631-A1FA-1183EFD3DA68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187941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There are many ways to build AI, </a:t>
            </a:r>
            <a:br>
              <a:rPr lang="en-US"/>
            </a:br>
            <a:r>
              <a:rPr lang="en-US"/>
              <a:t>including expert systems and </a:t>
            </a:r>
            <a:r>
              <a:rPr lang="en-US"/>
              <a:t>tree search.</a:t>
            </a:r>
            <a:endParaRPr/>
          </a:p>
        </p:txBody>
      </p:sp>
      <p:pic>
        <p:nvPicPr>
          <p:cNvPr id="221982728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74970" y="2104648"/>
            <a:ext cx="3320312" cy="42333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91359968" name="Picture 5"/>
          <p:cNvPicPr>
            <a:picLocks noChangeAspect="1"/>
          </p:cNvPicPr>
          <p:nvPr/>
        </p:nvPicPr>
        <p:blipFill rotWithShape="1">
          <a:blip r:embed="rId4"/>
          <a:srcRect l="17545" t="0" r="14082" b="5992"/>
          <a:stretch/>
        </p:blipFill>
        <p:spPr bwMode="auto">
          <a:xfrm>
            <a:off x="5829661" y="2849969"/>
            <a:ext cx="5524139" cy="2742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2643333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16</a:t>
            </a:fld>
            <a:endParaRPr lang="en-US"/>
          </a:p>
        </p:txBody>
      </p:sp>
      <p:sp>
        <p:nvSpPr>
          <p:cNvPr id="7721069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3822523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94FA5D31-0890-1C65-2EAB-D0E6D9C9509A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435166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There are many ways to build AI, </a:t>
            </a:r>
            <a:br>
              <a:rPr lang="en-US"/>
            </a:br>
            <a:r>
              <a:rPr lang="en-US"/>
              <a:t>including </a:t>
            </a:r>
            <a:r>
              <a:rPr lang="en-US" b="1"/>
              <a:t>expert systems </a:t>
            </a:r>
            <a:r>
              <a:rPr lang="en-US"/>
              <a:t>and </a:t>
            </a:r>
            <a:r>
              <a:rPr lang="en-US"/>
              <a:t>tree search.</a:t>
            </a:r>
            <a:endParaRPr/>
          </a:p>
        </p:txBody>
      </p:sp>
      <p:pic>
        <p:nvPicPr>
          <p:cNvPr id="1134728709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57601" y="1838835"/>
            <a:ext cx="3676798" cy="46879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25070152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17</a:t>
            </a:fld>
            <a:endParaRPr lang="en-US"/>
          </a:p>
        </p:txBody>
      </p:sp>
      <p:sp>
        <p:nvSpPr>
          <p:cNvPr id="12690863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7741970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B7E61062-FC5B-2CFD-1FC7-C6EA0A13DA4B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365742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There are many ways to build AI, </a:t>
            </a:r>
            <a:br>
              <a:rPr lang="en-US"/>
            </a:br>
            <a:r>
              <a:rPr lang="en-US"/>
              <a:t>including expert systems and </a:t>
            </a:r>
            <a:r>
              <a:rPr lang="en-US" b="1"/>
              <a:t>tree search</a:t>
            </a:r>
            <a:r>
              <a:rPr lang="en-US"/>
              <a:t>.</a:t>
            </a:r>
            <a:endParaRPr lang="en-US"/>
          </a:p>
        </p:txBody>
      </p:sp>
      <p:pic>
        <p:nvPicPr>
          <p:cNvPr id="37652842" name="Picture 5"/>
          <p:cNvPicPr>
            <a:picLocks noChangeAspect="1"/>
          </p:cNvPicPr>
          <p:nvPr/>
        </p:nvPicPr>
        <p:blipFill rotWithShape="1">
          <a:blip r:embed="rId3"/>
          <a:srcRect l="1420" t="0" r="362" b="5992"/>
          <a:stretch/>
        </p:blipFill>
        <p:spPr bwMode="auto">
          <a:xfrm>
            <a:off x="529856" y="2339607"/>
            <a:ext cx="11132287" cy="38475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8893823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18</a:t>
            </a:fld>
            <a:endParaRPr lang="en-US"/>
          </a:p>
        </p:txBody>
      </p:sp>
      <p:sp>
        <p:nvSpPr>
          <p:cNvPr id="1671752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10612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4D46BA0C-84CD-38AE-5CEE-49BD7961BEE8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78428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There are many ways to build AI, </a:t>
            </a:r>
            <a:br>
              <a:rPr lang="en-US"/>
            </a:br>
            <a:r>
              <a:rPr lang="en-US"/>
              <a:t>including expert systems and </a:t>
            </a:r>
            <a:r>
              <a:rPr lang="en-US"/>
              <a:t>tree search.</a:t>
            </a:r>
            <a:endParaRPr/>
          </a:p>
        </p:txBody>
      </p:sp>
      <p:pic>
        <p:nvPicPr>
          <p:cNvPr id="245431896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74970" y="2104648"/>
            <a:ext cx="3320312" cy="42333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49270274" name="Picture 5"/>
          <p:cNvPicPr>
            <a:picLocks noChangeAspect="1"/>
          </p:cNvPicPr>
          <p:nvPr/>
        </p:nvPicPr>
        <p:blipFill rotWithShape="1">
          <a:blip r:embed="rId4"/>
          <a:srcRect l="17545" t="0" r="14082" b="5992"/>
          <a:stretch/>
        </p:blipFill>
        <p:spPr bwMode="auto">
          <a:xfrm>
            <a:off x="5829661" y="2849969"/>
            <a:ext cx="5524139" cy="2742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59781067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19</a:t>
            </a:fld>
            <a:endParaRPr lang="en-US"/>
          </a:p>
        </p:txBody>
      </p:sp>
      <p:sp>
        <p:nvSpPr>
          <p:cNvPr id="7048403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2945611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99BE10A3-5822-AB28-71D7-9C233104B27C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807338" name="Oval 2"/>
          <p:cNvSpPr/>
          <p:nvPr/>
        </p:nvSpPr>
        <p:spPr bwMode="auto">
          <a:xfrm>
            <a:off x="4160875" y="181642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4800"/>
              <a:t>AI</a:t>
            </a:r>
            <a:endParaRPr lang="en-US" sz="4800"/>
          </a:p>
        </p:txBody>
      </p:sp>
      <p:sp>
        <p:nvSpPr>
          <p:cNvPr id="1473181386" name="Oval 5"/>
          <p:cNvSpPr/>
          <p:nvPr/>
        </p:nvSpPr>
        <p:spPr bwMode="auto">
          <a:xfrm>
            <a:off x="2161952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1776951649" name="Oval 6"/>
          <p:cNvSpPr/>
          <p:nvPr/>
        </p:nvSpPr>
        <p:spPr bwMode="auto">
          <a:xfrm>
            <a:off x="4160874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996526630" name="Oval 7"/>
          <p:cNvSpPr/>
          <p:nvPr/>
        </p:nvSpPr>
        <p:spPr bwMode="auto">
          <a:xfrm>
            <a:off x="6159796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4000"/>
              <a:t>ML</a:t>
            </a:r>
            <a:endParaRPr lang="en-US" sz="4000"/>
          </a:p>
        </p:txBody>
      </p:sp>
      <p:cxnSp>
        <p:nvCxnSpPr>
          <p:cNvPr id="1491282967" name="Straight Connector 13"/>
          <p:cNvCxnSpPr>
            <a:stCxn id="1419807338" idx="4"/>
            <a:endCxn id="1473181386" idx="0"/>
          </p:cNvCxnSpPr>
          <p:nvPr/>
        </p:nvCxnSpPr>
        <p:spPr bwMode="auto">
          <a:xfrm flipH="1">
            <a:off x="2794590" y="1510711"/>
            <a:ext cx="1998923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1129456" name="Straight Connector 15"/>
          <p:cNvCxnSpPr>
            <a:stCxn id="1419807338" idx="4"/>
            <a:endCxn id="1776951649" idx="0"/>
          </p:cNvCxnSpPr>
          <p:nvPr/>
        </p:nvCxnSpPr>
        <p:spPr bwMode="auto">
          <a:xfrm flipH="1">
            <a:off x="4793512" y="1510711"/>
            <a:ext cx="1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4779067" name="Straight Connector 18"/>
          <p:cNvCxnSpPr>
            <a:stCxn id="1419807338" idx="4"/>
            <a:endCxn id="996526630" idx="0"/>
          </p:cNvCxnSpPr>
          <p:nvPr/>
        </p:nvCxnSpPr>
        <p:spPr bwMode="auto">
          <a:xfrm>
            <a:off x="4793513" y="1510711"/>
            <a:ext cx="1998920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747419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20</a:t>
            </a:fld>
            <a:endParaRPr lang="en-US"/>
          </a:p>
        </p:txBody>
      </p:sp>
      <p:sp>
        <p:nvSpPr>
          <p:cNvPr id="20810948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2155680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5073E617-D500-80BD-34D4-C225BCD806E6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18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318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95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7695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5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965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2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9128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12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81129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77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54779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3181386" grpId="0" animBg="1"/>
      <p:bldP spid="1776951649" grpId="0" animBg="1"/>
      <p:bldP spid="9965266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423374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Machine learning can perform many tasks, </a:t>
            </a:r>
            <a:br>
              <a:rPr lang="en-US"/>
            </a:br>
            <a:r>
              <a:rPr lang="en-US"/>
              <a:t>i.e. classification, clustering, and regression.</a:t>
            </a:r>
            <a:endParaRPr lang="en-US"/>
          </a:p>
        </p:txBody>
      </p:sp>
      <p:pic>
        <p:nvPicPr>
          <p:cNvPr id="177950945" name="Picture 2"/>
          <p:cNvPicPr>
            <a:picLocks noChangeAspect="1"/>
          </p:cNvPicPr>
          <p:nvPr/>
        </p:nvPicPr>
        <p:blipFill rotWithShape="1">
          <a:blip r:embed="rId3"/>
          <a:srcRect l="5753" t="0" r="9858" b="6441"/>
          <a:stretch/>
        </p:blipFill>
        <p:spPr bwMode="auto">
          <a:xfrm>
            <a:off x="4489294" y="2712741"/>
            <a:ext cx="3434577" cy="26175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4579124" name="Picture 3"/>
          <p:cNvPicPr>
            <a:picLocks noChangeAspect="1"/>
          </p:cNvPicPr>
          <p:nvPr/>
        </p:nvPicPr>
        <p:blipFill rotWithShape="1">
          <a:blip r:embed="rId4"/>
          <a:srcRect l="0" t="22325" r="54049" b="7533"/>
          <a:stretch/>
        </p:blipFill>
        <p:spPr bwMode="auto">
          <a:xfrm>
            <a:off x="838200" y="2712741"/>
            <a:ext cx="3501483" cy="26175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0191298" name="Picture 5"/>
          <p:cNvPicPr>
            <a:picLocks noChangeAspect="1"/>
          </p:cNvPicPr>
          <p:nvPr/>
        </p:nvPicPr>
        <p:blipFill rotWithShape="1">
          <a:blip r:embed="rId5"/>
          <a:srcRect l="12841" t="13001" r="10311" b="12031"/>
          <a:stretch/>
        </p:blipFill>
        <p:spPr bwMode="auto">
          <a:xfrm>
            <a:off x="8073482" y="2712741"/>
            <a:ext cx="3612995" cy="26175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63585044" name="TextBox 4"/>
          <p:cNvSpPr txBox="1"/>
          <p:nvPr/>
        </p:nvSpPr>
        <p:spPr bwMode="auto">
          <a:xfrm>
            <a:off x="0" y="6352336"/>
            <a:ext cx="69404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Cat photo © </a:t>
            </a:r>
            <a:r>
              <a:rPr lang="en-US" sz="1400"/>
              <a:t>source unknown. All rights reserved. This content is excluded from our Creative </a:t>
            </a:r>
            <a:endParaRPr lang="en-US" sz="1400"/>
          </a:p>
          <a:p>
            <a:pPr>
              <a:defRPr/>
            </a:pPr>
            <a:r>
              <a:rPr lang="en-US" sz="1400"/>
              <a:t>Commons </a:t>
            </a:r>
            <a:r>
              <a:rPr lang="en-US" sz="1400"/>
              <a:t>license. </a:t>
            </a:r>
            <a:r>
              <a:rPr lang="en-US" sz="1400"/>
              <a:t>For </a:t>
            </a:r>
            <a:r>
              <a:rPr lang="en-US" sz="1400"/>
              <a:t>more information, see </a:t>
            </a:r>
            <a:r>
              <a:rPr lang="en-US" sz="1400" u="sng">
                <a:hlinkClick r:id="rId6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  <a:p>
            <a:pPr>
              <a:defRPr/>
            </a:pPr>
            <a:endParaRPr lang="en-US"/>
          </a:p>
        </p:txBody>
      </p:sp>
      <p:sp>
        <p:nvSpPr>
          <p:cNvPr id="12722746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21</a:t>
            </a:fld>
            <a:endParaRPr lang="en-US"/>
          </a:p>
        </p:txBody>
      </p:sp>
      <p:sp>
        <p:nvSpPr>
          <p:cNvPr id="19636613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4331172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5C531AFA-DB59-C13C-D230-20A6EAA90357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42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7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5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9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642337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9603093" name="Picture 3"/>
          <p:cNvPicPr>
            <a:picLocks noChangeAspect="1"/>
          </p:cNvPicPr>
          <p:nvPr/>
        </p:nvPicPr>
        <p:blipFill rotWithShape="1">
          <a:blip r:embed="rId3"/>
          <a:srcRect l="0" t="22325" r="54049" b="7533"/>
          <a:stretch/>
        </p:blipFill>
        <p:spPr bwMode="auto">
          <a:xfrm>
            <a:off x="3720952" y="2009753"/>
            <a:ext cx="4750096" cy="41601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9474996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Machine learning can perform many tasks, </a:t>
            </a:r>
            <a:br>
              <a:rPr lang="en-US"/>
            </a:br>
            <a:r>
              <a:rPr lang="en-US"/>
              <a:t>i.e. </a:t>
            </a:r>
            <a:r>
              <a:rPr lang="en-US" b="1"/>
              <a:t>classification</a:t>
            </a:r>
            <a:r>
              <a:rPr lang="en-US"/>
              <a:t>, clustering, and regression.</a:t>
            </a:r>
            <a:endParaRPr lang="en-US"/>
          </a:p>
        </p:txBody>
      </p:sp>
      <p:sp>
        <p:nvSpPr>
          <p:cNvPr id="1622386145" name="TextBox 1"/>
          <p:cNvSpPr txBox="1"/>
          <p:nvPr/>
        </p:nvSpPr>
        <p:spPr bwMode="auto">
          <a:xfrm>
            <a:off x="150471" y="6331352"/>
            <a:ext cx="6359883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© </a:t>
            </a:r>
            <a:r>
              <a:rPr lang="en-US" sz="1400"/>
              <a:t>source unknown. All rights reserved. This content is excluded from our Creative </a:t>
            </a:r>
            <a:endParaRPr/>
          </a:p>
          <a:p>
            <a:pPr>
              <a:defRPr/>
            </a:pPr>
            <a:r>
              <a:rPr lang="en-US" sz="1400"/>
              <a:t>Commons license. For more 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982000330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22</a:t>
            </a:fld>
            <a:endParaRPr lang="en-US"/>
          </a:p>
        </p:txBody>
      </p:sp>
      <p:sp>
        <p:nvSpPr>
          <p:cNvPr id="16734568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8203271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E445DA68-6BC3-6C18-D71F-01A931D5DC86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9048554" name="Picture 2"/>
          <p:cNvPicPr>
            <a:picLocks noChangeAspect="1"/>
          </p:cNvPicPr>
          <p:nvPr/>
        </p:nvPicPr>
        <p:blipFill rotWithShape="1">
          <a:blip r:embed="rId3"/>
          <a:srcRect l="5753" t="0" r="9858" b="6441"/>
          <a:stretch/>
        </p:blipFill>
        <p:spPr bwMode="auto">
          <a:xfrm>
            <a:off x="3200988" y="2010991"/>
            <a:ext cx="5790023" cy="44126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9214596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Machine learning can perform many tasks, </a:t>
            </a:r>
            <a:br>
              <a:rPr lang="en-US"/>
            </a:br>
            <a:r>
              <a:rPr lang="en-US"/>
              <a:t>i.e. classification, </a:t>
            </a:r>
            <a:r>
              <a:rPr lang="en-US" b="1"/>
              <a:t>clustering</a:t>
            </a:r>
            <a:r>
              <a:rPr lang="en-US"/>
              <a:t>, and regression.</a:t>
            </a:r>
            <a:endParaRPr lang="en-US"/>
          </a:p>
        </p:txBody>
      </p:sp>
      <p:sp>
        <p:nvSpPr>
          <p:cNvPr id="21934186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23</a:t>
            </a:fld>
            <a:endParaRPr lang="en-US"/>
          </a:p>
        </p:txBody>
      </p:sp>
      <p:sp>
        <p:nvSpPr>
          <p:cNvPr id="15639338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4388487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FDAD1C07-FEF6-9BC8-5FA0-A5B9AEB0FDFC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450719" name="Picture 5"/>
          <p:cNvPicPr>
            <a:picLocks noChangeAspect="1"/>
          </p:cNvPicPr>
          <p:nvPr/>
        </p:nvPicPr>
        <p:blipFill rotWithShape="1">
          <a:blip r:embed="rId3"/>
          <a:srcRect l="12841" t="13001" r="10311" b="12031"/>
          <a:stretch/>
        </p:blipFill>
        <p:spPr bwMode="auto">
          <a:xfrm>
            <a:off x="2988591" y="1862137"/>
            <a:ext cx="6214818" cy="45470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96977079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Machine learning can perform many tasks, </a:t>
            </a:r>
            <a:br>
              <a:rPr lang="en-US"/>
            </a:br>
            <a:r>
              <a:rPr lang="en-US"/>
              <a:t>i.e. classification, clustering, and </a:t>
            </a:r>
            <a:r>
              <a:rPr lang="en-US" b="1"/>
              <a:t>regression</a:t>
            </a:r>
            <a:r>
              <a:rPr lang="en-US"/>
              <a:t>.</a:t>
            </a:r>
            <a:endParaRPr lang="en-US"/>
          </a:p>
        </p:txBody>
      </p:sp>
      <p:sp>
        <p:nvSpPr>
          <p:cNvPr id="1046213708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24</a:t>
            </a:fld>
            <a:endParaRPr lang="en-US"/>
          </a:p>
        </p:txBody>
      </p:sp>
      <p:sp>
        <p:nvSpPr>
          <p:cNvPr id="2718910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6218039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6C2D28A0-DF37-5FA3-EC29-8EB619DB7479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3453059" name="Picture 2"/>
          <p:cNvPicPr>
            <a:picLocks noChangeAspect="1"/>
          </p:cNvPicPr>
          <p:nvPr/>
        </p:nvPicPr>
        <p:blipFill rotWithShape="1">
          <a:blip r:embed="rId3"/>
          <a:srcRect l="5753" t="0" r="9858" b="6441"/>
          <a:stretch/>
        </p:blipFill>
        <p:spPr bwMode="auto">
          <a:xfrm>
            <a:off x="4489294" y="2712741"/>
            <a:ext cx="3434577" cy="26175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41364681" name="Picture 3"/>
          <p:cNvPicPr>
            <a:picLocks noChangeAspect="1"/>
          </p:cNvPicPr>
          <p:nvPr/>
        </p:nvPicPr>
        <p:blipFill rotWithShape="1">
          <a:blip r:embed="rId4"/>
          <a:srcRect l="0" t="22325" r="54049" b="7533"/>
          <a:stretch/>
        </p:blipFill>
        <p:spPr bwMode="auto">
          <a:xfrm>
            <a:off x="838200" y="2712741"/>
            <a:ext cx="3501483" cy="26175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93549833" name="Picture 5"/>
          <p:cNvPicPr>
            <a:picLocks noChangeAspect="1"/>
          </p:cNvPicPr>
          <p:nvPr/>
        </p:nvPicPr>
        <p:blipFill rotWithShape="1">
          <a:blip r:embed="rId5"/>
          <a:srcRect l="12841" t="13001" r="10311" b="12031"/>
          <a:stretch/>
        </p:blipFill>
        <p:spPr bwMode="auto">
          <a:xfrm>
            <a:off x="8073482" y="2712741"/>
            <a:ext cx="3612995" cy="26175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5494859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Machine learning can perform many tasks, </a:t>
            </a:r>
            <a:br>
              <a:rPr lang="en-US"/>
            </a:br>
            <a:r>
              <a:rPr lang="en-US"/>
              <a:t>i.e. classification, clustering, and regression.</a:t>
            </a:r>
            <a:endParaRPr lang="en-US"/>
          </a:p>
        </p:txBody>
      </p:sp>
      <p:sp>
        <p:nvSpPr>
          <p:cNvPr id="231671835" name="TextBox 1"/>
          <p:cNvSpPr txBox="1"/>
          <p:nvPr/>
        </p:nvSpPr>
        <p:spPr bwMode="auto">
          <a:xfrm>
            <a:off x="52342" y="6146157"/>
            <a:ext cx="694042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Cat photo © source unknown. All rights reserved. This content is excluded from our Creative </a:t>
            </a:r>
            <a:endParaRPr/>
          </a:p>
          <a:p>
            <a:pPr>
              <a:defRPr/>
            </a:pPr>
            <a:r>
              <a:rPr lang="en-US" sz="1400"/>
              <a:t>Commons license. For more information, see </a:t>
            </a:r>
            <a:r>
              <a:rPr lang="en-US" sz="1400" u="sng">
                <a:hlinkClick r:id="rId6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4717771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25</a:t>
            </a:fld>
            <a:endParaRPr lang="en-US"/>
          </a:p>
        </p:txBody>
      </p:sp>
      <p:sp>
        <p:nvSpPr>
          <p:cNvPr id="19679190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9350060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CD658ADF-45F1-E434-79DF-3A19C9C5DB5F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7856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There are three types of learning: supervised, unsupervised, and reinforcement learning.</a:t>
            </a:r>
            <a:endParaRPr lang="en-US"/>
          </a:p>
        </p:txBody>
      </p:sp>
      <p:pic>
        <p:nvPicPr>
          <p:cNvPr id="1046864076" name="Picture 2"/>
          <p:cNvPicPr>
            <a:picLocks noChangeAspect="1"/>
          </p:cNvPicPr>
          <p:nvPr/>
        </p:nvPicPr>
        <p:blipFill rotWithShape="1">
          <a:blip r:embed="rId3"/>
          <a:srcRect l="0" t="0" r="22343" b="0"/>
          <a:stretch/>
        </p:blipFill>
        <p:spPr bwMode="auto">
          <a:xfrm>
            <a:off x="838200" y="2505148"/>
            <a:ext cx="3393558" cy="2913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17033015" name="Picture 4"/>
          <p:cNvPicPr>
            <a:picLocks noChangeAspect="1"/>
          </p:cNvPicPr>
          <p:nvPr/>
        </p:nvPicPr>
        <p:blipFill rotWithShape="1">
          <a:blip r:embed="rId4"/>
          <a:srcRect l="23414" t="17779" r="22055" b="0"/>
          <a:stretch/>
        </p:blipFill>
        <p:spPr bwMode="auto">
          <a:xfrm>
            <a:off x="8729333" y="2505148"/>
            <a:ext cx="2943447" cy="2913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42114975" name="Picture 5"/>
          <p:cNvPicPr>
            <a:picLocks noChangeAspect="1"/>
          </p:cNvPicPr>
          <p:nvPr/>
        </p:nvPicPr>
        <p:blipFill rotWithShape="1">
          <a:blip r:embed="rId5"/>
          <a:srcRect l="8374" t="0" r="6403" b="0"/>
          <a:stretch/>
        </p:blipFill>
        <p:spPr bwMode="auto">
          <a:xfrm>
            <a:off x="4641112" y="2505147"/>
            <a:ext cx="3678866" cy="29133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4759418" name="TextBox 3"/>
          <p:cNvSpPr txBox="1"/>
          <p:nvPr/>
        </p:nvSpPr>
        <p:spPr bwMode="auto">
          <a:xfrm>
            <a:off x="104755" y="6232927"/>
            <a:ext cx="673876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Images © </a:t>
            </a:r>
            <a:r>
              <a:rPr lang="en-US" sz="1400"/>
              <a:t>source unknown. All rights reserved. This content is excluded from our Creative </a:t>
            </a:r>
            <a:endParaRPr lang="en-US" sz="1400"/>
          </a:p>
          <a:p>
            <a:pPr>
              <a:defRPr/>
            </a:pPr>
            <a:r>
              <a:rPr lang="en-US" sz="1400"/>
              <a:t>Commons </a:t>
            </a:r>
            <a:r>
              <a:rPr lang="en-US" sz="1400"/>
              <a:t>license.  </a:t>
            </a:r>
            <a:r>
              <a:rPr lang="en-US" sz="1400"/>
              <a:t>For </a:t>
            </a:r>
            <a:r>
              <a:rPr lang="en-US" sz="1400"/>
              <a:t>more information, see </a:t>
            </a:r>
            <a:r>
              <a:rPr lang="en-US" sz="1400" u="sng">
                <a:hlinkClick r:id="rId6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13681363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26</a:t>
            </a:fld>
            <a:endParaRPr lang="en-US"/>
          </a:p>
        </p:txBody>
      </p:sp>
      <p:sp>
        <p:nvSpPr>
          <p:cNvPr id="13671885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7657907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1E7AA5D9-95F4-18C5-8BE2-F586B825D196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86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1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3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6356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There are three types of learning: </a:t>
            </a:r>
            <a:r>
              <a:rPr lang="en-US" b="1"/>
              <a:t>supervised</a:t>
            </a:r>
            <a:r>
              <a:rPr lang="en-US"/>
              <a:t>, unsupervised, and reinforcement learning.</a:t>
            </a:r>
            <a:endParaRPr lang="en-US"/>
          </a:p>
        </p:txBody>
      </p:sp>
      <p:pic>
        <p:nvPicPr>
          <p:cNvPr id="863837672" name="Picture 2"/>
          <p:cNvPicPr>
            <a:picLocks noChangeAspect="1"/>
          </p:cNvPicPr>
          <p:nvPr/>
        </p:nvPicPr>
        <p:blipFill rotWithShape="1">
          <a:blip r:embed="rId3"/>
          <a:srcRect l="0" t="0" r="1316" b="0"/>
          <a:stretch/>
        </p:blipFill>
        <p:spPr bwMode="auto">
          <a:xfrm>
            <a:off x="838200" y="1888459"/>
            <a:ext cx="6657754" cy="44977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244395" name="Picture 6"/>
          <p:cNvPicPr>
            <a:picLocks noChangeAspect="1"/>
          </p:cNvPicPr>
          <p:nvPr/>
        </p:nvPicPr>
        <p:blipFill rotWithShape="1">
          <a:blip r:embed="rId4"/>
          <a:srcRect l="0" t="22325" r="54049" b="7533"/>
          <a:stretch/>
        </p:blipFill>
        <p:spPr bwMode="auto">
          <a:xfrm>
            <a:off x="7852317" y="2604018"/>
            <a:ext cx="3501483" cy="30665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31466382" name="TextBox 3"/>
          <p:cNvSpPr txBox="1"/>
          <p:nvPr/>
        </p:nvSpPr>
        <p:spPr bwMode="auto">
          <a:xfrm>
            <a:off x="0" y="6386163"/>
            <a:ext cx="673876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Images © </a:t>
            </a:r>
            <a:r>
              <a:rPr lang="en-US" sz="1400"/>
              <a:t>source unknown. All rights reserved. This content is excluded from our Creative </a:t>
            </a:r>
            <a:endParaRPr lang="en-US" sz="1400"/>
          </a:p>
          <a:p>
            <a:pPr>
              <a:defRPr/>
            </a:pPr>
            <a:r>
              <a:rPr lang="en-US" sz="1400"/>
              <a:t>Commons </a:t>
            </a:r>
            <a:r>
              <a:rPr lang="en-US" sz="1400"/>
              <a:t>license. For more information, see </a:t>
            </a:r>
            <a:r>
              <a:rPr lang="en-US" sz="1400" u="sng">
                <a:hlinkClick r:id="rId5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755291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27</a:t>
            </a:fld>
            <a:endParaRPr lang="en-US"/>
          </a:p>
        </p:txBody>
      </p:sp>
      <p:sp>
        <p:nvSpPr>
          <p:cNvPr id="19837441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3550595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5406DF77-A87D-39EC-3158-3A112728A651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0798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There are three types of learning: supervised, </a:t>
            </a:r>
            <a:r>
              <a:rPr lang="en-US" b="1"/>
              <a:t>unsupervised</a:t>
            </a:r>
            <a:r>
              <a:rPr lang="en-US"/>
              <a:t>, and reinforcement learning.</a:t>
            </a:r>
            <a:endParaRPr lang="en-US"/>
          </a:p>
        </p:txBody>
      </p:sp>
      <p:pic>
        <p:nvPicPr>
          <p:cNvPr id="1103055208" name="Picture 5"/>
          <p:cNvPicPr>
            <a:picLocks noChangeAspect="1"/>
          </p:cNvPicPr>
          <p:nvPr/>
        </p:nvPicPr>
        <p:blipFill rotWithShape="1">
          <a:blip r:embed="rId3"/>
          <a:srcRect l="2033" t="0" r="638" b="0"/>
          <a:stretch/>
        </p:blipFill>
        <p:spPr bwMode="auto">
          <a:xfrm>
            <a:off x="838200" y="1690688"/>
            <a:ext cx="6581554" cy="45636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45121118" name="Picture 6"/>
          <p:cNvPicPr>
            <a:picLocks noChangeAspect="1"/>
          </p:cNvPicPr>
          <p:nvPr/>
        </p:nvPicPr>
        <p:blipFill rotWithShape="1">
          <a:blip r:embed="rId4"/>
          <a:srcRect l="5753" t="0" r="9858" b="6441"/>
          <a:stretch/>
        </p:blipFill>
        <p:spPr bwMode="auto">
          <a:xfrm>
            <a:off x="7919223" y="2882802"/>
            <a:ext cx="3434577" cy="26175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04265008" name="TextBox 2"/>
          <p:cNvSpPr txBox="1"/>
          <p:nvPr/>
        </p:nvSpPr>
        <p:spPr bwMode="auto">
          <a:xfrm>
            <a:off x="0" y="6334780"/>
            <a:ext cx="66567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Photo © </a:t>
            </a:r>
            <a:r>
              <a:rPr lang="en-US" sz="1400"/>
              <a:t>source unknown. All rights reserved. This content is excluded from our Creative </a:t>
            </a:r>
            <a:endParaRPr lang="en-US" sz="1400"/>
          </a:p>
          <a:p>
            <a:pPr>
              <a:defRPr/>
            </a:pPr>
            <a:r>
              <a:rPr lang="en-US" sz="1400"/>
              <a:t>Commons </a:t>
            </a:r>
            <a:r>
              <a:rPr lang="en-US" sz="1400"/>
              <a:t>license. For more information, see </a:t>
            </a:r>
            <a:r>
              <a:rPr lang="en-US" sz="1400" u="sng">
                <a:hlinkClick r:id="rId5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</p:txBody>
      </p:sp>
      <p:sp>
        <p:nvSpPr>
          <p:cNvPr id="69675950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28</a:t>
            </a:fld>
            <a:endParaRPr lang="en-US"/>
          </a:p>
        </p:txBody>
      </p:sp>
      <p:sp>
        <p:nvSpPr>
          <p:cNvPr id="2651631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6635999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826B0B59-4819-BF8E-40E8-652F0B43DCDB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2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7675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There are three types of learning: supervised, unsupervised, and </a:t>
            </a:r>
            <a:r>
              <a:rPr lang="en-US" b="1"/>
              <a:t>reinforcement learning</a:t>
            </a:r>
            <a:r>
              <a:rPr lang="en-US"/>
              <a:t>.</a:t>
            </a:r>
            <a:endParaRPr lang="en-US"/>
          </a:p>
        </p:txBody>
      </p:sp>
      <p:pic>
        <p:nvPicPr>
          <p:cNvPr id="828878190" name="Picture 4"/>
          <p:cNvPicPr>
            <a:picLocks noChangeAspect="1"/>
          </p:cNvPicPr>
          <p:nvPr/>
        </p:nvPicPr>
        <p:blipFill rotWithShape="1">
          <a:blip r:embed="rId3"/>
          <a:srcRect l="9229" t="3792" r="9811" b="0"/>
          <a:stretch/>
        </p:blipFill>
        <p:spPr bwMode="auto">
          <a:xfrm>
            <a:off x="838200" y="1690688"/>
            <a:ext cx="5582094" cy="43544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50512288" name="Picture 3"/>
          <p:cNvPicPr>
            <a:picLocks noChangeAspect="1"/>
          </p:cNvPicPr>
          <p:nvPr/>
        </p:nvPicPr>
        <p:blipFill rotWithShape="1">
          <a:blip r:embed="rId4"/>
          <a:srcRect l="11355" t="0" r="0" b="0"/>
          <a:stretch/>
        </p:blipFill>
        <p:spPr bwMode="auto">
          <a:xfrm>
            <a:off x="7304049" y="2392933"/>
            <a:ext cx="4049751" cy="29499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1386888" name="TextBox 2"/>
          <p:cNvSpPr txBox="1"/>
          <p:nvPr/>
        </p:nvSpPr>
        <p:spPr bwMode="auto">
          <a:xfrm>
            <a:off x="0" y="6285053"/>
            <a:ext cx="673876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Images </a:t>
            </a:r>
            <a:r>
              <a:rPr lang="en-US" sz="1400"/>
              <a:t>© source unknown. All rights reserved. This content is excluded from our Creative </a:t>
            </a:r>
            <a:endParaRPr lang="en-US" sz="1400"/>
          </a:p>
          <a:p>
            <a:pPr>
              <a:defRPr/>
            </a:pPr>
            <a:r>
              <a:rPr lang="en-US" sz="1400"/>
              <a:t>Commons </a:t>
            </a:r>
            <a:r>
              <a:rPr lang="en-US" sz="1400"/>
              <a:t>license.  </a:t>
            </a:r>
            <a:r>
              <a:rPr lang="en-US" sz="1400"/>
              <a:t>For </a:t>
            </a:r>
            <a:r>
              <a:rPr lang="en-US" sz="1400"/>
              <a:t>more information, see </a:t>
            </a:r>
            <a:r>
              <a:rPr lang="en-US" sz="1400" u="sng">
                <a:hlinkClick r:id="rId5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10516589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29</a:t>
            </a:fld>
            <a:endParaRPr lang="en-US"/>
          </a:p>
        </p:txBody>
      </p:sp>
      <p:sp>
        <p:nvSpPr>
          <p:cNvPr id="13274763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251051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219B9F6E-4958-5572-0115-F0F8EE7ACE68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51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0778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There are three types of learning: supervised, unsupervised, and reinforcement learning.</a:t>
            </a:r>
            <a:endParaRPr lang="en-US"/>
          </a:p>
        </p:txBody>
      </p:sp>
      <p:pic>
        <p:nvPicPr>
          <p:cNvPr id="1519141493" name="Picture 2"/>
          <p:cNvPicPr>
            <a:picLocks noChangeAspect="1"/>
          </p:cNvPicPr>
          <p:nvPr/>
        </p:nvPicPr>
        <p:blipFill rotWithShape="1">
          <a:blip r:embed="rId3"/>
          <a:srcRect l="0" t="0" r="22343" b="0"/>
          <a:stretch/>
        </p:blipFill>
        <p:spPr bwMode="auto">
          <a:xfrm>
            <a:off x="838200" y="2505148"/>
            <a:ext cx="3393558" cy="2913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78342095" name="Picture 4"/>
          <p:cNvPicPr>
            <a:picLocks noChangeAspect="1"/>
          </p:cNvPicPr>
          <p:nvPr/>
        </p:nvPicPr>
        <p:blipFill rotWithShape="1">
          <a:blip r:embed="rId4"/>
          <a:srcRect l="23414" t="17779" r="22055" b="0"/>
          <a:stretch/>
        </p:blipFill>
        <p:spPr bwMode="auto">
          <a:xfrm>
            <a:off x="8729333" y="2505148"/>
            <a:ext cx="2943447" cy="2913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11395623" name="Picture 5"/>
          <p:cNvPicPr>
            <a:picLocks noChangeAspect="1"/>
          </p:cNvPicPr>
          <p:nvPr/>
        </p:nvPicPr>
        <p:blipFill rotWithShape="1">
          <a:blip r:embed="rId5"/>
          <a:srcRect l="8374" t="0" r="6403" b="0"/>
          <a:stretch/>
        </p:blipFill>
        <p:spPr bwMode="auto">
          <a:xfrm>
            <a:off x="4641112" y="2505148"/>
            <a:ext cx="3678866" cy="29133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7489020" name="TextBox 3"/>
          <p:cNvSpPr txBox="1"/>
          <p:nvPr/>
        </p:nvSpPr>
        <p:spPr bwMode="auto">
          <a:xfrm>
            <a:off x="0" y="6331351"/>
            <a:ext cx="67387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Images © source unknown. All rights reserved. This content is excluded from our Creative </a:t>
            </a:r>
            <a:endParaRPr/>
          </a:p>
          <a:p>
            <a:pPr>
              <a:defRPr/>
            </a:pPr>
            <a:r>
              <a:rPr lang="en-US" sz="1400"/>
              <a:t>Commons license.  For more information, see </a:t>
            </a:r>
            <a:r>
              <a:rPr lang="en-US" sz="1400" u="sng">
                <a:hlinkClick r:id="rId6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</p:txBody>
      </p:sp>
      <p:sp>
        <p:nvSpPr>
          <p:cNvPr id="12498297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30</a:t>
            </a:fld>
            <a:endParaRPr lang="en-US"/>
          </a:p>
        </p:txBody>
      </p:sp>
      <p:sp>
        <p:nvSpPr>
          <p:cNvPr id="15184632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687231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CA2E0F88-9FB9-2FC4-BCAC-6AAE942B4676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06388" name="Oval 2"/>
          <p:cNvSpPr/>
          <p:nvPr/>
        </p:nvSpPr>
        <p:spPr bwMode="auto">
          <a:xfrm>
            <a:off x="4160875" y="181642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4800"/>
              <a:t>AI</a:t>
            </a:r>
            <a:endParaRPr lang="en-US" sz="4800"/>
          </a:p>
        </p:txBody>
      </p:sp>
      <p:sp>
        <p:nvSpPr>
          <p:cNvPr id="1434225786" name="Oval 5"/>
          <p:cNvSpPr/>
          <p:nvPr/>
        </p:nvSpPr>
        <p:spPr bwMode="auto">
          <a:xfrm>
            <a:off x="2161952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429699540" name="Oval 6"/>
          <p:cNvSpPr/>
          <p:nvPr/>
        </p:nvSpPr>
        <p:spPr bwMode="auto">
          <a:xfrm>
            <a:off x="4160874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3041006" name="Oval 7"/>
          <p:cNvSpPr/>
          <p:nvPr/>
        </p:nvSpPr>
        <p:spPr bwMode="auto">
          <a:xfrm>
            <a:off x="6159796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4000"/>
              <a:t>ML</a:t>
            </a:r>
            <a:endParaRPr lang="en-US" sz="4000"/>
          </a:p>
        </p:txBody>
      </p:sp>
      <p:sp>
        <p:nvSpPr>
          <p:cNvPr id="490984427" name="Oval 9"/>
          <p:cNvSpPr/>
          <p:nvPr/>
        </p:nvSpPr>
        <p:spPr bwMode="auto">
          <a:xfrm>
            <a:off x="4163532" y="3415704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602625223" name="Oval 10"/>
          <p:cNvSpPr/>
          <p:nvPr/>
        </p:nvSpPr>
        <p:spPr bwMode="auto">
          <a:xfrm>
            <a:off x="6159796" y="3415704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2040303916" name="Oval 11"/>
          <p:cNvSpPr/>
          <p:nvPr/>
        </p:nvSpPr>
        <p:spPr bwMode="auto">
          <a:xfrm>
            <a:off x="8057709" y="3415704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cxnSp>
        <p:nvCxnSpPr>
          <p:cNvPr id="1281109974" name="Straight Connector 13"/>
          <p:cNvCxnSpPr>
            <a:stCxn id="1986906388" idx="4"/>
            <a:endCxn id="1434225786" idx="0"/>
          </p:cNvCxnSpPr>
          <p:nvPr/>
        </p:nvCxnSpPr>
        <p:spPr bwMode="auto">
          <a:xfrm flipH="1">
            <a:off x="2794590" y="1510711"/>
            <a:ext cx="1998923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557984" name="Straight Connector 15"/>
          <p:cNvCxnSpPr>
            <a:stCxn id="1986906388" idx="4"/>
            <a:endCxn id="429699540" idx="0"/>
          </p:cNvCxnSpPr>
          <p:nvPr/>
        </p:nvCxnSpPr>
        <p:spPr bwMode="auto">
          <a:xfrm flipH="1">
            <a:off x="4793512" y="1510711"/>
            <a:ext cx="1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949399" name="Straight Connector 18"/>
          <p:cNvCxnSpPr>
            <a:stCxn id="1986906388" idx="4"/>
            <a:endCxn id="3041006" idx="0"/>
          </p:cNvCxnSpPr>
          <p:nvPr/>
        </p:nvCxnSpPr>
        <p:spPr bwMode="auto">
          <a:xfrm>
            <a:off x="4793513" y="1510711"/>
            <a:ext cx="1998920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5553092" name="Straight Connector 21"/>
          <p:cNvCxnSpPr>
            <a:stCxn id="3041006" idx="4"/>
            <a:endCxn id="490984427" idx="0"/>
          </p:cNvCxnSpPr>
          <p:nvPr/>
        </p:nvCxnSpPr>
        <p:spPr bwMode="auto">
          <a:xfrm flipH="1">
            <a:off x="4796170" y="3127743"/>
            <a:ext cx="1996264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3179514" name="Straight Connector 22"/>
          <p:cNvCxnSpPr>
            <a:stCxn id="3041006" idx="4"/>
            <a:endCxn id="602625223" idx="0"/>
          </p:cNvCxnSpPr>
          <p:nvPr/>
        </p:nvCxnSpPr>
        <p:spPr bwMode="auto">
          <a:xfrm>
            <a:off x="6792434" y="3127743"/>
            <a:ext cx="0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741366" name="Straight Connector 23"/>
          <p:cNvCxnSpPr>
            <a:stCxn id="3041006" idx="4"/>
            <a:endCxn id="2040303916" idx="0"/>
          </p:cNvCxnSpPr>
          <p:nvPr/>
        </p:nvCxnSpPr>
        <p:spPr bwMode="auto">
          <a:xfrm>
            <a:off x="6792434" y="3127743"/>
            <a:ext cx="1897913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4091050" name="Oval 30"/>
          <p:cNvSpPr/>
          <p:nvPr/>
        </p:nvSpPr>
        <p:spPr bwMode="auto">
          <a:xfrm>
            <a:off x="7350643" y="5347289"/>
            <a:ext cx="2679405" cy="1329070"/>
          </a:xfrm>
          <a:prstGeom prst="ellipse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800"/>
              <a:t>Deep Learning</a:t>
            </a:r>
            <a:endParaRPr lang="en-US" sz="3800"/>
          </a:p>
        </p:txBody>
      </p:sp>
      <p:cxnSp>
        <p:nvCxnSpPr>
          <p:cNvPr id="1146456248" name="Straight Connector 31"/>
          <p:cNvCxnSpPr>
            <a:stCxn id="1064091050" idx="0"/>
            <a:endCxn id="2040303916" idx="4"/>
          </p:cNvCxnSpPr>
          <p:nvPr/>
        </p:nvCxnSpPr>
        <p:spPr bwMode="auto">
          <a:xfrm flipV="1">
            <a:off x="8690346" y="4744774"/>
            <a:ext cx="1" cy="6025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8187660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31</a:t>
            </a:fld>
            <a:endParaRPr lang="en-US"/>
          </a:p>
        </p:txBody>
      </p:sp>
      <p:sp>
        <p:nvSpPr>
          <p:cNvPr id="17628712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4796740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EA711B58-A3DC-E561-F54F-514701185321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2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422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9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969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4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0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8110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55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9055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94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594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98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0984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2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262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30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40303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55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4555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17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317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4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974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09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6409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45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4645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0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8690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906388" grpId="0" animBg="1"/>
      <p:bldP spid="1434225786" grpId="0" animBg="1"/>
      <p:bldP spid="429699540" grpId="0" animBg="1"/>
      <p:bldP spid="3041006" grpId="0" animBg="1"/>
      <p:bldP spid="490984427" grpId="0" animBg="1"/>
      <p:bldP spid="602625223" grpId="0" animBg="1"/>
      <p:bldP spid="2040303916" grpId="0" animBg="1"/>
      <p:bldP spid="106409105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045147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With the right data and the right model, machine learning can solve </a:t>
            </a:r>
            <a:r>
              <a:rPr lang="en-US"/>
              <a:t>many problems.</a:t>
            </a:r>
            <a:endParaRPr lang="en-US"/>
          </a:p>
        </p:txBody>
      </p:sp>
      <p:sp>
        <p:nvSpPr>
          <p:cNvPr id="685180191" name="Rectangle 2"/>
          <p:cNvSpPr/>
          <p:nvPr/>
        </p:nvSpPr>
        <p:spPr bwMode="auto">
          <a:xfrm>
            <a:off x="1524000" y="2318749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5600" b="1">
                <a:solidFill>
                  <a:schemeClr val="accent1"/>
                </a:solidFill>
                <a:latin typeface="Eras Light ITC"/>
              </a:rPr>
              <a:t>B</a:t>
            </a:r>
            <a:r>
              <a:rPr lang="en-US" sz="5600" b="1">
                <a:solidFill>
                  <a:schemeClr val="accent1"/>
                </a:solidFill>
                <a:latin typeface="Eras Light ITC"/>
              </a:rPr>
              <a:t>ut </a:t>
            </a:r>
            <a:r>
              <a:rPr lang="en-US" sz="5600" b="1">
                <a:solidFill>
                  <a:schemeClr val="accent1"/>
                </a:solidFill>
                <a:latin typeface="Eras Light ITC"/>
              </a:rPr>
              <a:t>finding the right data and training the right model </a:t>
            </a:r>
            <a:endParaRPr lang="en-US" sz="5600" b="1">
              <a:solidFill>
                <a:schemeClr val="accent1"/>
              </a:solidFill>
              <a:latin typeface="Eras Light ITC"/>
            </a:endParaRPr>
          </a:p>
          <a:p>
            <a:pPr>
              <a:defRPr/>
            </a:pPr>
            <a:r>
              <a:rPr lang="en-US" sz="5600" b="1">
                <a:solidFill>
                  <a:schemeClr val="accent1"/>
                </a:solidFill>
                <a:latin typeface="Eras Light ITC"/>
              </a:rPr>
              <a:t>can </a:t>
            </a:r>
            <a:r>
              <a:rPr lang="en-US" sz="5600" b="1">
                <a:solidFill>
                  <a:schemeClr val="accent1"/>
                </a:solidFill>
                <a:latin typeface="Eras Light ITC"/>
              </a:rPr>
              <a:t>be difficult</a:t>
            </a:r>
            <a:r>
              <a:rPr lang="en-US" sz="5600" b="1">
                <a:solidFill>
                  <a:schemeClr val="accent1"/>
                </a:solidFill>
                <a:latin typeface="Eras Light ITC"/>
              </a:rPr>
              <a:t>.</a:t>
            </a:r>
            <a:endParaRPr lang="en-US" sz="56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101531859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32</a:t>
            </a:fld>
            <a:endParaRPr lang="en-US"/>
          </a:p>
        </p:txBody>
      </p:sp>
      <p:sp>
        <p:nvSpPr>
          <p:cNvPr id="18765831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836397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F0B462C1-39F9-D3E8-5B93-34BB5F6A3351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04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8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3045147" grpId="0"/>
      <p:bldP spid="68518019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1538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1. Define a problem.</a:t>
            </a:r>
            <a:endParaRPr lang="en-US"/>
          </a:p>
        </p:txBody>
      </p:sp>
      <p:pic>
        <p:nvPicPr>
          <p:cNvPr id="274052972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40409" y="1459194"/>
            <a:ext cx="4688656" cy="4688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26688824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86805" y="1459194"/>
            <a:ext cx="4731488" cy="47240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30955040" name="TextBox 4"/>
          <p:cNvSpPr txBox="1"/>
          <p:nvPr/>
        </p:nvSpPr>
        <p:spPr bwMode="auto">
          <a:xfrm>
            <a:off x="0" y="6147850"/>
            <a:ext cx="106583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Cat photo © </a:t>
            </a:r>
            <a:r>
              <a:rPr lang="en-US"/>
              <a:t>source </a:t>
            </a:r>
            <a:r>
              <a:rPr lang="en-US"/>
              <a:t>unknown; dog photo </a:t>
            </a:r>
            <a:r>
              <a:rPr lang="en-US"/>
              <a:t>© </a:t>
            </a:r>
            <a:r>
              <a:rPr lang="en-US"/>
              <a:t>Getty images. All </a:t>
            </a:r>
            <a:r>
              <a:rPr lang="en-US"/>
              <a:t>rights reserved. This content is excluded from our </a:t>
            </a:r>
            <a:endParaRPr lang="en-US"/>
          </a:p>
          <a:p>
            <a:pPr>
              <a:defRPr/>
            </a:pPr>
            <a:r>
              <a:rPr lang="en-US"/>
              <a:t>Creative </a:t>
            </a:r>
            <a:r>
              <a:rPr lang="en-US"/>
              <a:t>Commons </a:t>
            </a:r>
            <a:r>
              <a:rPr lang="en-US"/>
              <a:t>license</a:t>
            </a:r>
            <a:r>
              <a:rPr lang="en-US"/>
              <a:t>. For more </a:t>
            </a:r>
            <a:r>
              <a:rPr lang="en-US"/>
              <a:t>information</a:t>
            </a:r>
            <a:r>
              <a:rPr lang="en-US"/>
              <a:t>, see </a:t>
            </a:r>
            <a:r>
              <a:rPr lang="en-US" u="sng">
                <a:hlinkClick r:id="rId5" tooltip=""/>
              </a:rPr>
              <a:t>https://ocw.mit.edu/help/faq-fair-use/</a:t>
            </a:r>
            <a:r>
              <a:rPr lang="en-US"/>
              <a:t>.</a:t>
            </a:r>
            <a:endParaRPr/>
          </a:p>
          <a:p>
            <a:pPr>
              <a:defRPr/>
            </a:pPr>
            <a:endParaRPr lang="en-US" sz="1400"/>
          </a:p>
        </p:txBody>
      </p:sp>
      <p:sp>
        <p:nvSpPr>
          <p:cNvPr id="15827606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33</a:t>
            </a:fld>
            <a:endParaRPr lang="en-US"/>
          </a:p>
        </p:txBody>
      </p:sp>
      <p:sp>
        <p:nvSpPr>
          <p:cNvPr id="19073267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7202120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A22B13D7-1682-CAEA-D79D-B4394163B0F3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05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8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3078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2</a:t>
            </a:r>
            <a:r>
              <a:rPr lang="en-US"/>
              <a:t>. Find data.</a:t>
            </a:r>
            <a:endParaRPr lang="en-US"/>
          </a:p>
        </p:txBody>
      </p:sp>
      <p:pic>
        <p:nvPicPr>
          <p:cNvPr id="1909779017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681064">
            <a:off x="1002193" y="1559188"/>
            <a:ext cx="2370949" cy="23709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7820575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332982">
            <a:off x="4679634" y="3845917"/>
            <a:ext cx="2732569" cy="27282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84352621" name="Picture 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21264451">
            <a:off x="7746406" y="4253023"/>
            <a:ext cx="4122553" cy="23205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91794792" name="Picture 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rot="21424578">
            <a:off x="4267829" y="767265"/>
            <a:ext cx="3694307" cy="27707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30230251" name="Picture 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rot="21379245">
            <a:off x="731875" y="4241237"/>
            <a:ext cx="3645362" cy="23441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79667060" name="Picture 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rot="888600">
            <a:off x="8475349" y="1524856"/>
            <a:ext cx="3393610" cy="17768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60845839" name="TextBox 10"/>
          <p:cNvSpPr txBox="1"/>
          <p:nvPr/>
        </p:nvSpPr>
        <p:spPr bwMode="auto">
          <a:xfrm rot="571780">
            <a:off x="5397284" y="2853551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Dog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1106396084" name="TextBox 11"/>
          <p:cNvSpPr txBox="1"/>
          <p:nvPr/>
        </p:nvSpPr>
        <p:spPr bwMode="auto">
          <a:xfrm rot="427435">
            <a:off x="9089984" y="5826659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Dog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1579840103" name="TextBox 12"/>
          <p:cNvSpPr txBox="1"/>
          <p:nvPr/>
        </p:nvSpPr>
        <p:spPr bwMode="auto">
          <a:xfrm rot="21332991">
            <a:off x="5251972" y="5913764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Dog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19886845" name="TextBox 13"/>
          <p:cNvSpPr txBox="1"/>
          <p:nvPr/>
        </p:nvSpPr>
        <p:spPr bwMode="auto">
          <a:xfrm rot="21278591">
            <a:off x="9326865" y="2541403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Cat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167245801" name="TextBox 14"/>
          <p:cNvSpPr txBox="1"/>
          <p:nvPr/>
        </p:nvSpPr>
        <p:spPr bwMode="auto">
          <a:xfrm>
            <a:off x="1363079" y="3213457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Cat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459790630" name="TextBox 15"/>
          <p:cNvSpPr txBox="1"/>
          <p:nvPr/>
        </p:nvSpPr>
        <p:spPr bwMode="auto">
          <a:xfrm rot="386260">
            <a:off x="1915604" y="5826658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Cat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981474677" name="TextBox 5"/>
          <p:cNvSpPr txBox="1"/>
          <p:nvPr/>
        </p:nvSpPr>
        <p:spPr bwMode="auto">
          <a:xfrm>
            <a:off x="0" y="40496"/>
            <a:ext cx="85309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Golden retriever photo </a:t>
            </a:r>
            <a:r>
              <a:rPr lang="en-US" sz="1400"/>
              <a:t>© </a:t>
            </a:r>
            <a:r>
              <a:rPr lang="en-US" sz="1400"/>
              <a:t>Getty Images; other photos © </a:t>
            </a:r>
            <a:r>
              <a:rPr lang="en-US" sz="1400"/>
              <a:t>source unknown. All rights reserved. This content </a:t>
            </a:r>
            <a:endParaRPr lang="en-US" sz="1400"/>
          </a:p>
          <a:p>
            <a:pPr>
              <a:defRPr/>
            </a:pPr>
            <a:r>
              <a:rPr lang="en-US" sz="1400"/>
              <a:t>is </a:t>
            </a:r>
            <a:r>
              <a:rPr lang="en-US" sz="1400"/>
              <a:t>excluded from our Creative Commons license. For more information, see </a:t>
            </a:r>
            <a:r>
              <a:rPr lang="en-US" sz="1400" u="sng">
                <a:hlinkClick r:id="rId9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</p:txBody>
      </p:sp>
      <p:sp>
        <p:nvSpPr>
          <p:cNvPr id="702983900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34</a:t>
            </a:fld>
            <a:endParaRPr lang="en-US"/>
          </a:p>
        </p:txBody>
      </p:sp>
      <p:sp>
        <p:nvSpPr>
          <p:cNvPr id="13544482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7199775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01285818-74AD-A428-4EE5-AA56E4162C0B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77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5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79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23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66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84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9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84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4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0845839" grpId="0" animBg="1"/>
      <p:bldP spid="1106396084" grpId="0" animBg="1"/>
      <p:bldP spid="1579840103" grpId="0" animBg="1"/>
      <p:bldP spid="19886845" grpId="0" animBg="1"/>
      <p:bldP spid="167245801" grpId="0" animBg="1"/>
      <p:bldP spid="45979063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1646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3. Clean data.</a:t>
            </a:r>
            <a:endParaRPr lang="en-US"/>
          </a:p>
        </p:txBody>
      </p:sp>
      <p:pic>
        <p:nvPicPr>
          <p:cNvPr id="1564525024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681064">
            <a:off x="1002193" y="1559188"/>
            <a:ext cx="2370949" cy="23709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59457091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332982">
            <a:off x="4679634" y="3845917"/>
            <a:ext cx="2732569" cy="27282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95341190" name="Picture 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21264451">
            <a:off x="7746406" y="4253023"/>
            <a:ext cx="4122553" cy="23205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0713863" name="Picture 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rot="21424578">
            <a:off x="4267829" y="767265"/>
            <a:ext cx="3694307" cy="27707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01265974" name="Picture 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rot="21379245">
            <a:off x="731875" y="4241237"/>
            <a:ext cx="3645362" cy="23441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41036041" name="Picture 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rot="888600">
            <a:off x="8475349" y="1524856"/>
            <a:ext cx="3393610" cy="17768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82156874" name="TextBox 9"/>
          <p:cNvSpPr txBox="1"/>
          <p:nvPr/>
        </p:nvSpPr>
        <p:spPr bwMode="auto">
          <a:xfrm rot="571780">
            <a:off x="5397284" y="2853551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Dog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1001755075" name="TextBox 10"/>
          <p:cNvSpPr txBox="1"/>
          <p:nvPr/>
        </p:nvSpPr>
        <p:spPr bwMode="auto">
          <a:xfrm rot="427435">
            <a:off x="9089984" y="5826659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Dog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828167237" name="TextBox 11"/>
          <p:cNvSpPr txBox="1"/>
          <p:nvPr/>
        </p:nvSpPr>
        <p:spPr bwMode="auto">
          <a:xfrm rot="21332991">
            <a:off x="5251972" y="5913764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Dog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1602612583" name="TextBox 12"/>
          <p:cNvSpPr txBox="1"/>
          <p:nvPr/>
        </p:nvSpPr>
        <p:spPr bwMode="auto">
          <a:xfrm rot="21278591">
            <a:off x="9326865" y="2541403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Cat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524987090" name="TextBox 13"/>
          <p:cNvSpPr txBox="1"/>
          <p:nvPr/>
        </p:nvSpPr>
        <p:spPr bwMode="auto">
          <a:xfrm>
            <a:off x="1363079" y="3213457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Cat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877027483" name="TextBox 14"/>
          <p:cNvSpPr txBox="1"/>
          <p:nvPr/>
        </p:nvSpPr>
        <p:spPr bwMode="auto">
          <a:xfrm rot="386260">
            <a:off x="1915604" y="5826658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Cat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165146237" name="Rectangle 5"/>
          <p:cNvSpPr/>
          <p:nvPr/>
        </p:nvSpPr>
        <p:spPr bwMode="auto">
          <a:xfrm>
            <a:off x="0" y="2358"/>
            <a:ext cx="11142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/>
              <a:t>Golden retriever photo © Getty Images; other photos © source unknown. All rights reserved. This content </a:t>
            </a:r>
            <a:endParaRPr/>
          </a:p>
          <a:p>
            <a:pPr>
              <a:defRPr/>
            </a:pPr>
            <a:r>
              <a:rPr lang="en-US" sz="1400"/>
              <a:t>is excluded from our Creative Commons license. For more information, see </a:t>
            </a:r>
            <a:r>
              <a:rPr lang="en-US" sz="1400" u="sng">
                <a:hlinkClick r:id="rId9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</p:txBody>
      </p:sp>
      <p:sp>
        <p:nvSpPr>
          <p:cNvPr id="1501675416" name="Slide Number Placeholder 1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35</a:t>
            </a:fld>
            <a:endParaRPr lang="en-US"/>
          </a:p>
        </p:txBody>
      </p:sp>
      <p:sp>
        <p:nvSpPr>
          <p:cNvPr id="6765057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3069695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EBD4A982-8A23-BFAF-1AC2-DD1591AF4239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3244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3. Clean data.</a:t>
            </a:r>
            <a:endParaRPr lang="en-US"/>
          </a:p>
        </p:txBody>
      </p:sp>
      <p:pic>
        <p:nvPicPr>
          <p:cNvPr id="2024084550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02193" y="1559188"/>
            <a:ext cx="2370949" cy="23709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82153881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48699" y="3845322"/>
            <a:ext cx="2732569" cy="27282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67516864" name="Picture 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746406" y="4253023"/>
            <a:ext cx="4122553" cy="23205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96322834" name="Picture 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267829" y="767265"/>
            <a:ext cx="3694307" cy="27707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55692852" name="Picture 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38200" y="4253023"/>
            <a:ext cx="3645362" cy="23441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30778874" name="Picture 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475349" y="1524856"/>
            <a:ext cx="3393610" cy="17768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35492632" name="TextBox 5"/>
          <p:cNvSpPr txBox="1"/>
          <p:nvPr/>
        </p:nvSpPr>
        <p:spPr bwMode="auto">
          <a:xfrm>
            <a:off x="1426958" y="3403066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Cat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284737474" name="TextBox 15"/>
          <p:cNvSpPr txBox="1"/>
          <p:nvPr/>
        </p:nvSpPr>
        <p:spPr bwMode="auto">
          <a:xfrm>
            <a:off x="1951121" y="5965401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Cat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2002930592" name="TextBox 16"/>
          <p:cNvSpPr txBox="1"/>
          <p:nvPr/>
        </p:nvSpPr>
        <p:spPr bwMode="auto">
          <a:xfrm>
            <a:off x="9454456" y="2788303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Cat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1866602970" name="TextBox 17"/>
          <p:cNvSpPr txBox="1"/>
          <p:nvPr/>
        </p:nvSpPr>
        <p:spPr bwMode="auto">
          <a:xfrm>
            <a:off x="5397284" y="2853551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Dog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1274731865" name="TextBox 18"/>
          <p:cNvSpPr txBox="1"/>
          <p:nvPr/>
        </p:nvSpPr>
        <p:spPr bwMode="auto">
          <a:xfrm>
            <a:off x="5460745" y="5965401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Dog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73525009" name="TextBox 19"/>
          <p:cNvSpPr txBox="1"/>
          <p:nvPr/>
        </p:nvSpPr>
        <p:spPr bwMode="auto">
          <a:xfrm>
            <a:off x="9089984" y="5965400"/>
            <a:ext cx="1435395" cy="492443"/>
          </a:xfrm>
          <a:prstGeom prst="rect">
            <a:avLst/>
          </a:prstGeom>
          <a:solidFill>
            <a:schemeClr val="tx1">
              <a:alpha val="66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chemeClr val="bg1"/>
                </a:solidFill>
              </a:rPr>
              <a:t>Dog</a:t>
            </a:r>
            <a:endParaRPr lang="en-US" sz="2600" b="1">
              <a:solidFill>
                <a:schemeClr val="bg1"/>
              </a:solidFill>
            </a:endParaRPr>
          </a:p>
        </p:txBody>
      </p:sp>
      <p:sp>
        <p:nvSpPr>
          <p:cNvPr id="838436" name="TextBox 9"/>
          <p:cNvSpPr txBox="1"/>
          <p:nvPr/>
        </p:nvSpPr>
        <p:spPr bwMode="auto">
          <a:xfrm>
            <a:off x="0" y="42975"/>
            <a:ext cx="8530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Golden retriever photo © Getty Images; other photos © source unknown. All rights reserved. This content </a:t>
            </a:r>
            <a:endParaRPr/>
          </a:p>
          <a:p>
            <a:pPr>
              <a:defRPr/>
            </a:pPr>
            <a:r>
              <a:rPr lang="en-US" sz="1400"/>
              <a:t>is excluded from our Creative Commons license. For more information, see </a:t>
            </a:r>
            <a:r>
              <a:rPr lang="en-US" sz="1400" u="sng">
                <a:hlinkClick r:id="rId9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</p:txBody>
      </p:sp>
      <p:sp>
        <p:nvSpPr>
          <p:cNvPr id="579328367" name="Slide Number Placehold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36</a:t>
            </a:fld>
            <a:endParaRPr lang="en-US"/>
          </a:p>
        </p:txBody>
      </p:sp>
      <p:sp>
        <p:nvSpPr>
          <p:cNvPr id="17553362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6614598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9B202FBC-195A-5387-39C2-33966C2B5744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9947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4. Choose a model.</a:t>
            </a:r>
            <a:endParaRPr lang="en-US"/>
          </a:p>
        </p:txBody>
      </p:sp>
      <p:sp>
        <p:nvSpPr>
          <p:cNvPr id="1005431235" name="Rectangle 3"/>
          <p:cNvSpPr/>
          <p:nvPr/>
        </p:nvSpPr>
        <p:spPr bwMode="auto">
          <a:xfrm>
            <a:off x="2316869" y="2541180"/>
            <a:ext cx="2956879" cy="37851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u="sng">
                <a:solidFill>
                  <a:schemeClr val="tx1"/>
                </a:solidFill>
              </a:rPr>
              <a:t>Always</a:t>
            </a:r>
            <a:endParaRPr/>
          </a:p>
          <a:p>
            <a:pPr algn="ctr">
              <a:defRPr/>
            </a:pPr>
            <a:endParaRPr lang="en-US" sz="3600">
              <a:solidFill>
                <a:schemeClr val="tx1"/>
              </a:solidFill>
            </a:endParaRPr>
          </a:p>
          <a:p>
            <a:pPr algn="ctr">
              <a:defRPr/>
            </a:pPr>
            <a:endParaRPr lang="en-US" sz="360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sz="3600" u="sng">
                <a:solidFill>
                  <a:schemeClr val="tx1"/>
                </a:solidFill>
              </a:rPr>
              <a:t>Sometimes</a:t>
            </a:r>
            <a:endParaRPr/>
          </a:p>
          <a:p>
            <a:pPr algn="ctr">
              <a:defRPr/>
            </a:pPr>
            <a:endParaRPr lang="en-US" sz="3600">
              <a:solidFill>
                <a:schemeClr val="tx1"/>
              </a:solidFill>
            </a:endParaRPr>
          </a:p>
          <a:p>
            <a:pPr algn="ctr">
              <a:defRPr/>
            </a:pPr>
            <a:endParaRPr lang="en-US" sz="3600">
              <a:solidFill>
                <a:schemeClr val="tx1"/>
              </a:solidFill>
            </a:endParaRPr>
          </a:p>
          <a:p>
            <a:pPr algn="ctr">
              <a:defRPr/>
            </a:pP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298263005" name="Rectangle 5"/>
          <p:cNvSpPr/>
          <p:nvPr/>
        </p:nvSpPr>
        <p:spPr bwMode="auto">
          <a:xfrm>
            <a:off x="6786088" y="2541180"/>
            <a:ext cx="2956879" cy="37851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u="sng">
                <a:solidFill>
                  <a:schemeClr val="tx1"/>
                </a:solidFill>
              </a:rPr>
              <a:t>Always</a:t>
            </a:r>
            <a:endParaRPr/>
          </a:p>
          <a:p>
            <a:pPr algn="ctr">
              <a:defRPr/>
            </a:pPr>
            <a:endParaRPr lang="en-US" sz="3600">
              <a:solidFill>
                <a:schemeClr val="tx1"/>
              </a:solidFill>
            </a:endParaRPr>
          </a:p>
          <a:p>
            <a:pPr algn="ctr">
              <a:defRPr/>
            </a:pPr>
            <a:endParaRPr lang="en-US" sz="360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sz="3600" u="sng">
                <a:solidFill>
                  <a:schemeClr val="tx1"/>
                </a:solidFill>
              </a:rPr>
              <a:t>Sometimes</a:t>
            </a:r>
            <a:endParaRPr/>
          </a:p>
          <a:p>
            <a:pPr algn="ctr">
              <a:defRPr/>
            </a:pPr>
            <a:endParaRPr lang="en-US" sz="3600">
              <a:solidFill>
                <a:schemeClr val="tx1"/>
              </a:solidFill>
            </a:endParaRPr>
          </a:p>
          <a:p>
            <a:pPr algn="ctr">
              <a:defRPr/>
            </a:pPr>
            <a:endParaRPr lang="en-US" sz="3600">
              <a:solidFill>
                <a:schemeClr val="tx1"/>
              </a:solidFill>
            </a:endParaRPr>
          </a:p>
          <a:p>
            <a:pPr algn="ctr">
              <a:defRPr/>
            </a:pP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390052496" name="Rectangle 6"/>
          <p:cNvSpPr/>
          <p:nvPr/>
        </p:nvSpPr>
        <p:spPr bwMode="auto">
          <a:xfrm>
            <a:off x="2813568" y="1468144"/>
            <a:ext cx="19634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600" b="1">
                <a:solidFill>
                  <a:schemeClr val="accent1"/>
                </a:solidFill>
                <a:latin typeface="Eras Light ITC"/>
              </a:rPr>
              <a:t>Dogs</a:t>
            </a:r>
            <a:endParaRPr lang="en-US" sz="56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338625737" name="Rectangle 7"/>
          <p:cNvSpPr/>
          <p:nvPr/>
        </p:nvSpPr>
        <p:spPr bwMode="auto">
          <a:xfrm>
            <a:off x="7282787" y="1468144"/>
            <a:ext cx="19634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600" b="1">
                <a:solidFill>
                  <a:schemeClr val="accent1"/>
                </a:solidFill>
                <a:latin typeface="Eras Light ITC"/>
              </a:rPr>
              <a:t>Cats</a:t>
            </a:r>
            <a:endParaRPr lang="en-US" sz="56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928264203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37</a:t>
            </a:fld>
            <a:endParaRPr lang="en-US"/>
          </a:p>
        </p:txBody>
      </p:sp>
      <p:sp>
        <p:nvSpPr>
          <p:cNvPr id="5730848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1968805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73FA894A-79EC-9C5F-65E4-D463A5FCAF5C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43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26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5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5431235" grpId="0" animBg="1"/>
      <p:bldP spid="1298263005" grpId="0" animBg="1"/>
      <p:bldP spid="390052496" grpId="0"/>
      <p:bldP spid="33862573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892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5. Train the model.</a:t>
            </a:r>
            <a:endParaRPr lang="en-US"/>
          </a:p>
        </p:txBody>
      </p:sp>
      <p:sp>
        <p:nvSpPr>
          <p:cNvPr id="865668558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38</a:t>
            </a:fld>
            <a:endParaRPr lang="en-US"/>
          </a:p>
        </p:txBody>
      </p:sp>
      <p:sp>
        <p:nvSpPr>
          <p:cNvPr id="20009399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6506036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4DF47E3C-5DE7-4521-6129-E9AF50B88BD4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6445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5. Train the model.</a:t>
            </a:r>
            <a:endParaRPr lang="en-US"/>
          </a:p>
        </p:txBody>
      </p:sp>
      <p:pic>
        <p:nvPicPr>
          <p:cNvPr id="1896048779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80478" y="1690688"/>
            <a:ext cx="4431044" cy="44310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7831512" name="Rectangle 6"/>
          <p:cNvSpPr/>
          <p:nvPr/>
        </p:nvSpPr>
        <p:spPr bwMode="auto">
          <a:xfrm>
            <a:off x="1633354" y="3429156"/>
            <a:ext cx="19634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600" b="1">
                <a:solidFill>
                  <a:schemeClr val="accent1"/>
                </a:solidFill>
                <a:latin typeface="Eras Light ITC"/>
              </a:rPr>
              <a:t>Cat</a:t>
            </a:r>
            <a:endParaRPr lang="en-US" sz="56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1829124190" name="TextBox 2"/>
          <p:cNvSpPr txBox="1"/>
          <p:nvPr/>
        </p:nvSpPr>
        <p:spPr bwMode="auto">
          <a:xfrm>
            <a:off x="0" y="6273479"/>
            <a:ext cx="754495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© source unknown. All rights reserved. This content is excluded from our Creative Commons license. </a:t>
            </a:r>
            <a:endParaRPr lang="en-US" sz="1400"/>
          </a:p>
          <a:p>
            <a:pPr>
              <a:defRPr/>
            </a:pPr>
            <a:r>
              <a:rPr lang="en-US" sz="1400"/>
              <a:t>For </a:t>
            </a:r>
            <a:r>
              <a:rPr lang="en-US" sz="1400"/>
              <a:t>more 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79720815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39</a:t>
            </a:fld>
            <a:endParaRPr lang="en-US"/>
          </a:p>
        </p:txBody>
      </p:sp>
      <p:sp>
        <p:nvSpPr>
          <p:cNvPr id="7628518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697747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61889265-6594-DFE8-B6B0-4B472F4AC60D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3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83151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7911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5. Train the model.</a:t>
            </a:r>
            <a:endParaRPr lang="en-US"/>
          </a:p>
        </p:txBody>
      </p:sp>
      <p:pic>
        <p:nvPicPr>
          <p:cNvPr id="1769398857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96200" y="2258244"/>
            <a:ext cx="6399600" cy="33507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19582973" name="Rectangle 4"/>
          <p:cNvSpPr/>
          <p:nvPr/>
        </p:nvSpPr>
        <p:spPr bwMode="auto">
          <a:xfrm>
            <a:off x="932721" y="3456544"/>
            <a:ext cx="19634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600" b="1">
                <a:solidFill>
                  <a:schemeClr val="accent1"/>
                </a:solidFill>
                <a:latin typeface="Eras Light ITC"/>
              </a:rPr>
              <a:t>Cat</a:t>
            </a:r>
            <a:endParaRPr lang="en-US" sz="56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2042373092" name="TextBox 3"/>
          <p:cNvSpPr txBox="1"/>
          <p:nvPr/>
        </p:nvSpPr>
        <p:spPr bwMode="auto">
          <a:xfrm>
            <a:off x="0" y="6308203"/>
            <a:ext cx="754495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© source unknown. All rights reserved. This content is excluded from our Creative Commons license. </a:t>
            </a:r>
            <a:endParaRPr lang="en-US" sz="1400"/>
          </a:p>
          <a:p>
            <a:pPr>
              <a:defRPr/>
            </a:pPr>
            <a:r>
              <a:rPr lang="en-US" sz="1400"/>
              <a:t>For </a:t>
            </a:r>
            <a:r>
              <a:rPr lang="en-US" sz="1400"/>
              <a:t>more 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 sz="1400"/>
          </a:p>
        </p:txBody>
      </p:sp>
      <p:sp>
        <p:nvSpPr>
          <p:cNvPr id="7267622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40</a:t>
            </a:fld>
            <a:endParaRPr lang="en-US"/>
          </a:p>
        </p:txBody>
      </p:sp>
      <p:sp>
        <p:nvSpPr>
          <p:cNvPr id="6550495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2596660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59CC294E-E628-9D39-D2F0-893D15D761F6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58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58297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3799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5. Train the model.</a:t>
            </a:r>
            <a:endParaRPr lang="en-US"/>
          </a:p>
        </p:txBody>
      </p:sp>
      <p:pic>
        <p:nvPicPr>
          <p:cNvPr id="1328974525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33753" y="1690688"/>
            <a:ext cx="5724494" cy="42933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63847911" name="Rectangle 3"/>
          <p:cNvSpPr/>
          <p:nvPr/>
        </p:nvSpPr>
        <p:spPr bwMode="auto">
          <a:xfrm>
            <a:off x="1054237" y="3360319"/>
            <a:ext cx="19634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600" b="1">
                <a:solidFill>
                  <a:schemeClr val="accent1"/>
                </a:solidFill>
                <a:latin typeface="Eras Light ITC"/>
              </a:rPr>
              <a:t>Dog</a:t>
            </a:r>
            <a:endParaRPr lang="en-US" sz="56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220209875" name="TextBox 4"/>
          <p:cNvSpPr txBox="1"/>
          <p:nvPr/>
        </p:nvSpPr>
        <p:spPr bwMode="auto">
          <a:xfrm>
            <a:off x="0" y="6285052"/>
            <a:ext cx="754495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© source unknown. All rights reserved. This content is excluded from our Creative Commons license. </a:t>
            </a:r>
            <a:endParaRPr lang="en-US" sz="1400"/>
          </a:p>
          <a:p>
            <a:pPr>
              <a:defRPr/>
            </a:pPr>
            <a:r>
              <a:rPr lang="en-US" sz="1400"/>
              <a:t>For </a:t>
            </a:r>
            <a:r>
              <a:rPr lang="en-US" sz="1400"/>
              <a:t>more 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17390136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41</a:t>
            </a:fld>
            <a:endParaRPr lang="en-US"/>
          </a:p>
        </p:txBody>
      </p:sp>
      <p:sp>
        <p:nvSpPr>
          <p:cNvPr id="10254072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960792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47545770-983B-B78E-7559-51F3BEDE273C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84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38479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6573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5. Train the model.</a:t>
            </a:r>
            <a:endParaRPr lang="en-US"/>
          </a:p>
        </p:txBody>
      </p:sp>
      <p:pic>
        <p:nvPicPr>
          <p:cNvPr id="801183055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57012" y="1779897"/>
            <a:ext cx="7277975" cy="40967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78408552" name="Rectangle 3"/>
          <p:cNvSpPr/>
          <p:nvPr/>
        </p:nvSpPr>
        <p:spPr bwMode="auto">
          <a:xfrm>
            <a:off x="345688" y="3432248"/>
            <a:ext cx="19634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600" b="1">
                <a:solidFill>
                  <a:schemeClr val="accent1"/>
                </a:solidFill>
                <a:latin typeface="Eras Light ITC"/>
              </a:rPr>
              <a:t>Dog</a:t>
            </a:r>
            <a:endParaRPr lang="en-US" sz="56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1744322892" name="TextBox 4"/>
          <p:cNvSpPr txBox="1"/>
          <p:nvPr/>
        </p:nvSpPr>
        <p:spPr bwMode="auto">
          <a:xfrm>
            <a:off x="92597" y="6319778"/>
            <a:ext cx="754495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© source unknown. All rights reserved. This content is excluded from our Creative Commons license. </a:t>
            </a:r>
            <a:endParaRPr lang="en-US" sz="1400"/>
          </a:p>
          <a:p>
            <a:pPr>
              <a:defRPr/>
            </a:pPr>
            <a:r>
              <a:rPr lang="en-US" sz="1400"/>
              <a:t>For </a:t>
            </a:r>
            <a:r>
              <a:rPr lang="en-US" sz="1400"/>
              <a:t>more 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10183396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42</a:t>
            </a:fld>
            <a:endParaRPr lang="en-US"/>
          </a:p>
        </p:txBody>
      </p:sp>
      <p:sp>
        <p:nvSpPr>
          <p:cNvPr id="17533141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717705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2827CDD4-2810-EC38-E79D-A001478718F3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4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840855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2179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6. Test the model.</a:t>
            </a:r>
            <a:endParaRPr lang="en-US"/>
          </a:p>
        </p:txBody>
      </p:sp>
      <p:pic>
        <p:nvPicPr>
          <p:cNvPr id="775547687" name="Picture 2" descr="Image result for black cat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1973370" y="1690688"/>
            <a:ext cx="8245259" cy="4330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66835910" name="Rectangle 4"/>
          <p:cNvSpPr/>
          <p:nvPr/>
        </p:nvSpPr>
        <p:spPr bwMode="auto">
          <a:xfrm>
            <a:off x="0" y="3476853"/>
            <a:ext cx="19634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600" b="1">
                <a:solidFill>
                  <a:schemeClr val="accent1"/>
                </a:solidFill>
                <a:latin typeface="Eras Light ITC"/>
              </a:rPr>
              <a:t>Cat</a:t>
            </a:r>
            <a:endParaRPr lang="en-US" sz="56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313784700" name="TextBox 2"/>
          <p:cNvSpPr txBox="1"/>
          <p:nvPr/>
        </p:nvSpPr>
        <p:spPr bwMode="auto">
          <a:xfrm>
            <a:off x="39547" y="6264944"/>
            <a:ext cx="754495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400"/>
              <a:t>© source unknown. All rights reserved. This content is excluded from our Creative Commons license. </a:t>
            </a:r>
            <a:endParaRPr lang="en-US" sz="1400"/>
          </a:p>
          <a:p>
            <a:pPr>
              <a:defRPr/>
            </a:pPr>
            <a:r>
              <a:rPr lang="en-US" sz="1400"/>
              <a:t>For </a:t>
            </a:r>
            <a:r>
              <a:rPr lang="en-US" sz="1400"/>
              <a:t>more information, see </a:t>
            </a:r>
            <a:r>
              <a:rPr lang="en-US" sz="1400" u="sng">
                <a:hlinkClick r:id="rId4" tooltip=""/>
              </a:rPr>
              <a:t>https://ocw.mit.edu/help/faq-fair-use/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5466897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43</a:t>
            </a:fld>
            <a:endParaRPr lang="en-US"/>
          </a:p>
        </p:txBody>
      </p:sp>
      <p:sp>
        <p:nvSpPr>
          <p:cNvPr id="9464222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2326904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B6AFFF14-8033-205A-B899-1E5D6CA32737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3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8359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1701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7. Deploy the model.</a:t>
            </a:r>
            <a:endParaRPr lang="en-US"/>
          </a:p>
        </p:txBody>
      </p:sp>
      <p:sp>
        <p:nvSpPr>
          <p:cNvPr id="592753144" name="TextBox 2"/>
          <p:cNvSpPr txBox="1"/>
          <p:nvPr/>
        </p:nvSpPr>
        <p:spPr bwMode="auto">
          <a:xfrm>
            <a:off x="3629246" y="1690688"/>
            <a:ext cx="493350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0000">
                <a:solidFill>
                  <a:schemeClr val="accent1"/>
                </a:solidFill>
              </a:rPr>
              <a:t></a:t>
            </a:r>
            <a:endParaRPr lang="en-US" sz="30000">
              <a:solidFill>
                <a:schemeClr val="accent1"/>
              </a:solidFill>
            </a:endParaRPr>
          </a:p>
        </p:txBody>
      </p:sp>
      <p:sp>
        <p:nvSpPr>
          <p:cNvPr id="179341459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44</a:t>
            </a:fld>
            <a:endParaRPr lang="en-US"/>
          </a:p>
        </p:txBody>
      </p:sp>
      <p:sp>
        <p:nvSpPr>
          <p:cNvPr id="6687448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2389723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F03EEBE2-E4F5-E094-E087-9E38E162C9F6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320014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4164" y="329609"/>
            <a:ext cx="5613989" cy="31578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85493281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48403" y="329610"/>
            <a:ext cx="5613990" cy="31578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6958001" name="Picture 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248404" y="329609"/>
            <a:ext cx="5613989" cy="31578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36092860" name="Picture 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94164" y="3583172"/>
            <a:ext cx="5613990" cy="31578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29556700" name="Picture 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248403" y="3583172"/>
            <a:ext cx="5613991" cy="31578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61477964" name="Picture 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3289006" y="1850066"/>
            <a:ext cx="5613989" cy="31578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29821860" name="TextBox 1"/>
          <p:cNvSpPr txBox="1"/>
          <p:nvPr/>
        </p:nvSpPr>
        <p:spPr bwMode="auto">
          <a:xfrm>
            <a:off x="5099003" y="6285053"/>
            <a:ext cx="67633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100"/>
              <a:t>Golden retriever photo © Getty Images; other photos © source unknown. All rights reserved. This content </a:t>
            </a:r>
            <a:endParaRPr/>
          </a:p>
          <a:p>
            <a:pPr>
              <a:defRPr/>
            </a:pPr>
            <a:r>
              <a:rPr lang="en-US" sz="1100"/>
              <a:t>is excluded from our Creative Commons license. For more information, see </a:t>
            </a:r>
            <a:r>
              <a:rPr lang="en-US" sz="1100" u="sng">
                <a:hlinkClick r:id="rId9" tooltip=""/>
              </a:rPr>
              <a:t>https://ocw.mit.edu/help/faq-fair-use/</a:t>
            </a:r>
            <a:r>
              <a:rPr lang="en-US" sz="1100"/>
              <a:t>.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74464622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45</a:t>
            </a:fld>
            <a:endParaRPr lang="en-US"/>
          </a:p>
        </p:txBody>
      </p:sp>
      <p:sp>
        <p:nvSpPr>
          <p:cNvPr id="9410776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7424581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2F3E1E23-C930-A3B9-5A4B-304D6EA62D0B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32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49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5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09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55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47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782114" name="Oval 2"/>
          <p:cNvSpPr/>
          <p:nvPr/>
        </p:nvSpPr>
        <p:spPr bwMode="auto">
          <a:xfrm>
            <a:off x="4160875" y="181642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4800"/>
              <a:t>AI</a:t>
            </a:r>
            <a:endParaRPr lang="en-US" sz="4800"/>
          </a:p>
        </p:txBody>
      </p:sp>
      <p:sp>
        <p:nvSpPr>
          <p:cNvPr id="1043323896" name="Oval 5"/>
          <p:cNvSpPr/>
          <p:nvPr/>
        </p:nvSpPr>
        <p:spPr bwMode="auto">
          <a:xfrm>
            <a:off x="2161952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643621403" name="Oval 6"/>
          <p:cNvSpPr/>
          <p:nvPr/>
        </p:nvSpPr>
        <p:spPr bwMode="auto">
          <a:xfrm>
            <a:off x="4160874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1411347579" name="Oval 7"/>
          <p:cNvSpPr/>
          <p:nvPr/>
        </p:nvSpPr>
        <p:spPr bwMode="auto">
          <a:xfrm>
            <a:off x="6159796" y="1798673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4000"/>
              <a:t>ML</a:t>
            </a:r>
            <a:endParaRPr lang="en-US" sz="4000"/>
          </a:p>
        </p:txBody>
      </p:sp>
      <p:sp>
        <p:nvSpPr>
          <p:cNvPr id="2023262123" name="Oval 9"/>
          <p:cNvSpPr/>
          <p:nvPr/>
        </p:nvSpPr>
        <p:spPr bwMode="auto">
          <a:xfrm>
            <a:off x="4163532" y="3415704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1625923049" name="Oval 10"/>
          <p:cNvSpPr/>
          <p:nvPr/>
        </p:nvSpPr>
        <p:spPr bwMode="auto">
          <a:xfrm>
            <a:off x="6159796" y="3415704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sp>
        <p:nvSpPr>
          <p:cNvPr id="1199575005" name="Oval 11"/>
          <p:cNvSpPr/>
          <p:nvPr/>
        </p:nvSpPr>
        <p:spPr bwMode="auto">
          <a:xfrm>
            <a:off x="8057709" y="3415704"/>
            <a:ext cx="1265275" cy="1329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4800"/>
          </a:p>
        </p:txBody>
      </p:sp>
      <p:cxnSp>
        <p:nvCxnSpPr>
          <p:cNvPr id="1833805337" name="Straight Connector 13"/>
          <p:cNvCxnSpPr>
            <a:stCxn id="422782114" idx="4"/>
            <a:endCxn id="1043323896" idx="0"/>
          </p:cNvCxnSpPr>
          <p:nvPr/>
        </p:nvCxnSpPr>
        <p:spPr bwMode="auto">
          <a:xfrm flipH="1">
            <a:off x="2794590" y="1510711"/>
            <a:ext cx="1998923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7662094" name="Straight Connector 15"/>
          <p:cNvCxnSpPr>
            <a:stCxn id="422782114" idx="4"/>
            <a:endCxn id="643621403" idx="0"/>
          </p:cNvCxnSpPr>
          <p:nvPr/>
        </p:nvCxnSpPr>
        <p:spPr bwMode="auto">
          <a:xfrm flipH="1">
            <a:off x="4793512" y="1510711"/>
            <a:ext cx="1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671088" name="Straight Connector 18"/>
          <p:cNvCxnSpPr>
            <a:stCxn id="422782114" idx="4"/>
            <a:endCxn id="1411347579" idx="0"/>
          </p:cNvCxnSpPr>
          <p:nvPr/>
        </p:nvCxnSpPr>
        <p:spPr bwMode="auto">
          <a:xfrm>
            <a:off x="4793513" y="1510711"/>
            <a:ext cx="1998920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210552" name="Straight Connector 21"/>
          <p:cNvCxnSpPr>
            <a:stCxn id="1411347579" idx="4"/>
            <a:endCxn id="2023262123" idx="0"/>
          </p:cNvCxnSpPr>
          <p:nvPr/>
        </p:nvCxnSpPr>
        <p:spPr bwMode="auto">
          <a:xfrm flipH="1">
            <a:off x="4796170" y="3127743"/>
            <a:ext cx="1996264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9301162" name="Straight Connector 22"/>
          <p:cNvCxnSpPr>
            <a:stCxn id="1411347579" idx="4"/>
            <a:endCxn id="1625923049" idx="0"/>
          </p:cNvCxnSpPr>
          <p:nvPr/>
        </p:nvCxnSpPr>
        <p:spPr bwMode="auto">
          <a:xfrm>
            <a:off x="6792434" y="3127743"/>
            <a:ext cx="0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078465" name="Straight Connector 23"/>
          <p:cNvCxnSpPr>
            <a:stCxn id="1411347579" idx="4"/>
            <a:endCxn id="1199575005" idx="0"/>
          </p:cNvCxnSpPr>
          <p:nvPr/>
        </p:nvCxnSpPr>
        <p:spPr bwMode="auto">
          <a:xfrm>
            <a:off x="6792434" y="3127743"/>
            <a:ext cx="1897913" cy="2879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1181279" name="Oval 30"/>
          <p:cNvSpPr/>
          <p:nvPr/>
        </p:nvSpPr>
        <p:spPr bwMode="auto">
          <a:xfrm>
            <a:off x="7350643" y="5347289"/>
            <a:ext cx="2679405" cy="1329070"/>
          </a:xfrm>
          <a:prstGeom prst="ellipse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800"/>
              <a:t>Deep Learning</a:t>
            </a:r>
            <a:endParaRPr lang="en-US" sz="3800"/>
          </a:p>
        </p:txBody>
      </p:sp>
      <p:cxnSp>
        <p:nvCxnSpPr>
          <p:cNvPr id="1531937355" name="Straight Connector 31"/>
          <p:cNvCxnSpPr>
            <a:stCxn id="1771181279" idx="0"/>
            <a:endCxn id="1199575005" idx="4"/>
          </p:cNvCxnSpPr>
          <p:nvPr/>
        </p:nvCxnSpPr>
        <p:spPr bwMode="auto">
          <a:xfrm flipV="1">
            <a:off x="8690346" y="4744774"/>
            <a:ext cx="1" cy="6025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4925525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46</a:t>
            </a:fld>
            <a:endParaRPr lang="en-US"/>
          </a:p>
        </p:txBody>
      </p:sp>
      <p:sp>
        <p:nvSpPr>
          <p:cNvPr id="6485253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2072591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201D45BF-3B67-EDC8-225B-49429E2504E4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822148" name="Rectangle 2"/>
          <p:cNvSpPr/>
          <p:nvPr/>
        </p:nvSpPr>
        <p:spPr bwMode="auto">
          <a:xfrm>
            <a:off x="2470297" y="989678"/>
            <a:ext cx="76837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Goal?</a:t>
            </a:r>
            <a:endParaRPr/>
          </a:p>
        </p:txBody>
      </p:sp>
      <p:sp>
        <p:nvSpPr>
          <p:cNvPr id="1555035665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47</a:t>
            </a:fld>
            <a:endParaRPr lang="en-US"/>
          </a:p>
        </p:txBody>
      </p:sp>
      <p:sp>
        <p:nvSpPr>
          <p:cNvPr id="16090526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20265903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A83388FC-88EA-513D-0B49-4F17C912DF69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82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82214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334285" name="Rectangle 2"/>
          <p:cNvSpPr/>
          <p:nvPr/>
        </p:nvSpPr>
        <p:spPr bwMode="auto">
          <a:xfrm>
            <a:off x="2470297" y="989678"/>
            <a:ext cx="768379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bg1">
                    <a:lumMod val="65000"/>
                  </a:schemeClr>
                </a:solidFill>
                <a:latin typeface="Eras Light ITC"/>
              </a:rPr>
              <a:t>Goal?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Training data?</a:t>
            </a:r>
            <a:endParaRPr/>
          </a:p>
        </p:txBody>
      </p:sp>
      <p:sp>
        <p:nvSpPr>
          <p:cNvPr id="51720709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48</a:t>
            </a:fld>
            <a:endParaRPr lang="en-US"/>
          </a:p>
        </p:txBody>
      </p:sp>
      <p:sp>
        <p:nvSpPr>
          <p:cNvPr id="6185097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7331186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571823F3-DD35-7DDC-2004-A23985C8AD4A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634386" name="Rectangle 2"/>
          <p:cNvSpPr/>
          <p:nvPr/>
        </p:nvSpPr>
        <p:spPr bwMode="auto">
          <a:xfrm>
            <a:off x="2470297" y="989678"/>
            <a:ext cx="7683796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bg1">
                    <a:lumMod val="65000"/>
                  </a:schemeClr>
                </a:solidFill>
                <a:latin typeface="Eras Light ITC"/>
              </a:rPr>
              <a:t>Goal?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bg1">
                    <a:lumMod val="65000"/>
                  </a:schemeClr>
                </a:solidFill>
                <a:latin typeface="Eras Light ITC"/>
              </a:rPr>
              <a:t>Training data?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Model?</a:t>
            </a:r>
            <a:endParaRPr/>
          </a:p>
        </p:txBody>
      </p:sp>
      <p:sp>
        <p:nvSpPr>
          <p:cNvPr id="1849027639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49</a:t>
            </a:fld>
            <a:endParaRPr lang="en-US"/>
          </a:p>
        </p:txBody>
      </p:sp>
      <p:sp>
        <p:nvSpPr>
          <p:cNvPr id="10290145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2602331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FE320CEA-B19D-5CEE-580F-B6F232993792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523656" name="Rectangle 2"/>
          <p:cNvSpPr/>
          <p:nvPr/>
        </p:nvSpPr>
        <p:spPr bwMode="auto">
          <a:xfrm>
            <a:off x="2470297" y="989678"/>
            <a:ext cx="7683796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bg1">
                    <a:lumMod val="65000"/>
                  </a:schemeClr>
                </a:solidFill>
                <a:latin typeface="Eras Light ITC"/>
              </a:rPr>
              <a:t>Goal?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bg1">
                    <a:lumMod val="65000"/>
                  </a:schemeClr>
                </a:solidFill>
                <a:latin typeface="Eras Light ITC"/>
              </a:rPr>
              <a:t>Training data?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bg1">
                    <a:lumMod val="65000"/>
                  </a:schemeClr>
                </a:solidFill>
                <a:latin typeface="Eras Light ITC"/>
              </a:rPr>
              <a:t>Model?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Accuracy?</a:t>
            </a:r>
            <a:endParaRPr lang="en-US" sz="64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136788649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50</a:t>
            </a:fld>
            <a:endParaRPr lang="en-US"/>
          </a:p>
        </p:txBody>
      </p:sp>
      <p:sp>
        <p:nvSpPr>
          <p:cNvPr id="12185866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181091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2C208C76-0731-1959-5F5F-85386788EFB1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152725" name="Rectangle 2"/>
          <p:cNvSpPr/>
          <p:nvPr/>
        </p:nvSpPr>
        <p:spPr bwMode="auto">
          <a:xfrm>
            <a:off x="2470297" y="989678"/>
            <a:ext cx="7683796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Goal?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Training data?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Model?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Accuracy?</a:t>
            </a:r>
            <a:endParaRPr lang="en-US" sz="64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1784828838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51</a:t>
            </a:fld>
            <a:endParaRPr lang="en-US"/>
          </a:p>
        </p:txBody>
      </p:sp>
      <p:sp>
        <p:nvSpPr>
          <p:cNvPr id="20167022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6502610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1DC51A3C-3B31-73B6-F045-6A3925353129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59809" name="Rectangle 2"/>
          <p:cNvSpPr/>
          <p:nvPr/>
        </p:nvSpPr>
        <p:spPr bwMode="auto">
          <a:xfrm>
            <a:off x="2470297" y="989678"/>
            <a:ext cx="7683796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Goal?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Training data?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Model?</a:t>
            </a:r>
            <a:endParaRPr/>
          </a:p>
          <a:p>
            <a:pPr marL="914400" indent="-914400">
              <a:spcBef>
                <a:spcPts val="1200"/>
              </a:spcBef>
              <a:spcAft>
                <a:spcPts val="1200"/>
              </a:spcAft>
              <a:buAutoNum type="arabicPeriod"/>
              <a:defRPr/>
            </a:pPr>
            <a:r>
              <a:rPr lang="en-US" sz="6400" b="1">
                <a:solidFill>
                  <a:schemeClr val="accent1"/>
                </a:solidFill>
                <a:latin typeface="Eras Light ITC"/>
              </a:rPr>
              <a:t>Accuracy?</a:t>
            </a:r>
            <a:endParaRPr lang="en-US" sz="6400" b="1">
              <a:solidFill>
                <a:schemeClr val="accent1"/>
              </a:solidFill>
              <a:latin typeface="Eras Light ITC"/>
            </a:endParaRPr>
          </a:p>
        </p:txBody>
      </p:sp>
      <p:sp>
        <p:nvSpPr>
          <p:cNvPr id="370782695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C2FF89-AFF4-4BA3-99C7-75CC2A16707C}" type="slidenum">
              <a:rPr lang="en-US"/>
              <a:t>53</a:t>
            </a:fld>
            <a:endParaRPr lang="en-US"/>
          </a:p>
        </p:txBody>
      </p:sp>
      <p:sp>
        <p:nvSpPr>
          <p:cNvPr id="9034281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Session 1a, Week1</a:t>
            </a:r>
            <a:endParaRPr/>
          </a:p>
        </p:txBody>
      </p:sp>
      <p:sp>
        <p:nvSpPr>
          <p:cNvPr id="12940334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Tuesday, October 13, 2026</a:t>
            </a:r>
            <a:br>
              <a:rPr lang="en-US"/>
            </a:br>
            <a:fld id="{CA1595CF-DF63-090B-D28A-14C009634853}" type="datetime2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54</Slides>
  <Notes>54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AI?</dc:title>
  <dc:creator>brandon leshchinskiy</dc:creator>
  <cp:lastModifiedBy/>
  <cp:revision>124</cp:revision>
  <dcterms:created xsi:type="dcterms:W3CDTF">2020-01-16T17:34:31Z</dcterms:created>
  <dcterms:modified xsi:type="dcterms:W3CDTF">2026-10-13T08:06:13Z</dcterms:modified>
</cp:coreProperties>
</file>